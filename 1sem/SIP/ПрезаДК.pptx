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BC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40200" y="449775"/>
            <a:ext cx="3983700" cy="1593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9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Социальные девиации в молодежной среде: анализ, тенденции и пути решения
</a:t>
            </a:r>
            <a:endParaRPr lang="en-US" sz="2509" dirty="0"/>
          </a:p>
        </p:txBody>
      </p:sp>
      <p:sp>
        <p:nvSpPr>
          <p:cNvPr id="5" name="Text 1"/>
          <p:cNvSpPr txBox="1"/>
          <p:nvPr/>
        </p:nvSpPr>
        <p:spPr>
          <a:xfrm>
            <a:off x="340200" y="3118500"/>
            <a:ext cx="3766800" cy="17607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Комплексный обзор социальных отклонений в молодежной среде: от теорий до практических решений.
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632" y="501325"/>
            <a:ext cx="3754987" cy="42069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337925" y="1985375"/>
            <a:ext cx="4234200" cy="1929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Социальная девиация — устойчивое отклонение от норм общества. Рассмотрим биологические, психологические и социологические теории, включая концепцию аномии и влияние культурных ценностей.
</a:t>
            </a:r>
            <a:endParaRPr lang="en-US" sz="1400" dirty="0"/>
          </a:p>
        </p:txBody>
      </p:sp>
      <p:sp>
        <p:nvSpPr>
          <p:cNvPr id="7" name="Text 1"/>
          <p:cNvSpPr txBox="1"/>
          <p:nvPr/>
        </p:nvSpPr>
        <p:spPr>
          <a:xfrm>
            <a:off x="337925" y="393900"/>
            <a:ext cx="4366200" cy="94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Определение и теоретические подходы к социальной девиации
</a:t>
            </a:r>
            <a:endParaRPr lang="en-US" sz="2400" dirty="0"/>
          </a:p>
        </p:txBody>
      </p:sp>
      <p:sp>
        <p:nvSpPr>
          <p:cNvPr id="8" name="Text 2"/>
          <p:cNvSpPr txBox="1"/>
          <p:nvPr/>
        </p:nvSpPr>
        <p:spPr>
          <a:xfrm>
            <a:off x="8630400" y="4791400"/>
            <a:ext cx="589800" cy="37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4625" y="1392850"/>
            <a:ext cx="3550200" cy="117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Социальная девиация — это поведение, отклоняющееся от принятых норм общества, изменчивое во времени и культуре, отражающее изменения общественных взглядов и стандартов.
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902425" y="1392925"/>
            <a:ext cx="3550200" cy="117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Она может быть позитивной, способствуя инновациям и развитию, или негативной, включая преступные и антисоциальные действия, в зависимости от общественной оценки.
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84625" y="3266225"/>
            <a:ext cx="3550200" cy="117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Делинквентность — особый вид девиации, связанный с противозаконными действиями, вызывающими ответственность и наказание по закону.
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902425" y="3266225"/>
            <a:ext cx="3550200" cy="117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Общество реагирует на девиантное поведение посредством санкций: социального осуждения, изоляции либо лечебных и коррекционных мер.
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18525" y="393900"/>
            <a:ext cx="8319900" cy="401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такое социальная девиация?
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630400" y="4791400"/>
            <a:ext cx="589800" cy="37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694" y="1400650"/>
            <a:ext cx="197925" cy="2262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4831" y="1404550"/>
            <a:ext cx="218400" cy="2184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42344" y="1400650"/>
            <a:ext cx="197925" cy="2262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8456" y="1426390"/>
            <a:ext cx="218400" cy="17472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36906" y="1404550"/>
            <a:ext cx="218400" cy="218400"/>
          </a:xfrm>
          <a:prstGeom prst="rect">
            <a:avLst/>
          </a:prstGeom>
        </p:spPr>
      </p:pic>
      <p:sp>
        <p:nvSpPr>
          <p:cNvPr id="13" name="Text 0"/>
          <p:cNvSpPr txBox="1"/>
          <p:nvPr/>
        </p:nvSpPr>
        <p:spPr>
          <a:xfrm>
            <a:off x="337920" y="393900"/>
            <a:ext cx="8438700" cy="401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Теории девиации: биологический подход
</a:t>
            </a:r>
            <a:endParaRPr lang="en-US" sz="2400" dirty="0"/>
          </a:p>
        </p:txBody>
      </p:sp>
      <p:sp>
        <p:nvSpPr>
          <p:cNvPr id="14" name="Text 1"/>
          <p:cNvSpPr txBox="1"/>
          <p:nvPr/>
        </p:nvSpPr>
        <p:spPr>
          <a:xfrm>
            <a:off x="8630400" y="4791400"/>
            <a:ext cx="589800" cy="37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5" name="Text 2"/>
          <p:cNvSpPr txBox="1"/>
          <p:nvPr/>
        </p:nvSpPr>
        <p:spPr>
          <a:xfrm>
            <a:off x="501325" y="1865450"/>
            <a:ext cx="1428900" cy="25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Генетическая предрасположенность
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Некоторые гены влияют на склонность к рисковому и девиантному поведению, но сами не определяют его проявления.
</a:t>
            </a:r>
            <a:endParaRPr lang="en-US" sz="1100" dirty="0"/>
          </a:p>
        </p:txBody>
      </p:sp>
      <p:sp>
        <p:nvSpPr>
          <p:cNvPr id="16" name="Text 3"/>
          <p:cNvSpPr txBox="1"/>
          <p:nvPr/>
        </p:nvSpPr>
        <p:spPr>
          <a:xfrm>
            <a:off x="2204950" y="1865450"/>
            <a:ext cx="1428900" cy="25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Роль нейротрансмиттеров
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Изменения уровней серотонина, дофамина и норадреналина могут повышать импульсивность и агрессивность, способствуя отклонениям.
</a:t>
            </a:r>
            <a:endParaRPr lang="en-US" sz="1100" dirty="0"/>
          </a:p>
        </p:txBody>
      </p:sp>
      <p:sp>
        <p:nvSpPr>
          <p:cNvPr id="17" name="Text 4"/>
          <p:cNvSpPr txBox="1"/>
          <p:nvPr/>
        </p:nvSpPr>
        <p:spPr>
          <a:xfrm>
            <a:off x="3857550" y="1865450"/>
            <a:ext cx="1428900" cy="25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Отвержение теории Ломброзо
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 врожденного преступника не подтверждается современными исследованиями и признана устаревшей.
</a:t>
            </a:r>
            <a:endParaRPr lang="en-US" sz="1100" dirty="0"/>
          </a:p>
        </p:txBody>
      </p:sp>
      <p:sp>
        <p:nvSpPr>
          <p:cNvPr id="18" name="Text 5"/>
          <p:cNvSpPr txBox="1"/>
          <p:nvPr/>
        </p:nvSpPr>
        <p:spPr>
          <a:xfrm>
            <a:off x="5510150" y="1865450"/>
            <a:ext cx="1428900" cy="25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Влияние социальной среды
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Биологические факторы действуют в контексте окружения, социальные условия существенно влияют на проявление девиации.
</a:t>
            </a:r>
            <a:endParaRPr lang="en-US" sz="1100" dirty="0"/>
          </a:p>
        </p:txBody>
      </p:sp>
      <p:sp>
        <p:nvSpPr>
          <p:cNvPr id="19" name="Text 6"/>
          <p:cNvSpPr txBox="1"/>
          <p:nvPr/>
        </p:nvSpPr>
        <p:spPr>
          <a:xfrm>
            <a:off x="7162750" y="1865450"/>
            <a:ext cx="1428900" cy="25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Комплексный подход
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Современные исследования подчёркивают взаимодействие генетики и среды в формировании девиантного поведения.
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183700" y="1565975"/>
            <a:ext cx="2517000" cy="2474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Психологические факторы важны, однако их проявление определяется социальным контекстом, подкрепляя или ослабляя девиацию.
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418525" y="1565975"/>
            <a:ext cx="2380800" cy="2474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Фрейд объясняет девиацию недостаточно развитым Супер-Эго и внутренними конфликтами между стремлениями и совестью личности.
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3338125" y="1565975"/>
            <a:ext cx="2380800" cy="2474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Адлеру причиной отклонений становится чувство неполноценности, компенсируемое различными, в том числе девиантными методами.
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418525" y="393900"/>
            <a:ext cx="8211900" cy="33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Теории девиации: психологический подход
</a:t>
            </a:r>
            <a:endParaRPr lang="en-US" sz="2400" dirty="0"/>
          </a:p>
        </p:txBody>
      </p:sp>
      <p:sp>
        <p:nvSpPr>
          <p:cNvPr id="9" name="Text 4"/>
          <p:cNvSpPr txBox="1"/>
          <p:nvPr/>
        </p:nvSpPr>
        <p:spPr>
          <a:xfrm>
            <a:off x="8630400" y="4791400"/>
            <a:ext cx="589800" cy="37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514" y="952500"/>
            <a:ext cx="4121872" cy="3786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21100" y="393900"/>
            <a:ext cx="8311500" cy="401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Теория аномии Дюркгейма и Мертона
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8630400" y="4791400"/>
            <a:ext cx="589800" cy="37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4545800" y="3070050"/>
            <a:ext cx="3898500" cy="125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адаптации по Мертону
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Мертон выделяет пять типов реакции на аномию: конформизм, инновация, ритуализм, ретритизм и бунт, каждый отражая разные стратегии адаптации к несоответствию целей и средств.
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4545800" y="1262250"/>
            <a:ext cx="3898500" cy="125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Понятие аномии
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Аномия — состояние разрушения ценностных ориентиров, когда общественные нормы ослабевают, вызывая дезориентацию индивидов и общественных групп.
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925800" y="1605325"/>
            <a:ext cx="3103200" cy="128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Разрушение советской ценностной системы и непродуманное формирование новых норм формируют социальную нестабильность среди молодежи.
</a:t>
            </a:r>
            <a:endParaRPr lang="en-US" sz="1200" dirty="0"/>
          </a:p>
        </p:txBody>
      </p:sp>
      <p:sp>
        <p:nvSpPr>
          <p:cNvPr id="7" name="Text 1"/>
          <p:cNvSpPr txBox="1"/>
          <p:nvPr/>
        </p:nvSpPr>
        <p:spPr>
          <a:xfrm>
            <a:off x="925800" y="3388025"/>
            <a:ext cx="3103200" cy="128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Неравные возможности и значительные региональные различия усиливают чувство несправедливости и безысходности у молодых людей.
</a:t>
            </a:r>
            <a:endParaRPr lang="en-US" sz="1200" dirty="0"/>
          </a:p>
        </p:txBody>
      </p:sp>
      <p:sp>
        <p:nvSpPr>
          <p:cNvPr id="8" name="Text 2"/>
          <p:cNvSpPr txBox="1"/>
          <p:nvPr/>
        </p:nvSpPr>
        <p:spPr>
          <a:xfrm>
            <a:off x="5235875" y="1605375"/>
            <a:ext cx="3103200" cy="128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Молодежь рассматривает девиантное поведение как прагматичный выход из социальной неопределенности, а не просто моральное падение.
</a:t>
            </a:r>
            <a:endParaRPr lang="en-US" sz="1200" dirty="0"/>
          </a:p>
        </p:txBody>
      </p:sp>
      <p:sp>
        <p:nvSpPr>
          <p:cNvPr id="9" name="Text 3"/>
          <p:cNvSpPr txBox="1"/>
          <p:nvPr/>
        </p:nvSpPr>
        <p:spPr>
          <a:xfrm>
            <a:off x="5235875" y="3388025"/>
            <a:ext cx="3103200" cy="128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Таким образом, девиация выступает объективной реакцией на противоречия современного российского общества.
</a:t>
            </a:r>
            <a:endParaRPr lang="en-US" sz="1200" dirty="0"/>
          </a:p>
        </p:txBody>
      </p:sp>
      <p:sp>
        <p:nvSpPr>
          <p:cNvPr id="10" name="Text 4"/>
          <p:cNvSpPr txBox="1"/>
          <p:nvPr/>
        </p:nvSpPr>
        <p:spPr>
          <a:xfrm>
            <a:off x="424625" y="393900"/>
            <a:ext cx="7914600" cy="33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Актуальность теории аномии для России
</a:t>
            </a:r>
            <a:endParaRPr lang="en-US" sz="2400" dirty="0"/>
          </a:p>
        </p:txBody>
      </p:sp>
      <p:sp>
        <p:nvSpPr>
          <p:cNvPr id="11" name="Text 5"/>
          <p:cNvSpPr txBox="1"/>
          <p:nvPr/>
        </p:nvSpPr>
        <p:spPr>
          <a:xfrm>
            <a:off x="8630400" y="4791400"/>
            <a:ext cx="589800" cy="37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37250" y="1470975"/>
            <a:ext cx="5367000" cy="76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Правовой инфантилизм — молодежь часто знает свои права, но игнорирует обязанности и ответственность, что усложняет формирование правового сознания.
</a:t>
            </a:r>
            <a:endParaRPr lang="en-US" sz="1000" dirty="0"/>
          </a:p>
        </p:txBody>
      </p:sp>
      <p:sp>
        <p:nvSpPr>
          <p:cNvPr id="6" name="Text 1"/>
          <p:cNvSpPr txBox="1"/>
          <p:nvPr/>
        </p:nvSpPr>
        <p:spPr>
          <a:xfrm>
            <a:off x="637250" y="2638079"/>
            <a:ext cx="5367000" cy="76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 студентов выражают недоверие к государственной системе защиты, что ведет к легитимизации девиантного поведения и снижению правовой культуры.
</a:t>
            </a:r>
            <a:endParaRPr lang="en-US" sz="1000" dirty="0"/>
          </a:p>
        </p:txBody>
      </p:sp>
      <p:sp>
        <p:nvSpPr>
          <p:cNvPr id="7" name="Text 2"/>
          <p:cNvSpPr txBox="1"/>
          <p:nvPr/>
        </p:nvSpPr>
        <p:spPr>
          <a:xfrm>
            <a:off x="637250" y="3769425"/>
            <a:ext cx="5367000" cy="76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Отсутствие четкого представления о гранях преступления и проступка способствует оправданию антисоциальных действий среди молодых.
</a:t>
            </a:r>
            <a:endParaRPr lang="en-US" sz="1000" dirty="0"/>
          </a:p>
        </p:txBody>
      </p:sp>
      <p:sp>
        <p:nvSpPr>
          <p:cNvPr id="8" name="Text 3"/>
          <p:cNvSpPr txBox="1"/>
          <p:nvPr/>
        </p:nvSpPr>
        <p:spPr>
          <a:xfrm>
            <a:off x="337925" y="393900"/>
            <a:ext cx="8388900" cy="401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Правосознание молодежи как фактор девиации
</a:t>
            </a:r>
            <a:endParaRPr lang="en-US" sz="2400" dirty="0"/>
          </a:p>
        </p:txBody>
      </p:sp>
      <p:sp>
        <p:nvSpPr>
          <p:cNvPr id="9" name="Text 4"/>
          <p:cNvSpPr txBox="1"/>
          <p:nvPr/>
        </p:nvSpPr>
        <p:spPr>
          <a:xfrm>
            <a:off x="8630400" y="4791400"/>
            <a:ext cx="589800" cy="37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1800" y="1216545"/>
            <a:ext cx="4392300" cy="3199859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777725" y="1429875"/>
            <a:ext cx="3555600" cy="114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Разрушение традиционных советских норм и господство материального потребительства приводят к дефициту моральных ориентиров и аномии среди молодежи.
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777725" y="3109275"/>
            <a:ext cx="3555600" cy="114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Интернет-субкультуры создают альтернативные системы норм, усиливая девиантное поведение через виртуальную идентификацию и групповое влияние.
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538925" y="393900"/>
            <a:ext cx="8091600" cy="401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259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Кризис ценностных ориентаций и роль субкультур
</a:t>
            </a:r>
            <a:endParaRPr lang="en-US" sz="2259" dirty="0"/>
          </a:p>
        </p:txBody>
      </p:sp>
      <p:sp>
        <p:nvSpPr>
          <p:cNvPr id="8" name="Text 3"/>
          <p:cNvSpPr txBox="1"/>
          <p:nvPr/>
        </p:nvSpPr>
        <p:spPr>
          <a:xfrm>
            <a:off x="8630400" y="4791400"/>
            <a:ext cx="589800" cy="37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100" y="1545957"/>
            <a:ext cx="4152000" cy="232634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420100" y="4191525"/>
            <a:ext cx="3554700" cy="24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Министерство внутренних дел РФ, 2023
</a:t>
            </a:r>
            <a:endParaRPr lang="en-US" sz="1000" dirty="0"/>
          </a:p>
        </p:txBody>
      </p:sp>
      <p:sp>
        <p:nvSpPr>
          <p:cNvPr id="6" name="Text 1"/>
          <p:cNvSpPr txBox="1"/>
          <p:nvPr/>
        </p:nvSpPr>
        <p:spPr>
          <a:xfrm>
            <a:off x="4957350" y="2001700"/>
            <a:ext cx="3696300" cy="17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Ежегодно подростки совершают значительное количество преступлений. Таблица отражает распределение по возрасту и типам правонарушений.
</a:t>
            </a:r>
            <a:pPr algn="l" indent="0" marL="0">
              <a:lnSpc>
                <a:spcPct val="150000"/>
              </a:lnSpc>
              <a:buNone/>
            </a:pPr>
            <a:r>
              <a:rPr lang="en-US" sz="10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50000"/>
              </a:lnSpc>
              <a:buNone/>
            </a:pPr>
            <a:r>
              <a:rPr lang="en-US" sz="10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Наибольшая концентрация девиантного поведения приходится на социально уязвимые группы из неблагополучных семей с тенденцией к увеличению с возрастом.
</a:t>
            </a:r>
            <a:endParaRPr lang="en-US" sz="1005" dirty="0"/>
          </a:p>
        </p:txBody>
      </p:sp>
      <p:sp>
        <p:nvSpPr>
          <p:cNvPr id="7" name="Text 2"/>
          <p:cNvSpPr txBox="1"/>
          <p:nvPr/>
        </p:nvSpPr>
        <p:spPr>
          <a:xfrm>
            <a:off x="8630400" y="4791400"/>
            <a:ext cx="589800" cy="37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3"/>
          <p:cNvSpPr txBox="1"/>
          <p:nvPr/>
        </p:nvSpPr>
        <p:spPr>
          <a:xfrm>
            <a:off x="420100" y="393900"/>
            <a:ext cx="8493300" cy="77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Статистика преступности среди молодежи в России
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4625" y="1392850"/>
            <a:ext cx="3550200" cy="117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России зарегистрировано около 208 тысяч молодых людей с диагнозом наркозависимость, при этом средний возраст начала употребления составляет всего 13 лет, что указывает на раннее вовлечение.
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902425" y="1392925"/>
            <a:ext cx="3550200" cy="117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Средняя продолжительность жизни наркомана составляет от 5 до 7 лет, особенно сокращается при употреблении синтетических препаратов, где этот срок может составлять около двух лет.
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84625" y="3266225"/>
            <a:ext cx="3550200" cy="117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Современные тенденции включают лёгкий доступ к наркотикам через интернет с возможностью доставки на дом, а также возрастание полидрукзависимости — одновременного употребления нескольких веществ.
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902425" y="3266225"/>
            <a:ext cx="3550200" cy="117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Основной мотивацией для начала и продолжения употребления является уход от реальности и борьба с депрессией, что требует комплексных мер профилактики и поддержки.
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18525" y="393900"/>
            <a:ext cx="8319900" cy="401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3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Наркомания: масштабы и современные тенденции
</a:t>
            </a:r>
            <a:endParaRPr lang="en-US" sz="2325" dirty="0"/>
          </a:p>
        </p:txBody>
      </p:sp>
      <p:sp>
        <p:nvSpPr>
          <p:cNvPr id="8" name="Text 5"/>
          <p:cNvSpPr txBox="1"/>
          <p:nvPr/>
        </p:nvSpPr>
        <p:spPr>
          <a:xfrm>
            <a:off x="8630400" y="4791400"/>
            <a:ext cx="589800" cy="37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5729" y="1521533"/>
            <a:ext cx="4149693" cy="24012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674625" y="4073600"/>
            <a:ext cx="4227600" cy="24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Росстат, исследования ВЦИОМ, 2021
</a:t>
            </a:r>
            <a:endParaRPr lang="en-US" sz="1000" dirty="0"/>
          </a:p>
        </p:txBody>
      </p:sp>
      <p:sp>
        <p:nvSpPr>
          <p:cNvPr id="5" name="Text 1"/>
          <p:cNvSpPr txBox="1"/>
          <p:nvPr/>
        </p:nvSpPr>
        <p:spPr>
          <a:xfrm>
            <a:off x="415925" y="1699750"/>
            <a:ext cx="3540900" cy="203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8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Особенно заметное увеличение доли трезвых наблюдается в поколении зумеров, что свидетельствует о культурных изменениях среди молодежи.
</a:t>
            </a:r>
            <a:pPr algn="l" indent="0" marL="0">
              <a:lnSpc>
                <a:spcPct val="150000"/>
              </a:lnSpc>
              <a:buNone/>
            </a:pPr>
            <a:r>
              <a:rPr lang="en-US" sz="118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50000"/>
              </a:lnSpc>
              <a:buNone/>
            </a:pPr>
            <a:r>
              <a:rPr lang="en-US" sz="118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 трезвости показывает положительную динамику формирования здорового образа жизни среди российских молодых людей за последние 20 лет.
</a:t>
            </a:r>
            <a:endParaRPr lang="en-US" sz="1188" dirty="0"/>
          </a:p>
        </p:txBody>
      </p:sp>
      <p:sp>
        <p:nvSpPr>
          <p:cNvPr id="6" name="Text 2"/>
          <p:cNvSpPr txBox="1"/>
          <p:nvPr/>
        </p:nvSpPr>
        <p:spPr>
          <a:xfrm>
            <a:off x="8630400" y="4791400"/>
            <a:ext cx="589800" cy="37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415925" y="393900"/>
            <a:ext cx="8214600" cy="77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Позитивные тренды в употреблении алкоголя среди молодежи
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925800" y="1605325"/>
            <a:ext cx="3103200" cy="128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Россия занимает третье место в мире по уровню подростковых суицидов, что отражает критическую ситуацию в области психического здоровья молодежи.
</a:t>
            </a:r>
            <a:endParaRPr lang="en-US" sz="1200" dirty="0"/>
          </a:p>
        </p:txBody>
      </p:sp>
      <p:sp>
        <p:nvSpPr>
          <p:cNvPr id="7" name="Text 1"/>
          <p:cNvSpPr txBox="1"/>
          <p:nvPr/>
        </p:nvSpPr>
        <p:spPr>
          <a:xfrm>
            <a:off x="925800" y="3388025"/>
            <a:ext cx="3103200" cy="128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данным опросов, 45% девушек и 27% парней когда-либо рассматривали возможность суицида, что говорит о высокой распространённости суицидальных мыслей.
</a:t>
            </a:r>
            <a:endParaRPr lang="en-US" sz="1200" dirty="0"/>
          </a:p>
        </p:txBody>
      </p:sp>
      <p:sp>
        <p:nvSpPr>
          <p:cNvPr id="8" name="Text 2"/>
          <p:cNvSpPr txBox="1"/>
          <p:nvPr/>
        </p:nvSpPr>
        <p:spPr>
          <a:xfrm>
            <a:off x="5235875" y="1605375"/>
            <a:ext cx="3103200" cy="128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Большинство случаев (92%) связано с проблемами в семье, несмотря на то, что примерно 60% суицидентов происходят из обеспеченных семей, подчёркивая роль эмоционального климата.
</a:t>
            </a:r>
            <a:endParaRPr lang="en-US" sz="1200" dirty="0"/>
          </a:p>
        </p:txBody>
      </p:sp>
      <p:sp>
        <p:nvSpPr>
          <p:cNvPr id="9" name="Text 3"/>
          <p:cNvSpPr txBox="1"/>
          <p:nvPr/>
        </p:nvSpPr>
        <p:spPr>
          <a:xfrm>
            <a:off x="5235875" y="3388025"/>
            <a:ext cx="3103200" cy="128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причины суицидального поведения включают неразделённую любовь, семейные конфликты и психические заболевания, требующие системной поддержки.
</a:t>
            </a:r>
            <a:endParaRPr lang="en-US" sz="1200" dirty="0"/>
          </a:p>
        </p:txBody>
      </p:sp>
      <p:sp>
        <p:nvSpPr>
          <p:cNvPr id="10" name="Text 4"/>
          <p:cNvSpPr txBox="1"/>
          <p:nvPr/>
        </p:nvSpPr>
        <p:spPr>
          <a:xfrm>
            <a:off x="424625" y="393900"/>
            <a:ext cx="7914600" cy="33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53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Суицидальное поведение среди молодежи: масштаб и причины
</a:t>
            </a:r>
            <a:endParaRPr lang="en-US" sz="1753" dirty="0"/>
          </a:p>
        </p:txBody>
      </p:sp>
      <p:sp>
        <p:nvSpPr>
          <p:cNvPr id="11" name="Text 5"/>
          <p:cNvSpPr txBox="1"/>
          <p:nvPr/>
        </p:nvSpPr>
        <p:spPr>
          <a:xfrm>
            <a:off x="8630400" y="4791400"/>
            <a:ext cx="589800" cy="37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4625" y="1392850"/>
            <a:ext cx="3550200" cy="117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Чувство изоляции проявляется как ощущение непонятости и отсутствия поддержки со стороны окружающих, что усиливает внутренний кризис личности.
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902425" y="1392925"/>
            <a:ext cx="3550200" cy="117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Беспомощность формируется через ощущение невозможности контролировать события собственной жизни, что ведёт к отчаянию и утрате мотивации.
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84625" y="3266225"/>
            <a:ext cx="3550200" cy="117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Безнадежность — убеждение в отсутствии положительного будущего, что снижает волю к жизни и усиливает риск суицидальных действий.
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902425" y="3266225"/>
            <a:ext cx="3550200" cy="117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Незначимость отражает низкую самооценку и ощущение собственной никчёмности, которые могут быть преодолены через поддержку и профессиональную помощь.
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18525" y="393900"/>
            <a:ext cx="8319900" cy="401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Психологические механизмы суицида
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630400" y="4791400"/>
            <a:ext cx="589800" cy="37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925800" y="1605325"/>
            <a:ext cx="3103200" cy="128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Кризис идеологии и духовности, а также экономический упадок создают благоприятную почву для распространения проституции среди молодежи.
</a:t>
            </a:r>
            <a:endParaRPr lang="en-US" sz="1200" dirty="0"/>
          </a:p>
        </p:txBody>
      </p:sp>
      <p:sp>
        <p:nvSpPr>
          <p:cNvPr id="7" name="Text 1"/>
          <p:cNvSpPr txBox="1"/>
          <p:nvPr/>
        </p:nvSpPr>
        <p:spPr>
          <a:xfrm>
            <a:off x="925800" y="3388025"/>
            <a:ext cx="3103200" cy="128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Неблагополучные семьи с насилием, а также вовлечение в алкоголизм и наркотики способствуют формированию уязвимых групп молодых людей.
</a:t>
            </a:r>
            <a:endParaRPr lang="en-US" sz="1200" dirty="0"/>
          </a:p>
        </p:txBody>
      </p:sp>
      <p:sp>
        <p:nvSpPr>
          <p:cNvPr id="8" name="Text 2"/>
          <p:cNvSpPr txBox="1"/>
          <p:nvPr/>
        </p:nvSpPr>
        <p:spPr>
          <a:xfrm>
            <a:off x="5235875" y="1605375"/>
            <a:ext cx="3103200" cy="128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Индивидуальные факторы включают низкий уровень образования, мотив материальной выгоды и отсутствие социальной поддержки и перспектив.
</a:t>
            </a:r>
            <a:endParaRPr lang="en-US" sz="1200" dirty="0"/>
          </a:p>
        </p:txBody>
      </p:sp>
      <p:sp>
        <p:nvSpPr>
          <p:cNvPr id="9" name="Text 3"/>
          <p:cNvSpPr txBox="1"/>
          <p:nvPr/>
        </p:nvSpPr>
        <p:spPr>
          <a:xfrm>
            <a:off x="5235875" y="3388025"/>
            <a:ext cx="3103200" cy="128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Последствия проявляются в виде венерических заболеваний, психосоматических расстройств и дальнейшего углубления девиантного поведения.
</a:t>
            </a:r>
            <a:endParaRPr lang="en-US" sz="1200" dirty="0"/>
          </a:p>
        </p:txBody>
      </p:sp>
      <p:sp>
        <p:nvSpPr>
          <p:cNvPr id="10" name="Text 4"/>
          <p:cNvSpPr txBox="1"/>
          <p:nvPr/>
        </p:nvSpPr>
        <p:spPr>
          <a:xfrm>
            <a:off x="424625" y="393900"/>
            <a:ext cx="7914600" cy="33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20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Причины и факторы проституции среди молодежи
</a:t>
            </a:r>
            <a:endParaRPr lang="en-US" sz="2205" dirty="0"/>
          </a:p>
        </p:txBody>
      </p:sp>
      <p:sp>
        <p:nvSpPr>
          <p:cNvPr id="11" name="Text 5"/>
          <p:cNvSpPr txBox="1"/>
          <p:nvPr/>
        </p:nvSpPr>
        <p:spPr>
          <a:xfrm>
            <a:off x="8630400" y="4791400"/>
            <a:ext cx="589800" cy="37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4625" y="1392850"/>
            <a:ext cx="3550200" cy="117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Определяется как антиобщественное поведение, характеризующееся уклонением от труда и зависимостью от социальных выплат и поддержки.
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902425" y="1392925"/>
            <a:ext cx="3550200" cy="117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Феномен NEET охватывает молодежь, не занятую ни учёбой, ни работой, чьи причины лежат в депрессии, низкой мотивации и дефиците необходимых навыков.
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84625" y="3266225"/>
            <a:ext cx="3550200" cy="117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Информационная перегрузка и социальное выгорание усугубляют ситуацию, снижая способность адаптироваться или искать возможности.
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902425" y="3266225"/>
            <a:ext cx="3550200" cy="117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приводит к сокращению трудового потенциала страны и увеличению нагрузки на систему социального обеспечения.
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18525" y="393900"/>
            <a:ext cx="8319900" cy="401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Социальный паразитизм и феномен NEET
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630400" y="4791400"/>
            <a:ext cx="589800" cy="37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8525" y="3206229"/>
            <a:ext cx="8262000" cy="1952543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016400" y="1353500"/>
            <a:ext cx="3206400" cy="15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9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Масштабы и феномены
</a:t>
            </a:r>
            <a:pPr algn="l" indent="0" marL="0">
              <a:lnSpc>
                <a:spcPct val="115000"/>
              </a:lnSpc>
              <a:buNone/>
            </a:pPr>
            <a:r>
              <a:rPr lang="en-US" sz="149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15000"/>
              </a:lnSpc>
              <a:buNone/>
            </a:pPr>
            <a:r>
              <a:rPr lang="en-US" sz="1094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сегодняшний день около 95% российской молодежи активно пользуются мессенджером Telegram, половина из них регулярно играет в видеоигры. В среднем они проводят около часа в соцсетях ежедневно, что формирует значительный дигитальный след.
</a:t>
            </a:r>
            <a:endParaRPr lang="en-US" sz="1292" dirty="0"/>
          </a:p>
        </p:txBody>
      </p:sp>
      <p:sp>
        <p:nvSpPr>
          <p:cNvPr id="7" name="Text 1"/>
          <p:cNvSpPr txBox="1"/>
          <p:nvPr/>
        </p:nvSpPr>
        <p:spPr>
          <a:xfrm>
            <a:off x="5274525" y="1353500"/>
            <a:ext cx="3162000" cy="15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9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Риски и причины
</a:t>
            </a:r>
            <a:pPr algn="l" indent="0" marL="0">
              <a:lnSpc>
                <a:spcPct val="115000"/>
              </a:lnSpc>
              <a:buNone/>
            </a:pPr>
            <a:r>
              <a:rPr lang="en-US" sz="149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15000"/>
              </a:lnSpc>
              <a:buNone/>
            </a:pPr>
            <a:r>
              <a:rPr lang="en-US" sz="1094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риски связаны с низкой самооценкой, социальной изоляцией и явлениями кибербуллинга. Часто возникает полидругзависимость — сочетание интернет-зависимости и употребления веществ, обусловленное поиском психологического комфорта.
</a:t>
            </a:r>
            <a:endParaRPr lang="en-US" sz="1292" dirty="0"/>
          </a:p>
        </p:txBody>
      </p:sp>
      <p:sp>
        <p:nvSpPr>
          <p:cNvPr id="8" name="Text 2"/>
          <p:cNvSpPr txBox="1"/>
          <p:nvPr/>
        </p:nvSpPr>
        <p:spPr>
          <a:xfrm>
            <a:off x="418525" y="393900"/>
            <a:ext cx="8262000" cy="33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31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Интернет-зависимость и гейминг среди молодежи
</a:t>
            </a:r>
            <a:endParaRPr lang="en-US" sz="2316" dirty="0"/>
          </a:p>
        </p:txBody>
      </p:sp>
      <p:sp>
        <p:nvSpPr>
          <p:cNvPr id="9" name="Text 3"/>
          <p:cNvSpPr txBox="1"/>
          <p:nvPr/>
        </p:nvSpPr>
        <p:spPr>
          <a:xfrm>
            <a:off x="8630400" y="4791400"/>
            <a:ext cx="589800" cy="37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5729" y="1521533"/>
            <a:ext cx="4149693" cy="24012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674625" y="4073600"/>
            <a:ext cx="4227600" cy="24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Аналитический доклад Института социологии РАН, 2023
</a:t>
            </a:r>
            <a:endParaRPr lang="en-US" sz="1000" dirty="0"/>
          </a:p>
        </p:txBody>
      </p:sp>
      <p:sp>
        <p:nvSpPr>
          <p:cNvPr id="5" name="Text 1"/>
          <p:cNvSpPr txBox="1"/>
          <p:nvPr/>
        </p:nvSpPr>
        <p:spPr>
          <a:xfrm>
            <a:off x="415925" y="1699750"/>
            <a:ext cx="3540900" cy="203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5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Причины девиантного поведения распределяются между обществом, социальными институтами и личностными факторами, образуя взаимосвязанную систему влияния.
</a:t>
            </a:r>
            <a:pPr algn="l" indent="0" marL="0">
              <a:lnSpc>
                <a:spcPct val="150000"/>
              </a:lnSpc>
              <a:buNone/>
            </a:pPr>
            <a:r>
              <a:rPr lang="en-US" sz="115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50000"/>
              </a:lnSpc>
              <a:buNone/>
            </a:pPr>
            <a:r>
              <a:rPr lang="en-US" sz="115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Эффективная профилактика требует комплексного учета всех уровней причин, так как они взаимно усиливают риск девиации.
</a:t>
            </a:r>
            <a:endParaRPr lang="en-US" sz="1151" dirty="0"/>
          </a:p>
        </p:txBody>
      </p:sp>
      <p:sp>
        <p:nvSpPr>
          <p:cNvPr id="6" name="Text 2"/>
          <p:cNvSpPr txBox="1"/>
          <p:nvPr/>
        </p:nvSpPr>
        <p:spPr>
          <a:xfrm>
            <a:off x="8630400" y="4791400"/>
            <a:ext cx="589800" cy="37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415925" y="393900"/>
            <a:ext cx="8214600" cy="77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Многоуровневая структура причин девиации
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Text 0"/>
          <p:cNvSpPr txBox="1"/>
          <p:nvPr/>
        </p:nvSpPr>
        <p:spPr>
          <a:xfrm>
            <a:off x="337920" y="393900"/>
            <a:ext cx="8467800" cy="401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Синергетический эффект факторов девиации
</a:t>
            </a:r>
            <a:endParaRPr lang="en-US" sz="2400" dirty="0"/>
          </a:p>
        </p:txBody>
      </p:sp>
      <p:sp>
        <p:nvSpPr>
          <p:cNvPr id="9" name="Text 1"/>
          <p:cNvSpPr txBox="1"/>
          <p:nvPr/>
        </p:nvSpPr>
        <p:spPr>
          <a:xfrm>
            <a:off x="8630400" y="4791400"/>
            <a:ext cx="589800" cy="37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10" name="Text 2"/>
          <p:cNvSpPr txBox="1"/>
          <p:nvPr/>
        </p:nvSpPr>
        <p:spPr>
          <a:xfrm>
            <a:off x="497000" y="2937725"/>
            <a:ext cx="2294100" cy="104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39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Экономическая депривация
</a:t>
            </a:r>
            <a:pPr algn="l" indent="0" marL="0">
              <a:lnSpc>
                <a:spcPct val="130039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Ухудшение финансового положения семьи приводит к хроническому стрессу и напряжённости в семейных отношениях.
</a:t>
            </a:r>
            <a:endParaRPr lang="en-US" sz="1200" dirty="0"/>
          </a:p>
        </p:txBody>
      </p:sp>
      <p:sp>
        <p:nvSpPr>
          <p:cNvPr id="11" name="Text 3"/>
          <p:cNvSpPr txBox="1"/>
          <p:nvPr/>
        </p:nvSpPr>
        <p:spPr>
          <a:xfrm>
            <a:off x="2050350" y="1371725"/>
            <a:ext cx="2105100" cy="104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Семейный стресс
</a:t>
            </a:r>
            <a:pPr algn="l" indent="0" marL="0">
              <a:lnSpc>
                <a:spcPct val="115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15000"/>
              </a:lnSpc>
              <a:buNone/>
            </a:pPr>
            <a:r>
              <a:rPr lang="en-US" sz="917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Повышение конфликтов и снижение эмоциональной поддержки со стороны родителей создают неблагоприятные условия для развития ребенка.
</a:t>
            </a:r>
            <a:endParaRPr lang="en-US" sz="1100" dirty="0"/>
          </a:p>
        </p:txBody>
      </p:sp>
      <p:sp>
        <p:nvSpPr>
          <p:cNvPr id="12" name="Text 4"/>
          <p:cNvSpPr txBox="1"/>
          <p:nvPr/>
        </p:nvSpPr>
        <p:spPr>
          <a:xfrm>
            <a:off x="3618025" y="2928825"/>
            <a:ext cx="2105100" cy="104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6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Эмоциональное пренебрежение
</a:t>
            </a:r>
            <a:pPr algn="l" indent="0" marL="0">
              <a:lnSpc>
                <a:spcPct val="115000"/>
              </a:lnSpc>
              <a:buNone/>
            </a:pPr>
            <a:r>
              <a:rPr lang="en-US" sz="584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00000"/>
              </a:lnSpc>
              <a:buNone/>
            </a:pPr>
            <a:r>
              <a:rPr lang="en-US" sz="974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Недостаток родительского внимания формирует у молодежи чувство одиночества и слабую эмоциональную защиту.
</a:t>
            </a:r>
            <a:endParaRPr lang="en-US" sz="1168" dirty="0"/>
          </a:p>
        </p:txBody>
      </p:sp>
      <p:sp>
        <p:nvSpPr>
          <p:cNvPr id="13" name="Text 5"/>
          <p:cNvSpPr txBox="1"/>
          <p:nvPr/>
        </p:nvSpPr>
        <p:spPr>
          <a:xfrm>
            <a:off x="5124975" y="1371725"/>
            <a:ext cx="2105100" cy="104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Низкая самооценка
</a:t>
            </a:r>
            <a:pPr algn="l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Чувство собственной незначимости подталкивает к поиску признания и поддержки вне семьи, в том числе в девиантных группах.
</a:t>
            </a:r>
            <a:endParaRPr lang="en-US" sz="1200" dirty="0"/>
          </a:p>
        </p:txBody>
      </p:sp>
      <p:sp>
        <p:nvSpPr>
          <p:cNvPr id="14" name="Text 6"/>
          <p:cNvSpPr txBox="1"/>
          <p:nvPr/>
        </p:nvSpPr>
        <p:spPr>
          <a:xfrm>
            <a:off x="6685800" y="2928825"/>
            <a:ext cx="1944600" cy="104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Девиантное поведение
</a:t>
            </a:r>
            <a:pPr algn="l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Вступление в группы с отклоняющимися нормами повышает риск противоправных и деструктивных действий.
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925800" y="1605325"/>
            <a:ext cx="3103200" cy="128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Интернетизация способствует распространению всех видов девиации, облегчая доступ и ускоряя обмен информацией между вовлечёнными лицами.
</a:t>
            </a:r>
            <a:endParaRPr lang="en-US" sz="1200" dirty="0"/>
          </a:p>
        </p:txBody>
      </p:sp>
      <p:sp>
        <p:nvSpPr>
          <p:cNvPr id="7" name="Text 1"/>
          <p:cNvSpPr txBox="1"/>
          <p:nvPr/>
        </p:nvSpPr>
        <p:spPr>
          <a:xfrm>
            <a:off x="925800" y="3388025"/>
            <a:ext cx="3103200" cy="128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 феномена NEET свидетельствует об увеличении числа молодежи, которая не участвует в образовании, трудовой деятельности и обучении.
</a:t>
            </a:r>
            <a:endParaRPr lang="en-US" sz="1200" dirty="0"/>
          </a:p>
        </p:txBody>
      </p:sp>
      <p:sp>
        <p:nvSpPr>
          <p:cNvPr id="8" name="Text 2"/>
          <p:cNvSpPr txBox="1"/>
          <p:nvPr/>
        </p:nvSpPr>
        <p:spPr>
          <a:xfrm>
            <a:off x="5235875" y="1605375"/>
            <a:ext cx="3103200" cy="128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Смешанные зависимости становятся более распространёнными, усложняя диагностику и лечение, требуя новых подходов к реабилитации.
</a:t>
            </a:r>
            <a:endParaRPr lang="en-US" sz="1200" dirty="0"/>
          </a:p>
        </p:txBody>
      </p:sp>
      <p:sp>
        <p:nvSpPr>
          <p:cNvPr id="9" name="Text 3"/>
          <p:cNvSpPr txBox="1"/>
          <p:nvPr/>
        </p:nvSpPr>
        <p:spPr>
          <a:xfrm>
            <a:off x="5235875" y="3388025"/>
            <a:ext cx="3103200" cy="128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Психическое здоровье молодых ухудшается: 20% страдают тяжелой депрессией, что вдвое превышает показатели большинства европейских стран.
</a:t>
            </a:r>
            <a:endParaRPr lang="en-US" sz="1200" dirty="0"/>
          </a:p>
        </p:txBody>
      </p:sp>
      <p:sp>
        <p:nvSpPr>
          <p:cNvPr id="10" name="Text 4"/>
          <p:cNvSpPr txBox="1"/>
          <p:nvPr/>
        </p:nvSpPr>
        <p:spPr>
          <a:xfrm>
            <a:off x="424625" y="393900"/>
            <a:ext cx="7914600" cy="33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969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Современные тренды девиантного поведения молодежи
</a:t>
            </a:r>
            <a:endParaRPr lang="en-US" sz="1969" dirty="0"/>
          </a:p>
        </p:txBody>
      </p:sp>
      <p:sp>
        <p:nvSpPr>
          <p:cNvPr id="11" name="Text 5"/>
          <p:cNvSpPr txBox="1"/>
          <p:nvPr/>
        </p:nvSpPr>
        <p:spPr>
          <a:xfrm>
            <a:off x="8630400" y="4791400"/>
            <a:ext cx="589800" cy="37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4575" y="1581874"/>
            <a:ext cx="4152000" cy="228051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674625" y="4073600"/>
            <a:ext cx="4152000" cy="24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9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Обобщённые данные российских социальных служб и исследований
</a:t>
            </a:r>
            <a:endParaRPr lang="en-US" sz="893" dirty="0"/>
          </a:p>
        </p:txBody>
      </p:sp>
      <p:sp>
        <p:nvSpPr>
          <p:cNvPr id="5" name="Text 1"/>
          <p:cNvSpPr txBox="1"/>
          <p:nvPr/>
        </p:nvSpPr>
        <p:spPr>
          <a:xfrm>
            <a:off x="415925" y="1699750"/>
            <a:ext cx="3509100" cy="2045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6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Таблица демонстрирует основные меры профилактики девиантного поведения на первичном, вторичном и третичном уровнях, а также соответствующие цели и вовлечённые институты.
</a:t>
            </a:r>
            <a:pPr algn="l" indent="0" marL="0">
              <a:lnSpc>
                <a:spcPct val="150000"/>
              </a:lnSpc>
              <a:buNone/>
            </a:pPr>
            <a:r>
              <a:rPr lang="en-US" sz="1106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50000"/>
              </a:lnSpc>
              <a:buNone/>
            </a:pPr>
            <a:r>
              <a:rPr lang="en-US" sz="1106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Комплексная профилактика на разных уровнях способствует снижению и реабилитации девиантного поведения среди молодёжи.
</a:t>
            </a:r>
            <a:endParaRPr lang="en-US" sz="1106" dirty="0"/>
          </a:p>
        </p:txBody>
      </p:sp>
      <p:sp>
        <p:nvSpPr>
          <p:cNvPr id="6" name="Text 2"/>
          <p:cNvSpPr txBox="1"/>
          <p:nvPr/>
        </p:nvSpPr>
        <p:spPr>
          <a:xfrm>
            <a:off x="415925" y="393900"/>
            <a:ext cx="8214600" cy="77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Трехуровневая модель профилактики девиации
</a:t>
            </a:r>
            <a:endParaRPr lang="en-US" sz="2400" dirty="0"/>
          </a:p>
        </p:txBody>
      </p:sp>
      <p:sp>
        <p:nvSpPr>
          <p:cNvPr id="7" name="Text 3"/>
          <p:cNvSpPr txBox="1"/>
          <p:nvPr/>
        </p:nvSpPr>
        <p:spPr>
          <a:xfrm>
            <a:off x="8630400" y="4791400"/>
            <a:ext cx="589800" cy="37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3033325" y="1220450"/>
            <a:ext cx="4400400" cy="818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Семья играет ключевую роль, обеспечивая родительское просвещение, поддержку в кризисах и экономическую помощь, что создаёт основу для устойчивости молодёжи к рискам девиационного поведения.
</a:t>
            </a:r>
            <a:endParaRPr lang="en-US" sz="1100" dirty="0"/>
          </a:p>
        </p:txBody>
      </p:sp>
      <p:sp>
        <p:nvSpPr>
          <p:cNvPr id="8" name="Text 1"/>
          <p:cNvSpPr txBox="1"/>
          <p:nvPr/>
        </p:nvSpPr>
        <p:spPr>
          <a:xfrm>
            <a:off x="3033200" y="2351825"/>
            <a:ext cx="4400400" cy="818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Школа обеспечивает профессиональную психологическую поддержку, медиацию конфликтов и организует альтернативную деятельность, способствуя формированию здоровой социальной среды и навыков адаптации.
</a:t>
            </a:r>
            <a:endParaRPr lang="en-US" sz="1100" dirty="0"/>
          </a:p>
        </p:txBody>
      </p:sp>
      <p:sp>
        <p:nvSpPr>
          <p:cNvPr id="9" name="Text 2"/>
          <p:cNvSpPr txBox="1"/>
          <p:nvPr/>
        </p:nvSpPr>
        <p:spPr>
          <a:xfrm>
            <a:off x="3033200" y="3486150"/>
            <a:ext cx="4400400" cy="818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Эффективность достигается через коллективную терапию, создание ситуаций успеха и партнёрство между детьми, родителями и педагогами, которые усиливают социальную адаптацию и снижение девиации.
</a:t>
            </a:r>
            <a:endParaRPr lang="en-US" sz="1100" dirty="0"/>
          </a:p>
        </p:txBody>
      </p:sp>
      <p:sp>
        <p:nvSpPr>
          <p:cNvPr id="10" name="Text 3"/>
          <p:cNvSpPr txBox="1"/>
          <p:nvPr/>
        </p:nvSpPr>
        <p:spPr>
          <a:xfrm>
            <a:off x="337920" y="393900"/>
            <a:ext cx="8394600" cy="401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Роль семьи и школы в профилактике девиации
</a:t>
            </a:r>
            <a:endParaRPr lang="en-US" sz="2400" dirty="0"/>
          </a:p>
        </p:txBody>
      </p:sp>
      <p:sp>
        <p:nvSpPr>
          <p:cNvPr id="11" name="Text 4"/>
          <p:cNvSpPr txBox="1"/>
          <p:nvPr/>
        </p:nvSpPr>
        <p:spPr>
          <a:xfrm>
            <a:off x="8630400" y="4791400"/>
            <a:ext cx="589800" cy="37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183700" y="1565975"/>
            <a:ext cx="2517000" cy="2474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мезо- и микроуровнях важно укреплять семейные и образовательные институты, а также предоставлять индивидуальную поддержку через психологическую помощь и терапию.
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418525" y="1565975"/>
            <a:ext cx="2380800" cy="2474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Девиация возникает вследствие неудовлетворённости потребностей в смысле жизни, признании и безопасности, что требует внимания к внутренним мотивациям личности.
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3338125" y="1565975"/>
            <a:ext cx="2380800" cy="2474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условий для конформного успеха и полноценной самореализации на макроуровне стимулирует формирование позитивных ценностей и социальной справедливости.
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418525" y="393900"/>
            <a:ext cx="8211900" cy="33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037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Авторский подход: восстановление смысла и интеграция
</a:t>
            </a:r>
            <a:endParaRPr lang="en-US" sz="2037" dirty="0"/>
          </a:p>
        </p:txBody>
      </p:sp>
      <p:sp>
        <p:nvSpPr>
          <p:cNvPr id="9" name="Text 4"/>
          <p:cNvSpPr txBox="1"/>
          <p:nvPr/>
        </p:nvSpPr>
        <p:spPr>
          <a:xfrm>
            <a:off x="8630400" y="4791400"/>
            <a:ext cx="589800" cy="37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4625" y="1392850"/>
            <a:ext cx="3550200" cy="117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национальной идеологии, основанной на принципах личной ответственности, социальной справедливости и духовно-нравственного развития, формирует фундамент общества.
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902425" y="1392925"/>
            <a:ext cx="3550200" cy="117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Обеспечение равных возможностей, поддержка регионального развития и внедрение системы менторства позволяют снизить социальной напряжённости и повысить социальную мобильность.
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84625" y="3266225"/>
            <a:ext cx="3550200" cy="117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Экономическое расширение возможностей через гарантированное трудоустройство и достойные зарплаты способствует стабильности и уменьшению мотивации к девиации.
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902425" y="3266225"/>
            <a:ext cx="3550200" cy="117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Поддержка предпринимательских инициатив среди молодёжи стимулирует личностный рост и интеграцию в социально-экономическую жизнь страны.
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18525" y="393900"/>
            <a:ext cx="8319900" cy="401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Макросоциальный уровень решения девиации
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630400" y="4791400"/>
            <a:ext cx="589800" cy="37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37250" y="1470975"/>
            <a:ext cx="5367000" cy="76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Реализация программ родительского просвещения направлена на развитие эмоциональной компетентности и умение разрешать конфликты без применения насилия.
</a:t>
            </a:r>
            <a:endParaRPr lang="en-US" sz="1000" dirty="0"/>
          </a:p>
        </p:txBody>
      </p:sp>
      <p:sp>
        <p:nvSpPr>
          <p:cNvPr id="6" name="Text 1"/>
          <p:cNvSpPr txBox="1"/>
          <p:nvPr/>
        </p:nvSpPr>
        <p:spPr>
          <a:xfrm>
            <a:off x="637250" y="2638079"/>
            <a:ext cx="5367000" cy="76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Экономическая поддержка многодетных и малообеспеченных семей через стабилизацию доходов и обеспечение доступным жильём снижает риск девиации у молодёжи.
</a:t>
            </a:r>
            <a:endParaRPr lang="en-US" sz="1000" dirty="0"/>
          </a:p>
        </p:txBody>
      </p:sp>
      <p:sp>
        <p:nvSpPr>
          <p:cNvPr id="7" name="Text 2"/>
          <p:cNvSpPr txBox="1"/>
          <p:nvPr/>
        </p:nvSpPr>
        <p:spPr>
          <a:xfrm>
            <a:off x="637250" y="3769425"/>
            <a:ext cx="5367000" cy="76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ранней помощи ориентирована на поддержку семей в кризисных ситуациях, замещая традиционные наказания социальной поддержкой со стороны специалистов.
</a:t>
            </a:r>
            <a:endParaRPr lang="en-US" sz="1000" dirty="0"/>
          </a:p>
        </p:txBody>
      </p:sp>
      <p:sp>
        <p:nvSpPr>
          <p:cNvPr id="8" name="Text 3"/>
          <p:cNvSpPr txBox="1"/>
          <p:nvPr/>
        </p:nvSpPr>
        <p:spPr>
          <a:xfrm>
            <a:off x="337925" y="393900"/>
            <a:ext cx="8388900" cy="401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Мезоуровень: поддержка семьи
</a:t>
            </a:r>
            <a:endParaRPr lang="en-US" sz="2400" dirty="0"/>
          </a:p>
        </p:txBody>
      </p:sp>
      <p:sp>
        <p:nvSpPr>
          <p:cNvPr id="9" name="Text 4"/>
          <p:cNvSpPr txBox="1"/>
          <p:nvPr/>
        </p:nvSpPr>
        <p:spPr>
          <a:xfrm>
            <a:off x="8630400" y="4791400"/>
            <a:ext cx="589800" cy="37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925800" y="1605325"/>
            <a:ext cx="3103200" cy="128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Переоснащение школ квалифицированными психологами и социальными педагогами создаёт безопасную среду и способствует медиации конфликтов в образовательных учреждениях.
</a:t>
            </a:r>
            <a:endParaRPr lang="en-US" sz="1200" dirty="0"/>
          </a:p>
        </p:txBody>
      </p:sp>
      <p:sp>
        <p:nvSpPr>
          <p:cNvPr id="7" name="Text 1"/>
          <p:cNvSpPr txBox="1"/>
          <p:nvPr/>
        </p:nvSpPr>
        <p:spPr>
          <a:xfrm>
            <a:off x="925800" y="3388025"/>
            <a:ext cx="3103200" cy="128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Включение в образовательные программы правового воспитания, развития эмоциональной интеллигентности и социального предпринимательства формирует у молодёжи жизненно важные компетенции.
</a:t>
            </a:r>
            <a:endParaRPr lang="en-US" sz="1200" dirty="0"/>
          </a:p>
        </p:txBody>
      </p:sp>
      <p:sp>
        <p:nvSpPr>
          <p:cNvPr id="8" name="Text 2"/>
          <p:cNvSpPr txBox="1"/>
          <p:nvPr/>
        </p:nvSpPr>
        <p:spPr>
          <a:xfrm>
            <a:off x="5235875" y="1605375"/>
            <a:ext cx="3103200" cy="128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Организация бесплатных кружков, спортивных секций и творческих проектов усиливает социализацию и развивает навыки командной работы и ответственности.
</a:t>
            </a:r>
            <a:endParaRPr lang="en-US" sz="1200" dirty="0"/>
          </a:p>
        </p:txBody>
      </p:sp>
      <p:sp>
        <p:nvSpPr>
          <p:cNvPr id="9" name="Text 3"/>
          <p:cNvSpPr txBox="1"/>
          <p:nvPr/>
        </p:nvSpPr>
        <p:spPr>
          <a:xfrm>
            <a:off x="5235875" y="3388025"/>
            <a:ext cx="3103200" cy="128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Проектная деятельность с социальным эффектом стимулирует активную гражданскую позицию и мотивацию к позитивным изменениям в обществе.
</a:t>
            </a:r>
            <a:endParaRPr lang="en-US" sz="1200" dirty="0"/>
          </a:p>
        </p:txBody>
      </p:sp>
      <p:sp>
        <p:nvSpPr>
          <p:cNvPr id="10" name="Text 4"/>
          <p:cNvSpPr txBox="1"/>
          <p:nvPr/>
        </p:nvSpPr>
        <p:spPr>
          <a:xfrm>
            <a:off x="424625" y="393900"/>
            <a:ext cx="7914600" cy="33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Мезоуровень: реформы в образовании
</a:t>
            </a:r>
            <a:endParaRPr lang="en-US" sz="2400" dirty="0"/>
          </a:p>
        </p:txBody>
      </p:sp>
      <p:sp>
        <p:nvSpPr>
          <p:cNvPr id="11" name="Text 5"/>
          <p:cNvSpPr txBox="1"/>
          <p:nvPr/>
        </p:nvSpPr>
        <p:spPr>
          <a:xfrm>
            <a:off x="8630400" y="4791400"/>
            <a:ext cx="589800" cy="37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3033325" y="1220450"/>
            <a:ext cx="4400400" cy="818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Применение когнитивно-поведенческой терапии способствует повышению самооценки и развитию социальных навыков, что снижает склонность к девиации.
</a:t>
            </a:r>
            <a:endParaRPr lang="en-US" sz="1100" dirty="0"/>
          </a:p>
        </p:txBody>
      </p:sp>
      <p:sp>
        <p:nvSpPr>
          <p:cNvPr id="8" name="Text 1"/>
          <p:cNvSpPr txBox="1"/>
          <p:nvPr/>
        </p:nvSpPr>
        <p:spPr>
          <a:xfrm>
            <a:off x="3033200" y="2351825"/>
            <a:ext cx="4400400" cy="818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Комплексное лечение зависимостей объединяет медикаментозную и психотерапевтическую помощь, обеспечивая эффективное восстановление и предотвращение рецидивов.
</a:t>
            </a:r>
            <a:endParaRPr lang="en-US" sz="1100" dirty="0"/>
          </a:p>
        </p:txBody>
      </p:sp>
      <p:sp>
        <p:nvSpPr>
          <p:cNvPr id="9" name="Text 2"/>
          <p:cNvSpPr txBox="1"/>
          <p:nvPr/>
        </p:nvSpPr>
        <p:spPr>
          <a:xfrm>
            <a:off x="3033200" y="3486150"/>
            <a:ext cx="4400400" cy="818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Наставничество через личные примеры успеха мотивирует молодёжь, способствует интеграции в общество и формированию устойчивой позитивной идентичности.
</a:t>
            </a:r>
            <a:endParaRPr lang="en-US" sz="1100" dirty="0"/>
          </a:p>
        </p:txBody>
      </p:sp>
      <p:sp>
        <p:nvSpPr>
          <p:cNvPr id="10" name="Text 3"/>
          <p:cNvSpPr txBox="1"/>
          <p:nvPr/>
        </p:nvSpPr>
        <p:spPr>
          <a:xfrm>
            <a:off x="337920" y="393900"/>
            <a:ext cx="8394600" cy="401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081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Микроуровень: индивидуальная поддержка и коррекция
</a:t>
            </a:r>
            <a:endParaRPr lang="en-US" sz="2081" dirty="0"/>
          </a:p>
        </p:txBody>
      </p:sp>
      <p:sp>
        <p:nvSpPr>
          <p:cNvPr id="11" name="Text 4"/>
          <p:cNvSpPr txBox="1"/>
          <p:nvPr/>
        </p:nvSpPr>
        <p:spPr>
          <a:xfrm>
            <a:off x="8630400" y="4791400"/>
            <a:ext cx="589800" cy="37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183700" y="1565975"/>
            <a:ext cx="2517000" cy="2474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NEET-молодёжи разработаны адаптивные программы возвращения к обучению и работе, сопровождение психологов и гибкие социальные форматы адаптации.
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418525" y="1565975"/>
            <a:ext cx="2380800" cy="2474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суицидальной молодёжи организованы круглосуточные горячие линии, программы обучения взрослых распознаванию рисков и работа по восстановлению семейных связей.
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3338125" y="1565975"/>
            <a:ext cx="2380800" cy="2474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Поддержка наркозависимых включает борьбу с социальной стигмой, доступ к лечению, профилактические меры в образовательных учреждениях и социальную реинтеграцию.
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418525" y="393900"/>
            <a:ext cx="8211900" cy="33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37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Специальные программы для критических групп
</a:t>
            </a:r>
            <a:endParaRPr lang="en-US" sz="2370" dirty="0"/>
          </a:p>
        </p:txBody>
      </p:sp>
      <p:sp>
        <p:nvSpPr>
          <p:cNvPr id="9" name="Text 4"/>
          <p:cNvSpPr txBox="1"/>
          <p:nvPr/>
        </p:nvSpPr>
        <p:spPr>
          <a:xfrm>
            <a:off x="8630400" y="4791400"/>
            <a:ext cx="589800" cy="37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37250" y="1470975"/>
            <a:ext cx="5367000" cy="76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Цифровые платформы и мобильные приложения предоставляют молодёжи психологическую поддержку и быстрый доступ к необходимым ресурсам.
</a:t>
            </a:r>
            <a:endParaRPr lang="en-US" sz="1000" dirty="0"/>
          </a:p>
        </p:txBody>
      </p:sp>
      <p:sp>
        <p:nvSpPr>
          <p:cNvPr id="6" name="Text 1"/>
          <p:cNvSpPr txBox="1"/>
          <p:nvPr/>
        </p:nvSpPr>
        <p:spPr>
          <a:xfrm>
            <a:off x="637250" y="2638079"/>
            <a:ext cx="5367000" cy="76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Геймификация социально полезного поведения с системой вознаграждений и признания стимулирует активность и формирует позитивные привычки.
</a:t>
            </a:r>
            <a:endParaRPr lang="en-US" sz="1000" dirty="0"/>
          </a:p>
        </p:txBody>
      </p:sp>
      <p:sp>
        <p:nvSpPr>
          <p:cNvPr id="7" name="Text 2"/>
          <p:cNvSpPr txBox="1"/>
          <p:nvPr/>
        </p:nvSpPr>
        <p:spPr>
          <a:xfrm>
            <a:off x="637250" y="3769425"/>
            <a:ext cx="5367000" cy="76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Партнёрство с неправительственными организациями и бизнес-сектором расширяет возможности программ и обеспечивает устойчивость инициатив.
</a:t>
            </a:r>
            <a:endParaRPr lang="en-US" sz="1000" dirty="0"/>
          </a:p>
        </p:txBody>
      </p:sp>
      <p:sp>
        <p:nvSpPr>
          <p:cNvPr id="8" name="Text 3"/>
          <p:cNvSpPr txBox="1"/>
          <p:nvPr/>
        </p:nvSpPr>
        <p:spPr>
          <a:xfrm>
            <a:off x="337925" y="393900"/>
            <a:ext cx="8388900" cy="401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3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Инновационные методы в профилактике девиаций
</a:t>
            </a:r>
            <a:endParaRPr lang="en-US" sz="2325" dirty="0"/>
          </a:p>
        </p:txBody>
      </p:sp>
      <p:sp>
        <p:nvSpPr>
          <p:cNvPr id="9" name="Text 4"/>
          <p:cNvSpPr txBox="1"/>
          <p:nvPr/>
        </p:nvSpPr>
        <p:spPr>
          <a:xfrm>
            <a:off x="8630400" y="4791400"/>
            <a:ext cx="589800" cy="37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BBC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3300" y="1165200"/>
            <a:ext cx="7374600" cy="280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Мониторинг для устойчивого успеха профилактики девиаций
</a:t>
            </a:r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Регулярное исследование, анализ и адаптация профилактических программ позволяют достичь значительного сокращения девиантного поведения и повысить социально-экономическую активность молодёжи в долгосрочной перспективе.
</a:t>
            </a:r>
            <a:endParaRPr lang="en-US" sz="2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4625" y="1392850"/>
            <a:ext cx="3550200" cy="117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Краткосрочные результаты: снижение уровня агрессии и улучшение межличностных отношений среди молодежи способствует созданию более гармоничного социального окружения.
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902425" y="1392925"/>
            <a:ext cx="3550200" cy="117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Среднесрочные результаты (2-3 года): ожидается заметное уменьшение уровня преступности и снижение числа суицидов благодаря комплексным профилактическим мерам и поддержке.
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84625" y="3266225"/>
            <a:ext cx="3550200" cy="117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Долгосрочные результаты (5-10 лет): формирование социальной ответственности молодежи и устойчивое развитие общества как результата системной работы и воспитания.
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902425" y="3266225"/>
            <a:ext cx="3550200" cy="117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Вывод: последовательное достижение целей на разных этапах обеспечивает стабильное улучшение социальной ситуации и снижает негативные девиантные проявления среди молодежи.
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18525" y="393900"/>
            <a:ext cx="8319900" cy="401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Ожидаемые результаты
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630400" y="4791400"/>
            <a:ext cx="589800" cy="37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425" y="1168003"/>
            <a:ext cx="3757200" cy="335359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941800" y="1610406"/>
            <a:ext cx="3449700" cy="1419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Недостаток ресурсов и кадров затрудняет реализацию программ профилактики и поддержки. Система сталкивается с инерцией, не успевая адаптироваться к быстрым изменениям социальных условий.
</a:t>
            </a:r>
            <a:endParaRPr lang="en-US" sz="1100" dirty="0"/>
          </a:p>
        </p:txBody>
      </p:sp>
      <p:sp>
        <p:nvSpPr>
          <p:cNvPr id="8" name="Text 1"/>
          <p:cNvSpPr txBox="1"/>
          <p:nvPr/>
        </p:nvSpPr>
        <p:spPr>
          <a:xfrm>
            <a:off x="475850" y="393900"/>
            <a:ext cx="8183700" cy="401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5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Вызовы и препятствия в решении социальной девиации среди молодежи
</a:t>
            </a:r>
            <a:endParaRPr lang="en-US" sz="1755" dirty="0"/>
          </a:p>
        </p:txBody>
      </p:sp>
      <p:sp>
        <p:nvSpPr>
          <p:cNvPr id="9" name="Text 2"/>
          <p:cNvSpPr txBox="1"/>
          <p:nvPr/>
        </p:nvSpPr>
        <p:spPr>
          <a:xfrm>
            <a:off x="8630400" y="4791400"/>
            <a:ext cx="589800" cy="37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  <p:sp>
        <p:nvSpPr>
          <p:cNvPr id="10" name="Text 3"/>
          <p:cNvSpPr txBox="1"/>
          <p:nvPr/>
        </p:nvSpPr>
        <p:spPr>
          <a:xfrm>
            <a:off x="941800" y="3465256"/>
            <a:ext cx="3449700" cy="1419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Большое региональное разнообразие требует учета специфики каждого региона, что усложняет создание эффективных универсальных решений. Преодоление возможно через инвестиции, обучение и мониторинг эффективности.
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183700" y="1565975"/>
            <a:ext cx="2517000" cy="2474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Смыслы, которые мы предлагаем молодежи, направляют развитие общества в целом. Ценностные ориентиры формируют их мотивацию, выбор и жизненные стратегии, влияя на общественные процессы.
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418525" y="1565975"/>
            <a:ext cx="2380800" cy="2474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Молодежь формирует будущее страны, от их качества зависит темп и устойчивость экономического роста. Инвестиции в образование и здравоохранение молодежи — ключевые факторы развития.
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3338125" y="1565975"/>
            <a:ext cx="2380800" cy="2474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Воспитание молодежи непосредственно определяет социальную стабильность и безопасность общества. Социальные нормы и ценности, заложенные сегодня, формируют поведение будущих поколений.
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418525" y="393900"/>
            <a:ext cx="8211900" cy="33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Почему это важно
</a:t>
            </a:r>
            <a:endParaRPr lang="en-US" sz="2400" dirty="0"/>
          </a:p>
        </p:txBody>
      </p:sp>
      <p:sp>
        <p:nvSpPr>
          <p:cNvPr id="9" name="Text 4"/>
          <p:cNvSpPr txBox="1"/>
          <p:nvPr/>
        </p:nvSpPr>
        <p:spPr>
          <a:xfrm>
            <a:off x="8630400" y="4791400"/>
            <a:ext cx="589800" cy="37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100" y="952627"/>
            <a:ext cx="4124700" cy="378634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21100" y="393900"/>
            <a:ext cx="8311500" cy="401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12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Девиация молодежи: корень проблемы и пути решения
</a:t>
            </a:r>
            <a:endParaRPr lang="en-US" sz="2112" dirty="0"/>
          </a:p>
        </p:txBody>
      </p:sp>
      <p:sp>
        <p:nvSpPr>
          <p:cNvPr id="5" name="Text 1"/>
          <p:cNvSpPr txBox="1"/>
          <p:nvPr/>
        </p:nvSpPr>
        <p:spPr>
          <a:xfrm>
            <a:off x="8630400" y="4791400"/>
            <a:ext cx="589800" cy="37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4545800" y="3070050"/>
            <a:ext cx="3898500" cy="125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7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привлекательных условий для конформного поведения
</a:t>
            </a:r>
            <a:pPr algn="l" indent="0" marL="0">
              <a:lnSpc>
                <a:spcPct val="115000"/>
              </a:lnSpc>
              <a:buNone/>
            </a:pPr>
            <a:r>
              <a:rPr lang="en-US" sz="74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15000"/>
              </a:lnSpc>
              <a:buNone/>
            </a:pPr>
            <a:r>
              <a:rPr lang="en-US" sz="102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снижения девиантности необходимо создать условия, при которых социально одобряемое поведение будет приносить реальное признание и возможности самореализации. Это сделает конформизм более привлекательным и мотивирующим для молодежи.
</a:t>
            </a:r>
            <a:endParaRPr lang="en-US" sz="1207" dirty="0"/>
          </a:p>
        </p:txBody>
      </p:sp>
      <p:sp>
        <p:nvSpPr>
          <p:cNvPr id="7" name="Text 3"/>
          <p:cNvSpPr txBox="1"/>
          <p:nvPr/>
        </p:nvSpPr>
        <p:spPr>
          <a:xfrm>
            <a:off x="4545800" y="1262250"/>
            <a:ext cx="3898500" cy="125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8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 неудовлетворенных потребностей
</a:t>
            </a:r>
            <a:pPr algn="l" indent="0" marL="0">
              <a:lnSpc>
                <a:spcPct val="115000"/>
              </a:lnSpc>
              <a:buNone/>
            </a:pPr>
            <a:r>
              <a:rPr lang="en-US" sz="789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15000"/>
              </a:lnSpc>
              <a:buNone/>
            </a:pPr>
            <a:r>
              <a:rPr lang="en-US" sz="108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Девиация у молодежи возникает из-за нехватки смысла жизни, признания в обществе и чувства безопасности. Эти базовые потребности не удовлетворяются, что толкает к отклоняющимся формам поведения.
</a:t>
            </a:r>
            <a:endParaRPr lang="en-US" sz="128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2025-10-23T21:20:15Z</dcterms:created>
  <dcterms:modified xsi:type="dcterms:W3CDTF">2025-10-23T21:20:15Z</dcterms:modified>
</cp:coreProperties>
</file>