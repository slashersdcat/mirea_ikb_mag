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14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98202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Программы для ЭВМ как объекты авторского права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6280190" y="2569369"/>
            <a:ext cx="7556421" cy="148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857024"/>
            <a:ext cx="2386489" cy="3048714"/>
          </a:xfrm>
          <a:prstGeom prst="roundRect">
            <a:avLst>
              <a:gd name="adj" fmla="val 1247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6478548" y="3055382"/>
            <a:ext cx="19897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Дисциплина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78548" y="3484602"/>
            <a:ext cx="198977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Правовое регулирование сферы искусственного интеллекта и интеллектуальной собственности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865037" y="2857024"/>
            <a:ext cx="2386608" cy="3048714"/>
          </a:xfrm>
          <a:prstGeom prst="roundRect">
            <a:avLst>
              <a:gd name="adj" fmla="val 1247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9063395" y="3055382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Студент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063395" y="3484602"/>
            <a:ext cx="19898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Мухаметшин А.Р.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Группа: ББМО-01-25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1450003" y="2857024"/>
            <a:ext cx="2386608" cy="3048714"/>
          </a:xfrm>
          <a:prstGeom prst="roundRect">
            <a:avLst>
              <a:gd name="adj" fmla="val 1247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11648361" y="3055382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Преподаватель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648361" y="3484602"/>
            <a:ext cx="19898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Самогин А.С.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80190" y="6104096"/>
            <a:ext cx="7556421" cy="1143476"/>
          </a:xfrm>
          <a:prstGeom prst="roundRect">
            <a:avLst>
              <a:gd name="adj" fmla="val 2604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6478548" y="63024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Учебное заведение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478548" y="6731675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РТУ МИРЭА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" y="146447"/>
            <a:ext cx="5291138" cy="79367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819031"/>
            <a:ext cx="7527727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Что такое программа для ЭВМ?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267807" y="1717834"/>
            <a:ext cx="1095256" cy="365284"/>
          </a:xfrm>
          <a:prstGeom prst="roundRect">
            <a:avLst>
              <a:gd name="adj" fmla="val 6418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6384965" y="1776413"/>
            <a:ext cx="860941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7807" y="2299454"/>
            <a:ext cx="7581186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Согласно </a:t>
            </a: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Закону РФ от 23.09.1992 № 3523-I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«О правовой охране программ для электронных вычислительных машин и баз данных», программа для ЭВМ — это </a:t>
            </a: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объективная форма представления совокупности данных и команд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предназначенных для функционирования ЭВМ и иных компьютерных устройств с целью получения определённого результата.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7194" y="4066580"/>
            <a:ext cx="3833574" cy="3343989"/>
          </a:xfrm>
          <a:prstGeom prst="roundRect">
            <a:avLst>
              <a:gd name="adj" fmla="val 876"/>
            </a:avLst>
          </a:prstGeom>
          <a:solidFill>
            <a:srgbClr val="3E2513"/>
          </a:solidFill>
          <a:ln/>
        </p:spPr>
      </p:sp>
      <p:sp>
        <p:nvSpPr>
          <p:cNvPr id="9" name="Text 6"/>
          <p:cNvSpPr/>
          <p:nvPr/>
        </p:nvSpPr>
        <p:spPr>
          <a:xfrm>
            <a:off x="6322457" y="4258866"/>
            <a:ext cx="272093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Что входит в понятие?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22457" y="4756309"/>
            <a:ext cx="3443049" cy="199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Совокупность данных и команд для ЭВМ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Подготовительные материалы, полученные в ходе разработки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Порождаемые программой аудиовизуальные отображения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304264" y="4258866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Правовая основа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304264" y="4756309"/>
            <a:ext cx="3552349" cy="24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Закон РФ от 23.09.1992 № 3523-I «О правовой охране программ для электронных вычислительных машин и баз данных» является ключевым нормативным актом, закрепившим правовой статус программ для ЭВМ в отечественной правовой системе.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5405"/>
            <a:ext cx="125918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Программы для ЭВМ как объекты авторского права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52318"/>
            <a:ext cx="1759148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411849"/>
            <a:ext cx="152102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ПРАВОВОЙ СТАТУС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94870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Статья 1 Закона прямо устанавливает: программы для ЭВМ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признаются объектами авторского права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и охраняются наравне с литературными произведениями. Это означает, что к ним применяются все нормы авторского права, включая возникновение охраны в момент создания произведения.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124563"/>
            <a:ext cx="4215289" cy="2769513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124563"/>
            <a:ext cx="91440" cy="2769513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345781"/>
            <a:ext cx="26060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Признание объектом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4775002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Программы для ЭВМ прямо отнесены к объектам авторского права по российскому законодательству (ст. 1 Закона).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4124563"/>
            <a:ext cx="4215408" cy="2769513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4124563"/>
            <a:ext cx="91440" cy="2769513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4345781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Охрана наравне с литературой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7235" y="5085159"/>
            <a:ext cx="37043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Правовая охрана предоставляется по аналогии с литературными произведениями, что обеспечивает широкий круг защитных механизмов.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4124563"/>
            <a:ext cx="4215289" cy="2769513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4124563"/>
            <a:ext cx="91440" cy="2769513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4345781"/>
            <a:ext cx="28504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Независимость охраны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11001" y="4775002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Охрана предоставляется независимо от достоинств, назначения программы и способа её выражения — исходный текст или объектный код.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6609"/>
            <a:ext cx="61267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Объём правовой охраны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63522"/>
            <a:ext cx="1653540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523053"/>
            <a:ext cx="14154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СТАТЬЯ 6 ЗАКОНА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0915" y="3059906"/>
            <a:ext cx="6565106" cy="3723084"/>
          </a:xfrm>
          <a:prstGeom prst="roundRect">
            <a:avLst>
              <a:gd name="adj" fmla="val 800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32582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Что охраняется?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766780"/>
            <a:ext cx="6168390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Исходный текст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программы (исходный код на языке программирования)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Объектный код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(скомпилированная машинная форма)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Подготовительные материалы разработки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Порождаемые аудиовизуальные отображения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2582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Что НЕ охраняется?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766780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Идеи и принципы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лежащие в основе программы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Алгоритмы как таковые (в абстрактном виде)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Описания принципов работы без конкретного воплощения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64874" y="5081468"/>
            <a:ext cx="6279356" cy="1478280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5376743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09598" y="5329357"/>
            <a:ext cx="5436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Ключевой принцип: охраняется </a:t>
            </a:r>
            <a:r>
              <a:rPr lang="en-US" sz="15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форма выражения</a:t>
            </a: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а не идея. Это общий принцип авторского права, применимый к программам для ЭВМ.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4" y="132517"/>
            <a:ext cx="5309711" cy="7964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3393" y="547330"/>
            <a:ext cx="77300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Авторские права на программы для ЭВМ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6193393" y="1888331"/>
            <a:ext cx="1865948" cy="319802"/>
          </a:xfrm>
          <a:prstGeom prst="roundRect">
            <a:avLst>
              <a:gd name="adj" fmla="val 6633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6299359" y="1941314"/>
            <a:ext cx="1654016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СТАТЬИ 8, 9, 10 ЗАКОНА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93393" y="2385179"/>
            <a:ext cx="7730014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Автором программы признаётся </a:t>
            </a: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гражданин, творческим трудом которого она создана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Авторские права делятся на личные неимущественные (неотчуждаемые) и имущественные (передаваемые).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3393" y="3364468"/>
            <a:ext cx="3786307" cy="2213848"/>
          </a:xfrm>
          <a:prstGeom prst="roundRect">
            <a:avLst>
              <a:gd name="adj" fmla="val 1198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370082" y="3541157"/>
            <a:ext cx="530185" cy="530185"/>
          </a:xfrm>
          <a:prstGeom prst="roundRect">
            <a:avLst>
              <a:gd name="adj" fmla="val 17245085"/>
            </a:avLst>
          </a:prstGeom>
          <a:solidFill>
            <a:srgbClr val="3E25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5814" y="3686889"/>
            <a:ext cx="238601" cy="238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0082" y="4228743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 авторства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370082" y="4599384"/>
            <a:ext cx="3432929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Неотчуждаемое личное право быть признанным автором программы. Не может быть передано другому лицу.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0137100" y="3364468"/>
            <a:ext cx="3786307" cy="2213848"/>
          </a:xfrm>
          <a:prstGeom prst="roundRect">
            <a:avLst>
              <a:gd name="adj" fmla="val 1198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10313789" y="3541157"/>
            <a:ext cx="530185" cy="530185"/>
          </a:xfrm>
          <a:prstGeom prst="roundRect">
            <a:avLst>
              <a:gd name="adj" fmla="val 17245085"/>
            </a:avLst>
          </a:prstGeom>
          <a:solidFill>
            <a:srgbClr val="3E25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9522" y="3686889"/>
            <a:ext cx="238601" cy="238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13789" y="4228743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 на имя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0313789" y="4599384"/>
            <a:ext cx="3432929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 определять форму указания имени автора при использовании программы. Неотчуждаемо.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93393" y="5735717"/>
            <a:ext cx="7730014" cy="1946434"/>
          </a:xfrm>
          <a:prstGeom prst="roundRect">
            <a:avLst>
              <a:gd name="adj" fmla="val 1362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0082" y="5912406"/>
            <a:ext cx="530185" cy="530185"/>
          </a:xfrm>
          <a:prstGeom prst="roundRect">
            <a:avLst>
              <a:gd name="adj" fmla="val 17245085"/>
            </a:avLst>
          </a:prstGeom>
          <a:solidFill>
            <a:srgbClr val="3E25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5814" y="6058138"/>
            <a:ext cx="238601" cy="238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0082" y="6599992"/>
            <a:ext cx="256555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Исключительное право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370082" y="6970633"/>
            <a:ext cx="7376636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 использовать программу любым способом и давать разрешение другим. Передаётся по договору.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9577"/>
            <a:ext cx="85494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Использование программ для ЭВМ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96490"/>
            <a:ext cx="2010013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456021"/>
            <a:ext cx="177188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СТАТЬИ 14, 15 ЗАКОНА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3191232"/>
            <a:ext cx="40705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 договору с правообладателем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699748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Любое использование программы —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воспроизведение, распространение, модификация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возможно исключительно с согласия правообладателя. Договор может быть лицензионным или договором об отчуждении исключительного права.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21999" y="2992874"/>
            <a:ext cx="6565106" cy="2473166"/>
          </a:xfrm>
          <a:prstGeom prst="roundRect">
            <a:avLst>
              <a:gd name="adj" fmla="val 1204"/>
            </a:avLst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7620357" y="3191232"/>
            <a:ext cx="32685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Свободное использование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3699748"/>
            <a:ext cx="6168390" cy="165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Воспроизведение программы для обеспечения её функционирования на конкретных технических средствах пользователя (</a:t>
            </a: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адаптация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Изготовление </a:t>
            </a: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одного архивного экземпляра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для замены утраченного или повреждённого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5689282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984558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8513" y="5937171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Свободное использование допустимо только в строго установленных законом случаях. Архивный экземпляр не может использоваться в иных целях.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997"/>
            <a:ext cx="87999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Модификация и декомпилирование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46910"/>
            <a:ext cx="1653540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006441"/>
            <a:ext cx="14154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СТАТЬЯ 1 ЗАКОНА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3790" y="2543294"/>
            <a:ext cx="6422231" cy="3372207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650" y="2566154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1015008" y="3359825"/>
            <a:ext cx="35165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Модификация (переработка)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3789045"/>
            <a:ext cx="59797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Любые изменения программы,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 являющиеся адаптацией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(адаптация — техническое изменение для работы на конкретном устройстве). Требует обязательного согласия правообладателя. Результат переработки — новый объект авторского права.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543294"/>
            <a:ext cx="6422231" cy="3372207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7239" y="2566154"/>
            <a:ext cx="6376511" cy="595313"/>
          </a:xfrm>
          <a:prstGeom prst="roundRect">
            <a:avLst>
              <a:gd name="adj" fmla="val 393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7635597" y="33598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Декомпилирование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35597" y="3789045"/>
            <a:ext cx="5979795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Технический приём преобразования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объектного кода в исходный текст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для изучения структуры программы. Допустимо в ограниченных случаях — например, для обеспечения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совместимости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с другими программами, если такая информация не предоставлена правообладателем.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6138743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B3B4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434018"/>
            <a:ext cx="248007" cy="19835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38513" y="638663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Несанкционированное декомпилирование или модификация программы является нарушением авторского права и влечёт юридическую ответственность.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797" y="130135"/>
            <a:ext cx="5312807" cy="79692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611" y="517922"/>
            <a:ext cx="7754779" cy="108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Защита прав на программы для ЭВМ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94611" y="1831181"/>
            <a:ext cx="1758315" cy="312420"/>
          </a:xfrm>
          <a:prstGeom prst="roundRect">
            <a:avLst>
              <a:gd name="adj" fmla="val 6670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798790" y="1883212"/>
            <a:ext cx="154995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СТАТЬИ 17, 18 ЗАКОНА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611" y="2314456"/>
            <a:ext cx="7754779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Нарушение авторских прав на программы для ЭВМ выражается в </a:t>
            </a: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изготовлении, распространении и использовании контрафактных экземпляров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а также несанкционированном воспроизведении и модификации.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611" y="3266837"/>
            <a:ext cx="434102" cy="434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8617" y="326683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Признание права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318617" y="3629144"/>
            <a:ext cx="7130772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Судебное признание авторского права на программу в случае его оспаривания третьими лицами.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611" y="4454009"/>
            <a:ext cx="434102" cy="4341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8617" y="4454009"/>
            <a:ext cx="2572941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Пресечение нарушений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318617" y="4816316"/>
            <a:ext cx="7130772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Запрет действий, нарушающих право или создающих угрозу нарушения авторских прав.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611" y="5641181"/>
            <a:ext cx="434102" cy="4341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18617" y="5641181"/>
            <a:ext cx="230052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Возмещение убытков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318617" y="6003488"/>
            <a:ext cx="7130772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Взыскание реального ущерба и упущенной выгоды, причинённых правообладателю.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611" y="6828353"/>
            <a:ext cx="434102" cy="4341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18617" y="6828353"/>
            <a:ext cx="230338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Изъятие контрафакта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1318617" y="7190661"/>
            <a:ext cx="7130772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Изъятие и уничтожение контрафактных экземпляров программы по решению суда.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1218"/>
            <a:ext cx="78027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Регистрация программ для ЭВМ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88131"/>
            <a:ext cx="1737479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247662"/>
            <a:ext cx="14993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СТАТЬЯ 13 ЗАКОНА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0915" y="2784515"/>
            <a:ext cx="6565106" cy="2889766"/>
          </a:xfrm>
          <a:prstGeom prst="roundRect">
            <a:avLst>
              <a:gd name="adj" fmla="val 1030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982873"/>
            <a:ext cx="36515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Добровольность регистрации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491389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Регистрация программы для ЭВМ в </a:t>
            </a: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Роспатенте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не является обязательной для возникновения авторского права. Право возникает автоматически с момента создания программы в объективной форме.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982873"/>
            <a:ext cx="34294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Преимущества регистрации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491389"/>
            <a:ext cx="6279356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Свидетельство о регистрации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является официальным доказательством авторства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Упрощает защиту прав в суде и при коммерческих спорах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Повышает инвестиционную привлекательность программного продукта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Обеспечивает публичность сведений о правообладателе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5897523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192798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8513" y="6145411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Даже без регистрации автор обладает полным объёмом авторских прав. Регистрация лишь усиливает доказательную базу.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9770"/>
            <a:ext cx="100834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Заключение: Важность правовой охраны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36683"/>
            <a:ext cx="794980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912852" y="2096214"/>
            <a:ext cx="556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ИТОГИ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63306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Правовая охрана программ для ЭВМ в Российской Федерации формирует надёжный фундамент для развития отечественной IT-индустрии и сферы искусственного интеллекта. Соблюдение авторского права стимулирует инновации и защищает интересы разработчиков.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08928"/>
            <a:ext cx="4215289" cy="2096095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007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Ценность объекта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2148" y="4436507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Программы для ЭВМ — ключевые объекты интеллектуальной собственности в цифровой экономике и сфере ИИ.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808928"/>
            <a:ext cx="4215408" cy="2096095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5405795" y="4007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Правовая база РФ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05795" y="4436507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Закон РФ № 3523-I обеспечивает комплексную охрану, охватывая авторство, использование и защиту прав.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808928"/>
            <a:ext cx="4215289" cy="2096095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9819561" y="4007287"/>
            <a:ext cx="25574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Развитие инноваций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19561" y="4436507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Соблюдение авторских прав создаёт стимулы для создания новых программных продуктов и развития ИИ-технологий.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1446" y="6351508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Правовая охрана программ для ЭВМ — это не ограничение, а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гарантия прав создателей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и основа доверия в цифровом обществе.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6128266"/>
            <a:ext cx="22860" cy="1081564"/>
          </a:xfrm>
          <a:prstGeom prst="rect">
            <a:avLst/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PresentationFormat>Произвольный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Source Serif 4</vt:lpstr>
      <vt:lpstr>Platypi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2026-04-14T09:14:22Z</dcterms:created>
  <dcterms:modified xsi:type="dcterms:W3CDTF">2026-04-14T09:15:23Z</dcterms:modified>
</cp:coreProperties>
</file>