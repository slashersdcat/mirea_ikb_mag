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67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41909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Понятие робота в техническом и юридическом смысле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09979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Дисциплина: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Правовое регулирование сферы искусственного интеллекта и интеллектуальной собственности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5007650"/>
            <a:ext cx="7556421" cy="14883"/>
          </a:xfrm>
          <a:prstGeom prst="rect">
            <a:avLst/>
          </a:prstGeom>
          <a:solidFill>
            <a:srgbClr val="4A4A4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547389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Студент: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Мухаметшин А.Р.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Группа: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ББМО-01-25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821674" y="547389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Преподаватель: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Самогин А.С.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Организация: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РТУ МИРЭА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807" y="589002"/>
            <a:ext cx="1037272" cy="365284"/>
          </a:xfrm>
          <a:prstGeom prst="roundRect">
            <a:avLst>
              <a:gd name="adj" fmla="val 6418"/>
            </a:avLst>
          </a:prstGeom>
          <a:solidFill>
            <a:srgbClr val="E7E7E4"/>
          </a:solidFill>
          <a:ln/>
        </p:spPr>
      </p:sp>
      <p:sp>
        <p:nvSpPr>
          <p:cNvPr id="4" name="Text 1"/>
          <p:cNvSpPr/>
          <p:nvPr/>
        </p:nvSpPr>
        <p:spPr>
          <a:xfrm>
            <a:off x="6384965" y="647581"/>
            <a:ext cx="802958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67807" y="1031200"/>
            <a:ext cx="7581186" cy="122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Робот — от механизма к субъекту права?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267807" y="2540437"/>
            <a:ext cx="7581186" cy="186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Роботы перестают быть просто инструментами производства. Оснащённые элементами искусственного интеллекта, они становятся сложными автономными системами, способными самостоятельно воспринимать окружающую среду, обрабатывать информацию и принимать решения. Это порождает принципиально новые правовые вопросы, ранее не существовавшие в отечественной юридической науке.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7807" y="4617720"/>
            <a:ext cx="2398871" cy="3022878"/>
          </a:xfrm>
          <a:prstGeom prst="roundRect">
            <a:avLst>
              <a:gd name="adj" fmla="val 1222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5930" y="4835843"/>
            <a:ext cx="196262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Технический аспект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85930" y="5561528"/>
            <a:ext cx="1962626" cy="186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Определение технической сущности, характеристик и классификации роботов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858964" y="4617720"/>
            <a:ext cx="2398871" cy="3022878"/>
          </a:xfrm>
          <a:prstGeom prst="roundRect">
            <a:avLst>
              <a:gd name="adj" fmla="val 1222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77087" y="4835843"/>
            <a:ext cx="196262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Юридический аспект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077087" y="5561528"/>
            <a:ext cx="1962626" cy="155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Поиск правовой природы, статуса и места робота в системе правоотношений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1450122" y="4617720"/>
            <a:ext cx="2398871" cy="3022878"/>
          </a:xfrm>
          <a:prstGeom prst="roundRect">
            <a:avLst>
              <a:gd name="adj" fmla="val 1222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68244" y="4835843"/>
            <a:ext cx="196262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Российский контекст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1668244" y="5561528"/>
            <a:ext cx="1962626" cy="155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Активный поиск законодательных подходов к регулированию робототехники в РФ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8434"/>
            <a:ext cx="2525316" cy="373142"/>
          </a:xfrm>
          <a:prstGeom prst="roundRect">
            <a:avLst>
              <a:gd name="adj" fmla="val 6383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867966"/>
            <a:ext cx="228719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ТЕХНИЧЕСКОЕ ОПРЕДЕЛЕНИЕ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60872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Многообразие технических подходов к понятию робота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798683"/>
            <a:ext cx="130428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технической науке не существует единственного универсального определения робота. ГОСТ Р ИСО 8373-2014 «Роботы и робототехнические устройства» трактует робота как программируемый исполнительный механизм с определённой степенью автономности, используемый для выполнения задач в промышленной или иной среде. Ключевыми характеристиками признаются автономность, способность к взаимодействию с физической средой и программируемость поведения.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92084"/>
            <a:ext cx="2425660" cy="14991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6039207"/>
            <a:ext cx="31624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Промышленные роботы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93790" y="6468428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Манипуляторы на производстве, сварочные и сборочные комплексы. Регулируются ГОСТ Р ИСО 10218.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4292084"/>
            <a:ext cx="2425660" cy="14991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986" y="6039207"/>
            <a:ext cx="30705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Беспилотные аппараты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223986" y="6468428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БПЛА, автономные наземные и морские аппараты с функцией навигации без участия человека.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4292084"/>
            <a:ext cx="2425660" cy="14991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4302" y="60392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Сервисные роботы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54302" y="6468428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Медицинские, логистические, бытовые роботы, работающие непосредственно рядом с людьми.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39428"/>
            <a:ext cx="2631996" cy="373142"/>
          </a:xfrm>
          <a:prstGeom prst="roundRect">
            <a:avLst>
              <a:gd name="adj" fmla="val 6383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198959"/>
            <a:ext cx="239387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ЮРИДИЧЕСКОЕ ОПРЕДЕЛЕНИЕ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591866"/>
            <a:ext cx="85946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Поиск правовой природы робота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50959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Российская правовая доктрина предлагает несколько конкурирующих подходов к определению места робота в системе права. Вопрос принципиален: от выбранного подхода зависит распределение прав, обязанностей и ответственности при эксплуатации автономных систем.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685461"/>
            <a:ext cx="4215289" cy="3404592"/>
          </a:xfrm>
          <a:prstGeom prst="roundRect">
            <a:avLst>
              <a:gd name="adj" fmla="val 3223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3685461"/>
            <a:ext cx="91440" cy="3404592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3906679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Объект права (традиционный подход)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83588" y="4646057"/>
            <a:ext cx="37042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Робот рассматривается как вещь — движимое имущество, инструмент, подлежащий владению, использованию и распоряжению по нормам ГК РФ. Ответственность полностью лежит на владельце или производителе.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685461"/>
            <a:ext cx="4215408" cy="3404592"/>
          </a:xfrm>
          <a:prstGeom prst="roundRect">
            <a:avLst>
              <a:gd name="adj" fmla="val 3223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577" y="3685461"/>
            <a:ext cx="91440" cy="3404592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</p:sp>
      <p:sp>
        <p:nvSpPr>
          <p:cNvPr id="12" name="Text 10"/>
          <p:cNvSpPr/>
          <p:nvPr/>
        </p:nvSpPr>
        <p:spPr>
          <a:xfrm>
            <a:off x="5497235" y="3906679"/>
            <a:ext cx="28133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Особый объект права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7235" y="4335899"/>
            <a:ext cx="370439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Робот с элементами ИИ требует специальных норм ввиду высокой автономности. Данный подход отражён у Данилова И.Б. в работе «Основные подходы к правовому регулированию отношений с участием роботов».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3685461"/>
            <a:ext cx="4215289" cy="3404592"/>
          </a:xfrm>
          <a:prstGeom prst="roundRect">
            <a:avLst>
              <a:gd name="adj" fmla="val 3223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98343" y="3685461"/>
            <a:ext cx="91440" cy="3404592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</p:sp>
      <p:sp>
        <p:nvSpPr>
          <p:cNvPr id="16" name="Text 14"/>
          <p:cNvSpPr/>
          <p:nvPr/>
        </p:nvSpPr>
        <p:spPr>
          <a:xfrm>
            <a:off x="9911001" y="3906679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Электронное лицо (Electronic Person)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11001" y="4646057"/>
            <a:ext cx="370427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Концепция, обсуждаемая в Европе с 2017 года, предполагает ограниченную правосубъектность роботов. В России концепция дискутируется, но не закреплена законодательно.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407" y="605314"/>
            <a:ext cx="2110026" cy="272296"/>
          </a:xfrm>
          <a:prstGeom prst="roundRect">
            <a:avLst>
              <a:gd name="adj" fmla="val 6888"/>
            </a:avLst>
          </a:prstGeom>
          <a:solidFill>
            <a:srgbClr val="E7E7E4"/>
          </a:solidFill>
          <a:ln/>
        </p:spPr>
      </p:sp>
      <p:sp>
        <p:nvSpPr>
          <p:cNvPr id="4" name="Text 1"/>
          <p:cNvSpPr/>
          <p:nvPr/>
        </p:nvSpPr>
        <p:spPr>
          <a:xfrm>
            <a:off x="875109" y="652105"/>
            <a:ext cx="1922621" cy="17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РОССИЙСКОЕ РЕГУЛИРОВАНИЕ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81407" y="926783"/>
            <a:ext cx="7581186" cy="97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Российские подходы к правовому регулированию робототехники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81407" y="2198846"/>
            <a:ext cx="3998000" cy="893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Отечественная правовая система находится в активной стадии формирования нормативной базы. Принятые и разрабатываемые документы создают первичный каркас регулирования.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407" y="3231237"/>
            <a:ext cx="351592" cy="351592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839926" y="3260467"/>
            <a:ext cx="234434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55990" y="3284934"/>
            <a:ext cx="3523417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Концепция ограниченной правосубъектности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55990" y="3896320"/>
            <a:ext cx="3523417" cy="670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Роботы могут обладать ограниченной деликтоспособностью, но не полной правоспособностью (Данилов И.Б.).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407" y="4812863"/>
            <a:ext cx="351592" cy="351592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2" name="Text 9"/>
          <p:cNvSpPr/>
          <p:nvPr/>
        </p:nvSpPr>
        <p:spPr>
          <a:xfrm>
            <a:off x="839926" y="4842093"/>
            <a:ext cx="234434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55990" y="4866561"/>
            <a:ext cx="3242548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Законодательные инициативы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55990" y="5233749"/>
            <a:ext cx="3523417" cy="670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Разработка законопроектов в сфере БПЛА, логистических автономных систем и робототехники.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407" y="6150293"/>
            <a:ext cx="351592" cy="351592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6" name="Text 13"/>
          <p:cNvSpPr/>
          <p:nvPr/>
        </p:nvSpPr>
        <p:spPr>
          <a:xfrm>
            <a:off x="839926" y="6179522"/>
            <a:ext cx="234434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55990" y="6203990"/>
            <a:ext cx="3523417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Принцип ответственности человека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55990" y="6815376"/>
            <a:ext cx="3523417" cy="670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Юридическая ответственность всегда сохраняется за человеком — владельцем или оператором системы.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55751" y="2088118"/>
            <a:ext cx="3426857" cy="5536168"/>
          </a:xfrm>
          <a:prstGeom prst="roundRect">
            <a:avLst>
              <a:gd name="adj" fmla="val 684"/>
            </a:avLst>
          </a:prstGeom>
          <a:solidFill>
            <a:srgbClr val="282824"/>
          </a:solidFill>
          <a:ln/>
        </p:spPr>
      </p:sp>
      <p:sp>
        <p:nvSpPr>
          <p:cNvPr id="20" name="Text 17"/>
          <p:cNvSpPr/>
          <p:nvPr/>
        </p:nvSpPr>
        <p:spPr>
          <a:xfrm>
            <a:off x="5211961" y="2211110"/>
            <a:ext cx="2607945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Ключевые документы РФ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11961" y="2578298"/>
            <a:ext cx="3114437" cy="236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ГОСТ Р ИСО 8373-2014 (терминология)</a:t>
            </a:r>
            <a:endParaRPr lang="en-US" sz="12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Национальная стратегия развития ИИ до 2030 г. (Указ Президента № 490)</a:t>
            </a:r>
            <a:endParaRPr lang="en-US" sz="12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Федеральный закон № 123-ФЗ об экспериментальных правовых режимах</a:t>
            </a:r>
            <a:endParaRPr lang="en-US" sz="12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Концепция регулирования БПЛА в логистике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369808"/>
            <a:ext cx="1020128" cy="222647"/>
          </a:xfrm>
          <a:prstGeom prst="roundRect">
            <a:avLst>
              <a:gd name="adj" fmla="val 7187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613410" y="409813"/>
            <a:ext cx="860108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ПРОБЛЕМАТИКА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3400" y="628293"/>
            <a:ext cx="8776335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Проблемы определения правового статуса робота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3400" y="1179314"/>
            <a:ext cx="13563600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Отсутствие единого законодательного определения понятия «робот» порождает целый спектр практических и теоретических правовых коллизий, требующих системного урегулирования.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58397"/>
            <a:ext cx="10485120" cy="58521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58397"/>
            <a:ext cx="10485120" cy="5852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3400" y="7411283"/>
            <a:ext cx="13563600" cy="448508"/>
          </a:xfrm>
          <a:prstGeom prst="roundRect">
            <a:avLst>
              <a:gd name="adj" fmla="val 4460"/>
            </a:avLst>
          </a:prstGeom>
          <a:solidFill>
            <a:srgbClr val="FCF2B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7598450"/>
            <a:ext cx="166688" cy="133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6788" y="7534156"/>
            <a:ext cx="12996863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действующем ГК РФ субъектами права признаются исключительно физические и юридические лица. Роботы в эту систему не вписываются, что создаёт правовой вакуум при разрешении споров.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888CB12-4846-4484-A7B2-8A4C01BF63E4}"/>
              </a:ext>
            </a:extLst>
          </p:cNvPr>
          <p:cNvGrpSpPr/>
          <p:nvPr/>
        </p:nvGrpSpPr>
        <p:grpSpPr>
          <a:xfrm>
            <a:off x="289175" y="464224"/>
            <a:ext cx="7583073" cy="7408024"/>
            <a:chOff x="289175" y="464224"/>
            <a:chExt cx="6818591" cy="1771650"/>
          </a:xfrm>
        </p:grpSpPr>
        <p:sp>
          <p:nvSpPr>
            <p:cNvPr id="2" name="Shape 0"/>
            <p:cNvSpPr/>
            <p:nvPr/>
          </p:nvSpPr>
          <p:spPr>
            <a:xfrm>
              <a:off x="304415" y="464224"/>
              <a:ext cx="655915" cy="145256"/>
            </a:xfrm>
            <a:prstGeom prst="roundRect">
              <a:avLst>
                <a:gd name="adj" fmla="val 7788"/>
              </a:avLst>
            </a:prstGeom>
            <a:solidFill>
              <a:srgbClr val="E7E7E4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360970" y="492442"/>
              <a:ext cx="542806" cy="888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700"/>
                </a:lnSpc>
                <a:buNone/>
              </a:pPr>
              <a:r>
                <a:rPr lang="en-US" sz="8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ПЕРСПЕКТИВЫ</a:t>
              </a:r>
              <a:endParaRPr lang="en-US" sz="8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415" y="627340"/>
              <a:ext cx="5990749" cy="2946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2400" b="1" dirty="0">
                  <a:solidFill>
                    <a:srgbClr val="282824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Робот как субъект права: перспективы развития</a:t>
              </a:r>
              <a:endParaRPr lang="en-US" sz="2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415" y="1029414"/>
              <a:ext cx="6803350" cy="3336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9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Развитие технологий ИИ неизбежно поставит вопрос о расширении правосубъектности роботов. Как отмечает Баранов П.П. в работе «Правовое регулирование робототехники и искусственного интеллекта в России», необходимо комплексное законодательство, опережающее технологический прогресс, а не следующее за ним.</a:t>
              </a:r>
              <a:endParaRPr lang="en-US" sz="9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89175" y="1398151"/>
              <a:ext cx="30480" cy="444937"/>
            </a:xfrm>
            <a:prstGeom prst="rect">
              <a:avLst/>
            </a:prstGeom>
            <a:solidFill>
              <a:srgbClr val="282824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429074" y="1413391"/>
              <a:ext cx="2026444" cy="147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050" b="1" dirty="0">
                  <a:solidFill>
                    <a:srgbClr val="4A4A45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Расширение правосубъектности</a:t>
              </a:r>
              <a:endParaRPr lang="en-US" sz="10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29074" y="1605438"/>
              <a:ext cx="3248978" cy="222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9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Наделение роботов с развитым ИИ отдельными правами и обязанностями в узко определённых сферах.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18771" y="1398151"/>
              <a:ext cx="30480" cy="444937"/>
            </a:xfrm>
            <a:prstGeom prst="rect">
              <a:avLst/>
            </a:prstGeom>
            <a:solidFill>
              <a:srgbClr val="282824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858669" y="1413391"/>
              <a:ext cx="2311122" cy="147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050" b="1" dirty="0">
                  <a:solidFill>
                    <a:srgbClr val="4A4A45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Комплексный закон о робототехнике</a:t>
              </a:r>
              <a:endParaRPr lang="en-US" sz="10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858669" y="1605438"/>
              <a:ext cx="3249097" cy="222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9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Разработка специального федерального закона, регулирующего создание, эксплуатацию и ответственность за роботов.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89175" y="1902142"/>
              <a:ext cx="30480" cy="333732"/>
            </a:xfrm>
            <a:prstGeom prst="rect">
              <a:avLst/>
            </a:prstGeom>
            <a:solidFill>
              <a:srgbClr val="282824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29074" y="1917382"/>
              <a:ext cx="1954054" cy="147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050" b="1" dirty="0">
                  <a:solidFill>
                    <a:srgbClr val="4A4A45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Международная гармонизация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29074" y="2109430"/>
              <a:ext cx="6678692" cy="1112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9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Координация российских норм с международными стандартами ISO и подходами ЕС и КНР.</a:t>
              </a:r>
              <a:endParaRPr lang="en-US" sz="900" dirty="0"/>
            </a:p>
          </p:txBody>
        </p:sp>
      </p:grp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330" y="0"/>
            <a:ext cx="6463070" cy="96796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377666"/>
            <a:ext cx="2173962" cy="222647"/>
          </a:xfrm>
          <a:prstGeom prst="roundRect">
            <a:avLst>
              <a:gd name="adj" fmla="val 7187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613410" y="417671"/>
            <a:ext cx="20139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ТЕХНИЧЕСКИЙ АСПЕКТ — УГЛУБЛЁННО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3400" y="636151"/>
            <a:ext cx="10850047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Автономность и ИИ как системообразующие характеристики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3400" y="1187172"/>
            <a:ext cx="13563600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Робот в современном техническом понимании — это не просто механизм, а интегрированная система восприятия, обработки информации и исполнения действий. Степень автономности определяется уровнем встроенного ИИ и возможностью функционировать без прямого участия оператора.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44610"/>
            <a:ext cx="13563600" cy="62073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68796" y="2293207"/>
            <a:ext cx="3307119" cy="75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Частичная автономия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0468796" y="3149991"/>
            <a:ext cx="3307119" cy="50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Человек задаёт задачи, контролирует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4146" y="4333487"/>
            <a:ext cx="3040416" cy="750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Высокая автономия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854146" y="5190271"/>
            <a:ext cx="3040416" cy="501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Робот принимает тактические решения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468796" y="5574490"/>
            <a:ext cx="3000410" cy="37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Полная автономия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0468796" y="6056223"/>
            <a:ext cx="3307119" cy="50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Самостоятельное планирование и действия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55425" y="547688"/>
            <a:ext cx="2624733" cy="357426"/>
          </a:xfrm>
          <a:prstGeom prst="roundRect">
            <a:avLst>
              <a:gd name="adj" fmla="val 6455"/>
            </a:avLst>
          </a:prstGeom>
          <a:solidFill>
            <a:srgbClr val="E7E7E4"/>
          </a:solidFill>
          <a:ln/>
        </p:spPr>
      </p:sp>
      <p:sp>
        <p:nvSpPr>
          <p:cNvPr id="4" name="Text 1"/>
          <p:cNvSpPr/>
          <p:nvPr/>
        </p:nvSpPr>
        <p:spPr>
          <a:xfrm>
            <a:off x="6370677" y="605314"/>
            <a:ext cx="239422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ЮРИДИЧЕСКИЙ АСПЕКТ — ИТОГ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55425" y="979527"/>
            <a:ext cx="7605951" cy="1802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От объекта к потенциальному субъекту: итоги дискуссии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6255425" y="3061216"/>
            <a:ext cx="7605951" cy="4620578"/>
          </a:xfrm>
          <a:prstGeom prst="roundRect">
            <a:avLst>
              <a:gd name="adj" fmla="val 624"/>
            </a:avLst>
          </a:prstGeom>
          <a:solidFill>
            <a:srgbClr val="E5DFD2"/>
          </a:solidFill>
          <a:ln/>
        </p:spPr>
      </p:sp>
      <p:sp>
        <p:nvSpPr>
          <p:cNvPr id="7" name="Shape 4"/>
          <p:cNvSpPr/>
          <p:nvPr/>
        </p:nvSpPr>
        <p:spPr>
          <a:xfrm>
            <a:off x="6255425" y="3061216"/>
            <a:ext cx="3802975" cy="2915841"/>
          </a:xfrm>
          <a:prstGeom prst="roundRect">
            <a:avLst>
              <a:gd name="adj" fmla="val 989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6447592" y="3253383"/>
            <a:ext cx="325540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Действующее положение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47592" y="3665458"/>
            <a:ext cx="3418642" cy="181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Российское право рассматривает робота исключительно как объект — движимое имущество. Нормы ГК РФ применяются по аналогии, пробелы восполняются судебной практикой и доктриной.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0" y="3061216"/>
            <a:ext cx="3802975" cy="2915841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0" y="3061216"/>
            <a:ext cx="22860" cy="2915841"/>
          </a:xfrm>
          <a:prstGeom prst="roundRect">
            <a:avLst>
              <a:gd name="adj" fmla="val 126163"/>
            </a:avLst>
          </a:prstGeom>
          <a:solidFill>
            <a:srgbClr val="CBC5B8"/>
          </a:solidFill>
          <a:ln/>
        </p:spPr>
      </p:sp>
      <p:sp>
        <p:nvSpPr>
          <p:cNvPr id="12" name="Text 9"/>
          <p:cNvSpPr/>
          <p:nvPr/>
        </p:nvSpPr>
        <p:spPr>
          <a:xfrm>
            <a:off x="10250567" y="3253383"/>
            <a:ext cx="285249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Переходное состояние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250567" y="3665458"/>
            <a:ext cx="3418642" cy="21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Признаётся необходимость специальных норм для роботов с ИИ. Экспериментальные правовые режимы (ФЗ № 123-ФЗ) позволяют тестировать новые подходы без изменения базового законодательства.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55425" y="5977057"/>
            <a:ext cx="7605951" cy="1704737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5" name="Shape 12"/>
          <p:cNvSpPr/>
          <p:nvPr/>
        </p:nvSpPr>
        <p:spPr>
          <a:xfrm>
            <a:off x="6255425" y="5977057"/>
            <a:ext cx="7605951" cy="22860"/>
          </a:xfrm>
          <a:prstGeom prst="roundRect">
            <a:avLst>
              <a:gd name="adj" fmla="val 126163"/>
            </a:avLst>
          </a:prstGeom>
          <a:solidFill>
            <a:srgbClr val="CBC5B8"/>
          </a:solidFill>
          <a:ln/>
        </p:spPr>
      </p:sp>
      <p:sp>
        <p:nvSpPr>
          <p:cNvPr id="16" name="Text 13"/>
          <p:cNvSpPr/>
          <p:nvPr/>
        </p:nvSpPr>
        <p:spPr>
          <a:xfrm>
            <a:off x="6447592" y="6169223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Вектор развития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447592" y="6581299"/>
            <a:ext cx="7221617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Дискуссия о частичной правосубъектности продолжается. Её исход напрямую определит архитектуру будущего российского законодательства об ИИ и робототехнике.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17934"/>
            <a:ext cx="1329809" cy="373142"/>
          </a:xfrm>
          <a:prstGeom prst="roundRect">
            <a:avLst>
              <a:gd name="adj" fmla="val 6383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677466"/>
            <a:ext cx="109168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ЗАКЛЮЧЕНИЕ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070372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Вызовы и возможности правового регулирования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608183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Чёткое и законодательно закреплённое определение понятия «робот» — необходимая основа для формирования адекватного правового поля. Без этого невозможно ни справедливое распределение ответственности, ни защита прав граждан, ни эффективное стимулирование инноваций в России.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84044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5281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Баланс интересов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93790" y="4957405"/>
            <a:ext cx="41821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Необходим баланс между стимулированием инноваций и обеспечением безопасности, защитой прав и свобод граждан.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3986" y="3784044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986" y="4528185"/>
            <a:ext cx="37983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Комплексное регулирование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223986" y="4957405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Требуется разработка специального федерального закона, опирающегося на научные исследования Данилова, Баранова и других правоведов.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3784044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4302" y="4528185"/>
            <a:ext cx="29566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Международный опыт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54302" y="4957405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Российская доктрина активно анализирует зарубежные модели регулирования — ЕС, КНР, США — с адаптацией к национальной правовой системе.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793790" y="6450806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48" y="6753701"/>
            <a:ext cx="248007" cy="1983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38513" y="6698694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Российская правовая доктрина находится на пороге формирования самостоятельной отрасли — права робототехники и искусственного интеллекта. Темп изменений в технологиях требует опережающего законодательного реагирования.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943</Words>
  <Application>Microsoft Office PowerPoint</Application>
  <PresentationFormat>Произвольный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Lato Bold</vt:lpstr>
      <vt:lpstr>Arial</vt:lpstr>
      <vt:lpstr>Calibri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2</cp:revision>
  <dcterms:created xsi:type="dcterms:W3CDTF">2026-04-14T09:21:09Z</dcterms:created>
  <dcterms:modified xsi:type="dcterms:W3CDTF">2026-04-14T09:23:37Z</dcterms:modified>
</cp:coreProperties>
</file>