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 Bold" panose="020B0604020202020204" charset="0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-52"/>
      <p:regular r:id="rId18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17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60921"/>
            <a:ext cx="4767114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Федеральное государственное бюджетное образовательное учреждение высшего образования «МИРЭА — Российский технологический университет» (РТУ МИРЭА)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902943" y="1287512"/>
            <a:ext cx="4767114" cy="15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Экологические риски и экологические возможности искусственного интеллекта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3902943" y="3053655"/>
            <a:ext cx="4767114" cy="8855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902943" y="3332038"/>
            <a:ext cx="2239045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Дисциплина: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Правовое регулирование сферы искусственного интеллекта и интеллектуальной собственности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902943" y="4196804"/>
            <a:ext cx="2239045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Выполнил: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Мухаметшин А.Р., группа ББМО-01-25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35775" y="3332038"/>
            <a:ext cx="223904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Преподаватель: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Самогин А.С.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35775" y="3628206"/>
            <a:ext cx="223904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Институт: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РТУ МИРЭА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35775" y="3924374"/>
            <a:ext cx="2239045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Год: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202</a:t>
            </a:r>
            <a:r>
              <a:rPr lang="ru-RU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9135" y="651197"/>
            <a:ext cx="4796730" cy="67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Введение: ИИ как инструмент двойного назначения в экологии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59135" y="1546845"/>
            <a:ext cx="2272382" cy="185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Искусственный интеллект стремительно становится одним из ключевых факторов в решении глобальных и национальных экологических проблем. Благодаря способности обрабатывать колоссальные массивы данных, выявлять скрытые закономерности и строить прогностические модели, ИИ открывает принципиально новые горизонты для экологического мониторинга, управления ресурсами и предотвращения катастроф.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9135" y="3483471"/>
            <a:ext cx="2272382" cy="92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Вместе с тем, являясь мощным инструментом, ИИ несёт в себе и потенциальные риски — от манипуляции общественным мнением до значительного энергопотребления при обучении крупных моделей.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988246" y="1567086"/>
            <a:ext cx="2272382" cy="1485602"/>
          </a:xfrm>
          <a:prstGeom prst="roundRect">
            <a:avLst>
              <a:gd name="adj" fmla="val 10431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532" y="1720081"/>
            <a:ext cx="129108" cy="1032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23927" y="1682948"/>
            <a:ext cx="1833414" cy="1237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 презентации</a:t>
            </a:r>
            <a:endParaRPr lang="en-US" sz="80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Проанализировать возможности и риски применения ИИ в контексте российской и мировой экологической повестки, опираясь преимущественно на отечественные источники и опыт российских организаций.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988246" y="3153966"/>
            <a:ext cx="2272382" cy="1176338"/>
          </a:xfrm>
          <a:prstGeom prst="roundRect">
            <a:avLst>
              <a:gd name="adj" fmla="val 13173"/>
            </a:avLst>
          </a:prstGeom>
          <a:solidFill>
            <a:srgbClr val="BEDFF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1532" y="3306961"/>
            <a:ext cx="129108" cy="1032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23927" y="3269828"/>
            <a:ext cx="1833414" cy="92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Актуальность</a:t>
            </a:r>
            <a:endParaRPr lang="en-US" sz="80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России активно исследуется и внедряется ИИ для мониторинга, прогнозирования и управления экологическими процессами — от АЭС до лесного хозяйства.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135" y="330845"/>
            <a:ext cx="8225730" cy="71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Возможности ИИ для экологии: Инструмент прогресса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59135" y="1248891"/>
            <a:ext cx="4062710" cy="1731690"/>
          </a:xfrm>
          <a:prstGeom prst="roundRect">
            <a:avLst>
              <a:gd name="adj" fmla="val 944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14" y="1362670"/>
            <a:ext cx="327124" cy="32712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880" y="1452637"/>
            <a:ext cx="147191" cy="1471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2914" y="1790105"/>
            <a:ext cx="2130996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Обработка больших данных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72914" y="2029644"/>
            <a:ext cx="3835152" cy="837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анализирует огромные массивы информации, выявляя скрытые закономерности в исторических и спектральных данных. По словам вице-президента РАН Степана Калмыкова, это позволяет качественно улучшить понимание экологических процессов.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622155" y="1248891"/>
            <a:ext cx="4062710" cy="1731690"/>
          </a:xfrm>
          <a:prstGeom prst="roundRect">
            <a:avLst>
              <a:gd name="adj" fmla="val 944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934" y="1362670"/>
            <a:ext cx="327124" cy="32712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5901" y="1452637"/>
            <a:ext cx="147191" cy="1471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35934" y="1790105"/>
            <a:ext cx="2140223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Прогнозное моделирование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735934" y="2029644"/>
            <a:ext cx="3835152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применяется для прогнозирования технологических процессов и обеспечения экологической безопасности на промышленных объектах. Пример — Нововоронежская АЭС, где модели предсказывают отклонения заблаговременно.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459135" y="3080891"/>
            <a:ext cx="4062710" cy="1731690"/>
          </a:xfrm>
          <a:prstGeom prst="roundRect">
            <a:avLst>
              <a:gd name="adj" fmla="val 944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14" y="3194670"/>
            <a:ext cx="327124" cy="327124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880" y="3284637"/>
            <a:ext cx="147191" cy="14719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72914" y="3622104"/>
            <a:ext cx="1604739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Цифровые двойники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572914" y="3861643"/>
            <a:ext cx="3835152" cy="837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цифровых копий промышленных объектов позволяет минимизировать гипотетические экологические риски и повышать операционную эффективность ещё на стадии проектирования. (Директор по цифровизации проекта «Прорыв» А. Федоровский)</a:t>
            </a:r>
            <a:endParaRPr lang="en-US" sz="850" dirty="0"/>
          </a:p>
        </p:txBody>
      </p:sp>
      <p:sp>
        <p:nvSpPr>
          <p:cNvPr id="18" name="Shape 10"/>
          <p:cNvSpPr/>
          <p:nvPr/>
        </p:nvSpPr>
        <p:spPr>
          <a:xfrm>
            <a:off x="4622155" y="3080891"/>
            <a:ext cx="4062710" cy="1731690"/>
          </a:xfrm>
          <a:prstGeom prst="roundRect">
            <a:avLst>
              <a:gd name="adj" fmla="val 9446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934" y="3194670"/>
            <a:ext cx="327124" cy="327124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25901" y="3284637"/>
            <a:ext cx="147191" cy="147191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735934" y="3622104"/>
            <a:ext cx="1820391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Мониторинг и контроль</a:t>
            </a:r>
            <a:endParaRPr lang="en-US" sz="1100" dirty="0"/>
          </a:p>
        </p:txBody>
      </p:sp>
      <p:sp>
        <p:nvSpPr>
          <p:cNvPr id="22" name="Text 12"/>
          <p:cNvSpPr/>
          <p:nvPr/>
        </p:nvSpPr>
        <p:spPr>
          <a:xfrm>
            <a:off x="4735934" y="3861643"/>
            <a:ext cx="3835152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помогает в мониторинге загрязнения атмосферы и водоёмов, предотвращении лесных пожаров, оптимизации водных ресурсов, повышении энергоэффективности и сохранении биоразнообразия. (Исследование AICentre МГИМО)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451917"/>
            <a:ext cx="4767114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Российский опыт применения ИИ в экологии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473943" y="1242864"/>
            <a:ext cx="4767114" cy="1042839"/>
          </a:xfrm>
          <a:prstGeom prst="roundRect">
            <a:avLst>
              <a:gd name="adj" fmla="val 6576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56" y="1242864"/>
            <a:ext cx="57150" cy="10428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1775" y="1357833"/>
            <a:ext cx="2040434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Росприроднадзор и НИУ ВШЭ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31775" y="1574825"/>
            <a:ext cx="4494312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Проведено первое в России совместное исследование эффективности ИИ в решении экологических задач. ИИ-системы консультируют сотрудников по экологическому законодательству, ускоряют подготовку отчётности и помогают формировать ESG-стратегии для предприятий различных отраслей.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473943" y="2371279"/>
            <a:ext cx="4767114" cy="1191816"/>
          </a:xfrm>
          <a:prstGeom prst="roundRect">
            <a:avLst>
              <a:gd name="adj" fmla="val 5754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56" y="2371279"/>
            <a:ext cx="57150" cy="11918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1775" y="2486248"/>
            <a:ext cx="2026221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Промышленное применение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31775" y="2703240"/>
            <a:ext cx="4494312" cy="744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внедрён для управления энергопотреблением зданий в Москве, оптимизации технологических процессов на атомных электростанциях (Нововоронежская АЭС) и в топливном дивизионе «Росатома» — АО «ТВЭЛ». Экономия энергии и снижение выбросов достигаются за счёт интеллектуальной оптимизации в режиме реального времени.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473943" y="3648670"/>
            <a:ext cx="4767114" cy="1042839"/>
          </a:xfrm>
          <a:prstGeom prst="roundRect">
            <a:avLst>
              <a:gd name="adj" fmla="val 6576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56" y="3648670"/>
            <a:ext cx="57150" cy="10428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1775" y="3763640"/>
            <a:ext cx="2611636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Контрольно-надзорная деятельность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31775" y="3980631"/>
            <a:ext cx="4494312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Росприроднадзор активно внедряет беспилотные летательные аппараты, AI-помощников и VR-технологии. Это позволяет значительно повысить эффективность инспекций, оперативно выявлять нарушения и снижать антропогенную нагрузку на окружающую среду.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22895"/>
            <a:ext cx="8196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ИИ как помощник человека: ускорение и точность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486644"/>
            <a:ext cx="3953545" cy="132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Одним из наиболее значимых преимуществ ИИ является способность резко сократить временные затраты на аналитику. По свидетельству вице-президента РАН Степана Калмыкова, задачи, на решение которых у специалиста ушли бы годы рутинной работы, ИИ выполняет за считанные минуты — будь то обработка спектральных данных или анализ экологических трендов за десятилетия.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3943" y="2946648"/>
            <a:ext cx="3953545" cy="1640681"/>
          </a:xfrm>
          <a:prstGeom prst="roundRect">
            <a:avLst>
              <a:gd name="adj" fmla="val 10833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10" y="3124423"/>
            <a:ext cx="148084" cy="1184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8962" y="3094732"/>
            <a:ext cx="3450059" cy="132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Практический эффект</a:t>
            </a:r>
            <a:endParaRPr lang="en-US" sz="9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Заместитель Руководителя Росприроднадзора Владимир Чернышев отметил, что ИИ существенно повышает доступность экологической экспертизы для бизнеса, государственных органов и населения, обрабатывая запросы по законодательству в режиме реального времени.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21275" y="1513284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61012" y="1529655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06293" y="1553989"/>
            <a:ext cx="2351261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Сокращение сроков анализа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06293" y="1867272"/>
            <a:ext cx="3568526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Годы исследований — в минуты машинной обработки данных.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21275" y="2483272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61012" y="2499643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06293" y="2523976"/>
            <a:ext cx="2159571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Доступность информации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06293" y="2837259"/>
            <a:ext cx="3568526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Мгновенные ответы на запросы по экологическому праву и нормативам.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21275" y="3453259"/>
            <a:ext cx="266551" cy="266551"/>
          </a:xfrm>
          <a:prstGeom prst="roundRect">
            <a:avLst>
              <a:gd name="adj" fmla="val 666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61012" y="3469630"/>
            <a:ext cx="187077" cy="2338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06293" y="3493963"/>
            <a:ext cx="189681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ESG-консультирование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06293" y="3807247"/>
            <a:ext cx="3568526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Автоматические рекомендации по экологическим стратегиям для предприятий.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326" y="410989"/>
            <a:ext cx="4826347" cy="136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ИИ: Мост между технологиями и природой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444326" y="1898824"/>
            <a:ext cx="4826347" cy="44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Искусственный интеллект не противостоит природе — он становится инструментом её защиты. Способность систем ИИ видеть то, что скрыто от человеческого глаза в терабайтах экологических данных, превращает технологии в союзника окружающей среды.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444326" y="2435721"/>
            <a:ext cx="4826347" cy="2296716"/>
          </a:xfrm>
          <a:prstGeom prst="roundRect">
            <a:avLst>
              <a:gd name="adj" fmla="val 652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9089" y="2440484"/>
            <a:ext cx="4816822" cy="571798"/>
          </a:xfrm>
          <a:prstGeom prst="roundRect">
            <a:avLst>
              <a:gd name="adj" fmla="val 26226"/>
            </a:avLst>
          </a:prstGeom>
          <a:solidFill>
            <a:srgbClr val="D4E9F7"/>
          </a:solidFill>
          <a:ln/>
        </p:spPr>
      </p:sp>
      <p:sp>
        <p:nvSpPr>
          <p:cNvPr id="7" name="Text 4"/>
          <p:cNvSpPr/>
          <p:nvPr/>
        </p:nvSpPr>
        <p:spPr>
          <a:xfrm>
            <a:off x="549027" y="2540422"/>
            <a:ext cx="1315417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🌿</a:t>
            </a: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Экосистемы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9027" y="2765003"/>
            <a:ext cx="4616946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биоразнообразия и лесного покрова через спутниковые данные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49089" y="3012281"/>
            <a:ext cx="4816822" cy="571798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0" name="Shape 7"/>
          <p:cNvSpPr/>
          <p:nvPr/>
        </p:nvSpPr>
        <p:spPr>
          <a:xfrm>
            <a:off x="449089" y="3012281"/>
            <a:ext cx="4816822" cy="14288"/>
          </a:xfrm>
          <a:prstGeom prst="roundRect">
            <a:avLst>
              <a:gd name="adj" fmla="val 1049555"/>
            </a:avLst>
          </a:prstGeom>
          <a:solidFill>
            <a:srgbClr val="BACFDD"/>
          </a:solidFill>
          <a:ln/>
        </p:spPr>
      </p:sp>
      <p:sp>
        <p:nvSpPr>
          <p:cNvPr id="11" name="Text 8"/>
          <p:cNvSpPr/>
          <p:nvPr/>
        </p:nvSpPr>
        <p:spPr>
          <a:xfrm>
            <a:off x="549027" y="3112219"/>
            <a:ext cx="1315938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💧</a:t>
            </a: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Водные ресурсы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9027" y="3336801"/>
            <a:ext cx="4616946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Прогнозирование паводков, контроль качества воды в режиме реального времени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49089" y="3584079"/>
            <a:ext cx="4816822" cy="571798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4" name="Shape 11"/>
          <p:cNvSpPr/>
          <p:nvPr/>
        </p:nvSpPr>
        <p:spPr>
          <a:xfrm>
            <a:off x="449089" y="3584079"/>
            <a:ext cx="4816822" cy="14288"/>
          </a:xfrm>
          <a:prstGeom prst="roundRect">
            <a:avLst>
              <a:gd name="adj" fmla="val 1049555"/>
            </a:avLst>
          </a:prstGeom>
          <a:solidFill>
            <a:srgbClr val="BACFDD"/>
          </a:solidFill>
          <a:ln/>
        </p:spPr>
      </p:sp>
      <p:sp>
        <p:nvSpPr>
          <p:cNvPr id="15" name="Text 12"/>
          <p:cNvSpPr/>
          <p:nvPr/>
        </p:nvSpPr>
        <p:spPr>
          <a:xfrm>
            <a:off x="549027" y="3684017"/>
            <a:ext cx="1853803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🔥</a:t>
            </a: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Пожарная безопасность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9027" y="3908599"/>
            <a:ext cx="4616946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Раннее обнаружение лесных пожаров по тепловым аномалиям со спутников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9089" y="4155877"/>
            <a:ext cx="4816822" cy="571798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8" name="Shape 15"/>
          <p:cNvSpPr/>
          <p:nvPr/>
        </p:nvSpPr>
        <p:spPr>
          <a:xfrm>
            <a:off x="449089" y="4155877"/>
            <a:ext cx="4816822" cy="14288"/>
          </a:xfrm>
          <a:prstGeom prst="roundRect">
            <a:avLst>
              <a:gd name="adj" fmla="val 1049555"/>
            </a:avLst>
          </a:prstGeom>
          <a:solidFill>
            <a:srgbClr val="BACFDD"/>
          </a:solidFill>
          <a:ln/>
        </p:spPr>
      </p:sp>
      <p:sp>
        <p:nvSpPr>
          <p:cNvPr id="19" name="Text 16"/>
          <p:cNvSpPr/>
          <p:nvPr/>
        </p:nvSpPr>
        <p:spPr>
          <a:xfrm>
            <a:off x="549027" y="4255815"/>
            <a:ext cx="1315417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⚡</a:t>
            </a: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Энергетика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9027" y="4480396"/>
            <a:ext cx="4616946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 потребления энергии и снижение углеродного следа предприятий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02" y="382712"/>
            <a:ext cx="5644679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Риски ИИ в экологии: Новые вызовы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386730" y="902494"/>
            <a:ext cx="4129906" cy="3858220"/>
          </a:xfrm>
          <a:prstGeom prst="roundRect">
            <a:avLst>
              <a:gd name="adj" fmla="val 6893"/>
            </a:avLst>
          </a:prstGeom>
          <a:solidFill>
            <a:srgbClr val="063E5F"/>
          </a:solidFill>
          <a:ln/>
        </p:spPr>
      </p:sp>
      <p:sp>
        <p:nvSpPr>
          <p:cNvPr id="4" name="Text 2"/>
          <p:cNvSpPr/>
          <p:nvPr/>
        </p:nvSpPr>
        <p:spPr>
          <a:xfrm>
            <a:off x="497532" y="1006078"/>
            <a:ext cx="1583159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⚠️</a:t>
            </a: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Ключевые угрозы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055" y="1317724"/>
            <a:ext cx="166167" cy="1661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622" y="1314301"/>
            <a:ext cx="252836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Манипуляции и дезинформация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7622" y="1600051"/>
            <a:ext cx="3548211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может генерировать поддельный контент (видео, тексты) для манипуляции общественным мнением и нанесения репутационного ущерба предприятиям. (Г.Д. Фонда им. В.И. Вернадского О. Плямина)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055" y="2496741"/>
            <a:ext cx="166167" cy="1661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622" y="2493318"/>
            <a:ext cx="212184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Пробелы законодательства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57622" y="2779068"/>
            <a:ext cx="3548211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России существуют значительные пробелы в нормативной базе и ограниченное финансирование для развития экологически ответственных ИИ-решений. (AICentre МГИМО)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055" y="3675757"/>
            <a:ext cx="166167" cy="16616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7622" y="3672334"/>
            <a:ext cx="219521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Высокое энергопотребление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57622" y="3958084"/>
            <a:ext cx="3548211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и эксплуатация крупных языковых моделей требуют колоссальных энергетических ресурсов, создавая дополнительную нагрузку на энергосистему и увеличивая углеродный след.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711898" y="1019026"/>
            <a:ext cx="3970362" cy="1137493"/>
          </a:xfrm>
          <a:prstGeom prst="roundRect">
            <a:avLst>
              <a:gd name="adj" fmla="val 14612"/>
            </a:avLst>
          </a:prstGeom>
          <a:solidFill>
            <a:srgbClr val="FCF2B5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701" y="1184374"/>
            <a:ext cx="138485" cy="1108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71988" y="1150293"/>
            <a:ext cx="3499470" cy="857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 «зелёного камуфляжа»</a:t>
            </a:r>
            <a:endParaRPr lang="en-US" sz="8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ИИ-инструменты могут использоваться недобросовестными компаниями для имитации экологической ответственности без реальных изменений — так называемый «гринвошинг» нового поколения.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4711898" y="2273052"/>
            <a:ext cx="3970362" cy="1137493"/>
          </a:xfrm>
          <a:prstGeom prst="roundRect">
            <a:avLst>
              <a:gd name="adj" fmla="val 14612"/>
            </a:avLst>
          </a:prstGeom>
          <a:solidFill>
            <a:srgbClr val="FFB3B4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701" y="2438400"/>
            <a:ext cx="138485" cy="11080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1988" y="2404318"/>
            <a:ext cx="3499470" cy="857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 зависимости от данных</a:t>
            </a:r>
            <a:endParaRPr lang="en-US" sz="8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Некорректные или предвзятые обучающие данные могут приводить к ошибочным экологическим прогнозам с серьёзными последствиями для принятия управленческих решений.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711898" y="3527078"/>
            <a:ext cx="3970362" cy="965969"/>
          </a:xfrm>
          <a:prstGeom prst="roundRect">
            <a:avLst>
              <a:gd name="adj" fmla="val 17206"/>
            </a:avLst>
          </a:prstGeom>
          <a:solidFill>
            <a:srgbClr val="B6D6FC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701" y="3692426"/>
            <a:ext cx="138485" cy="11080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71988" y="3658344"/>
            <a:ext cx="3499470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Законодательный вакуум</a:t>
            </a:r>
            <a:endParaRPr lang="en-US" sz="8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Отсутствие специализированных норм об ответственности ИИ-систем за экологический ущерб создаёт правовую неопределённость для бизнеса и регуляторов.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9135" y="495151"/>
            <a:ext cx="4796730" cy="60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Ответственность и будущее: Человек в центре принятия решений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59135" y="1269802"/>
            <a:ext cx="2286372" cy="10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итогам экспертной дискуссии Фонда им. В.И. Вернадского, специалисты единодушны: ИИ должен оставаться </a:t>
            </a:r>
            <a:r>
              <a:rPr lang="en-US" sz="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идеальным помощником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а не самостоятельным актором. Финальное слово в критически важных экологических решениях должно оставаться за человеком — экспертом, который несёт ответственность перед обществом и законом.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59135" y="2392784"/>
            <a:ext cx="2286372" cy="1246956"/>
          </a:xfrm>
          <a:prstGeom prst="roundRect">
            <a:avLst>
              <a:gd name="adj" fmla="val 11046"/>
            </a:avLst>
          </a:prstGeom>
          <a:solidFill>
            <a:srgbClr val="B6FCB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62" y="2522413"/>
            <a:ext cx="114746" cy="918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7535" y="2486844"/>
            <a:ext cx="1896145" cy="10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Прогрессивная стратегия для бизнеса</a:t>
            </a:r>
            <a:endParaRPr lang="en-US" sz="70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Вместо попыток скрыть экологические нарушения с помощью ИИ-технологий компании должны использовать их для реального предотвращения нарушений и достижения целей устойчивого развития.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2974256" y="1276945"/>
            <a:ext cx="2286372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Концепция «суверенной социальной экологии»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974256" y="1650206"/>
            <a:ext cx="2286372" cy="10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Российские исследователи (Russian Journal of Management) предлагают системный подход к использованию ИИ в социальной экологии — с применением институциональных механизмов государственного регулирования, чёткими стандартами прозрачности алгоритмов и обязательной экологической экспертизой ИИ-систем.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974256" y="2773189"/>
            <a:ext cx="367308" cy="550962"/>
          </a:xfrm>
          <a:prstGeom prst="roundRect">
            <a:avLst>
              <a:gd name="adj" fmla="val 36000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089002" y="2962573"/>
            <a:ext cx="137740" cy="172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412703" y="2865016"/>
            <a:ext cx="1685106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Прозрачность алгоритмов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974256" y="3395290"/>
            <a:ext cx="367308" cy="550962"/>
          </a:xfrm>
          <a:prstGeom prst="roundRect">
            <a:avLst>
              <a:gd name="adj" fmla="val 36000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89002" y="3584674"/>
            <a:ext cx="137740" cy="172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12703" y="3487117"/>
            <a:ext cx="1604293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Государственный надзор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974256" y="4017392"/>
            <a:ext cx="367308" cy="550962"/>
          </a:xfrm>
          <a:prstGeom prst="roundRect">
            <a:avLst>
              <a:gd name="adj" fmla="val 360001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89002" y="4206776"/>
            <a:ext cx="137740" cy="172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412703" y="4109219"/>
            <a:ext cx="1847924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Ответственность разработчиков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51619"/>
            <a:ext cx="6499771" cy="350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Российские модели ИИ в экологии: Рейтинг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943" y="994246"/>
            <a:ext cx="8196114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результатам совместного исследования Росприроднадзора и НИУ ВШЭ — первого в России систематического тестирования ИИ-моделей на знание отечественного экологического законодательства — был составлен следующий рейтинг: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73943" y="1534195"/>
            <a:ext cx="3967981" cy="3049786"/>
          </a:xfrm>
          <a:prstGeom prst="roundRect">
            <a:avLst>
              <a:gd name="adj" fmla="val 524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490" y="1601242"/>
            <a:ext cx="180156" cy="486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3679" y="1601242"/>
            <a:ext cx="1563216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ИИ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64929" y="1601242"/>
            <a:ext cx="1565597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Примечание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490" y="2216795"/>
            <a:ext cx="180156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🥇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83679" y="2216795"/>
            <a:ext cx="1563216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Grok AI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64929" y="2216795"/>
            <a:ext cx="1565597" cy="486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Лидер по знанию российского экозаконодательства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490" y="2832348"/>
            <a:ext cx="180156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🥈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3679" y="2832348"/>
            <a:ext cx="1563216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Qwen (Китай)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64929" y="2832348"/>
            <a:ext cx="1565597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 точность ответов по нормативной базе РФ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5490" y="3285827"/>
            <a:ext cx="180156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🥉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83679" y="3285827"/>
            <a:ext cx="1563216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DeepSeek (Китай)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64929" y="3285827"/>
            <a:ext cx="1565597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Сильная юридическая база, быстрая обучаемость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5490" y="3739307"/>
            <a:ext cx="180156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83679" y="3739307"/>
            <a:ext cx="1563216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Yandex GPT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64929" y="3739307"/>
            <a:ext cx="1565597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Лучшая отечественная модель в рейтинге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490" y="4192786"/>
            <a:ext cx="180156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83679" y="4192786"/>
            <a:ext cx="1563216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GigaChat (Сбер)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64929" y="4192786"/>
            <a:ext cx="1565597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Второй отечественный игрок, активно развивается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6838" y="1534195"/>
            <a:ext cx="3967981" cy="1072530"/>
          </a:xfrm>
          <a:prstGeom prst="roundRect">
            <a:avLst>
              <a:gd name="adj" fmla="val 14914"/>
            </a:avLst>
          </a:prstGeom>
          <a:solidFill>
            <a:srgbClr val="FCF2B5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474" y="1693218"/>
            <a:ext cx="133276" cy="10663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53385" y="1656755"/>
            <a:ext cx="3514799" cy="810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Вызов для отечественных разработчиков</a:t>
            </a:r>
            <a:endParaRPr lang="en-US" sz="80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Иностранные модели опережают российские аналоги в знании собственного экологического законодательства РФ. Это ставит вопрос о необходимости целенаправленного обучения отечественных ИИ на российской правовой базе.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06838" y="2714625"/>
            <a:ext cx="3967981" cy="910456"/>
          </a:xfrm>
          <a:prstGeom prst="roundRect">
            <a:avLst>
              <a:gd name="adj" fmla="val 17569"/>
            </a:avLst>
          </a:prstGeom>
          <a:solidFill>
            <a:srgbClr val="B6D6FC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474" y="2873648"/>
            <a:ext cx="133276" cy="10663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53385" y="2837185"/>
            <a:ext cx="3514799" cy="64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Динамичность рейтинга</a:t>
            </a:r>
            <a:endParaRPr lang="en-US" sz="800" dirty="0"/>
          </a:p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Рейтинг будет регулярно обновляться с учётом обучаемости моделей, выхода новых решений и изменений в российском экологическом законодательстве.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0302"/>
            <a:ext cx="8196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Заключение: Баланс между прогрессом и безопасностью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73943" y="1406649"/>
            <a:ext cx="2653010" cy="1853878"/>
          </a:xfrm>
          <a:prstGeom prst="roundRect">
            <a:avLst>
              <a:gd name="adj" fmla="val 9587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7173" y="1529879"/>
            <a:ext cx="2406551" cy="399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🌱</a:t>
            </a: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Беспрецедентные возможности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7173" y="2000101"/>
            <a:ext cx="2406551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открывает новые горизонты для экологического мониторинга, прогнозирования катастроф, оптимизации ресурсов и достижения целей устойчивого развития в России и мире.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45421" y="1406649"/>
            <a:ext cx="2653085" cy="1853878"/>
          </a:xfrm>
          <a:prstGeom prst="roundRect">
            <a:avLst>
              <a:gd name="adj" fmla="val 9587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8650" y="1529879"/>
            <a:ext cx="2406625" cy="399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⚖️</a:t>
            </a: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Осознанное управление рисками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68650" y="2000101"/>
            <a:ext cx="2406625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Энергопотребление, дезинформация, законодательные пробелы и зависимость от данных требуют системного подхода, нормативного регулирования и ответственности разработчиков.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16972" y="1406649"/>
            <a:ext cx="2653010" cy="1853878"/>
          </a:xfrm>
          <a:prstGeom prst="roundRect">
            <a:avLst>
              <a:gd name="adj" fmla="val 9587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0202" y="1529879"/>
            <a:ext cx="2243882" cy="204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🤝</a:t>
            </a: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Синергия человека и ИИ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0202" y="1805285"/>
            <a:ext cx="2406551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к устойчивому будущему — не замена человека машиной, а их сотрудничество: ИИ как инструмент усиления человеческих возможностей при сохранении ответственности за решения.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1644" y="3527078"/>
            <a:ext cx="8018413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«Искусственный интеллект должен стать союзником природы, а не источником новых угроз. Это возможно только при условии ответственного подхода, прозрачного регулирования и постоянного диалога между наукой, бизнесом и государством.»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943" y="3393802"/>
            <a:ext cx="14288" cy="645616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3943" y="4202311"/>
            <a:ext cx="8196114" cy="8855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3943" y="4374059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Росприроднадзор, НИУ ВШЭ, РАН, Фонд им. В.И. Вернадского, AICentre МГИМО, Russian Journal of Management, материалы экспертных дискуссий по ИИ и экологии (2023–2025)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Microsoft Office PowerPoint</Application>
  <PresentationFormat>Экран 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Barlow Bold</vt:lpstr>
      <vt:lpstr>Arial</vt:lpstr>
      <vt:lpstr>Calibri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Alexandr Slasher</dc:creator>
  <cp:lastModifiedBy>Alexandr Slasher</cp:lastModifiedBy>
  <cp:revision>3</cp:revision>
  <dcterms:created xsi:type="dcterms:W3CDTF">2026-05-06T12:48:26Z</dcterms:created>
  <dcterms:modified xsi:type="dcterms:W3CDTF">2026-05-06T13:01:16Z</dcterms:modified>
</cp:coreProperties>
</file>