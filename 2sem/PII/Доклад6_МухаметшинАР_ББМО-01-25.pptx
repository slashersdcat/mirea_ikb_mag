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arlow Light" panose="00000400000000000000" pitchFamily="2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Montserrat" panose="00000500000000000000" pitchFamily="2" charset="-52"/>
      <p:regular r:id="rId18"/>
      <p:bold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867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02943" y="1312887"/>
            <a:ext cx="1025649" cy="232172"/>
          </a:xfrm>
          <a:prstGeom prst="roundRect">
            <a:avLst>
              <a:gd name="adj" fmla="val 61241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78771" y="1353145"/>
            <a:ext cx="873993" cy="151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РТУ МИРЭА · 2025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902943" y="1592387"/>
            <a:ext cx="4767114" cy="11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Понятие виртуальной реальности в техническом и юридическом смысле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3902943" y="2939207"/>
            <a:ext cx="4767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Дисциплина: </a:t>
            </a: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Правовое регулирование сферы искусственного интеллекта и интеллектуальной собственности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902943" y="3451547"/>
            <a:ext cx="4767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Студент: </a:t>
            </a: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Мухаметшин А.Р.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Группа: </a:t>
            </a: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ББМО-01-25</a:t>
            </a:r>
            <a:endParaRPr lang="en-US" sz="9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Преподаватель: </a:t>
            </a: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Самогин А.С.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502" y="346918"/>
            <a:ext cx="4781996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Введение: Виртуальная реальность как феномен XXI века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66502" y="1522214"/>
            <a:ext cx="4781996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Технологии виртуальной реальности (VR) стремительно развиваются, проникая во все сферы жизни — от образования и медицины до развлечений и государственного управления. Виртуальная реальность перестаёт быть технологической диковинкой и становится частью повседневной цифровой среды.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466502" y="2260178"/>
            <a:ext cx="4781996" cy="783506"/>
          </a:xfrm>
          <a:prstGeom prst="roundRect">
            <a:avLst>
              <a:gd name="adj" fmla="val 875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14" y="2260178"/>
            <a:ext cx="57150" cy="7835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576" y="2379390"/>
            <a:ext cx="1944291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Техническая актуальность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28576" y="2607766"/>
            <a:ext cx="4500711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Необходимость чёткого определения VR для целей технического применения, стандартизации и разработки отраслевых решений.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466502" y="3136627"/>
            <a:ext cx="4781996" cy="783506"/>
          </a:xfrm>
          <a:prstGeom prst="roundRect">
            <a:avLst>
              <a:gd name="adj" fmla="val 875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14" y="3136627"/>
            <a:ext cx="57150" cy="7835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8576" y="3255838"/>
            <a:ext cx="2037755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Юридическая актуальность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28576" y="3484215"/>
            <a:ext cx="4500711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Потребность адаптации правовой системы к новым цифровым реалиям, возникающим в связи с распространением VR-технологий.</a:t>
            </a:r>
            <a:endParaRPr lang="en-US" sz="800" dirty="0"/>
          </a:p>
        </p:txBody>
      </p:sp>
      <p:sp>
        <p:nvSpPr>
          <p:cNvPr id="13" name="Shape 8"/>
          <p:cNvSpPr/>
          <p:nvPr/>
        </p:nvSpPr>
        <p:spPr>
          <a:xfrm>
            <a:off x="466502" y="4013076"/>
            <a:ext cx="4781996" cy="783506"/>
          </a:xfrm>
          <a:prstGeom prst="roundRect">
            <a:avLst>
              <a:gd name="adj" fmla="val 875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214" y="4013076"/>
            <a:ext cx="57150" cy="7835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8576" y="4132287"/>
            <a:ext cx="1785565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Социальная значимость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628576" y="4360664"/>
            <a:ext cx="4500711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VR формирует новые формы социального взаимодействия, требующие правового осмысления и нормативного регулирования.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05185"/>
            <a:ext cx="7687494" cy="350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Техническое определение виртуальной реальности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3943" y="986135"/>
            <a:ext cx="4390727" cy="810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Виртуальная реальность — это </a:t>
            </a: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иммерсивная (погружающая) среда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создаваемая с помощью компьютерных технологий, которая воспроизводит ощущения, сходные с реальным физическим миром. Техническое определение VR опирается на три ключевые характеристики, которые отличают её от традиционных интерфейсов «человек–компьютер».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73943" y="1904405"/>
            <a:ext cx="2147367" cy="1142405"/>
          </a:xfrm>
          <a:prstGeom prst="roundRect">
            <a:avLst>
              <a:gd name="adj" fmla="val 14002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341" y="2015803"/>
            <a:ext cx="1403077" cy="17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Погружение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85341" y="2287116"/>
            <a:ext cx="1924571" cy="648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Полное отвлечение пользователя от реального мира за счёт визуальных, звуковых и тактильных стимулов.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17229" y="1904405"/>
            <a:ext cx="2147441" cy="1142405"/>
          </a:xfrm>
          <a:prstGeom prst="roundRect">
            <a:avLst>
              <a:gd name="adj" fmla="val 14002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28627" y="2015803"/>
            <a:ext cx="1403077" cy="17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Интерактивность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28627" y="2287116"/>
            <a:ext cx="1924645" cy="648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Возможность реального взаимодействия с виртуальными объектами в режиме реального времени.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3943" y="3142729"/>
            <a:ext cx="4390727" cy="818257"/>
          </a:xfrm>
          <a:prstGeom prst="roundRect">
            <a:avLst>
              <a:gd name="adj" fmla="val 1954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341" y="3254127"/>
            <a:ext cx="1419225" cy="17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Цифровая природа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341" y="3525441"/>
            <a:ext cx="4167932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Создание полностью искусственного мира, существующего в цифровой среде.</a:t>
            </a:r>
            <a:endParaRPr lang="en-US" sz="8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585" y="1007715"/>
            <a:ext cx="3190577" cy="319057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73943" y="4414093"/>
            <a:ext cx="8196114" cy="32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 основным аппаратным средствам VR относятся: </a:t>
            </a: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VR-шлемы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(HMD — head-mounted displays), </a:t>
            </a: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перчатки с тактильной обратной связью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трекеры движения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 </a:t>
            </a: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иммерсивные костюмы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326" y="533474"/>
            <a:ext cx="8213154" cy="365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Свойства VR, имеющие публично-правовое значение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44326" y="1107058"/>
            <a:ext cx="965150" cy="204192"/>
          </a:xfrm>
          <a:prstGeom prst="roundRect">
            <a:avLst>
              <a:gd name="adj" fmla="val 65281"/>
            </a:avLst>
          </a:prstGeom>
          <a:solidFill>
            <a:srgbClr val="D4E9F7"/>
          </a:solidFill>
          <a:ln/>
        </p:spPr>
      </p:sp>
      <p:sp>
        <p:nvSpPr>
          <p:cNvPr id="4" name="Text 2"/>
          <p:cNvSpPr/>
          <p:nvPr/>
        </p:nvSpPr>
        <p:spPr>
          <a:xfrm>
            <a:off x="510927" y="1140321"/>
            <a:ext cx="831949" cy="13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В.Э. ВОЛКОВУ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44326" y="1428378"/>
            <a:ext cx="8255347" cy="34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Российский исследователь В.Э. Волков выделяет ряд специфических свойств виртуальной реальности, которые приобретают особое значение с точки зрения публичного права и государственного регулирования.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26" y="1889894"/>
            <a:ext cx="586234" cy="586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0711" y="1889894"/>
            <a:ext cx="1948607" cy="36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Погружение в виртуальный мир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60711" y="2317700"/>
            <a:ext cx="1948607" cy="1549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Способность VR вызывать глубокое погружение может приводить к </a:t>
            </a: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отчуждению пользователя от физической реальности</a:t>
            </a: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что порождает вопросы о психологической безопасности и необходимости правового ограничения воздействия.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467" y="1889894"/>
            <a:ext cx="586234" cy="5862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55852" y="1889894"/>
            <a:ext cx="1948607" cy="365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Социальная пластичность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955852" y="2317700"/>
            <a:ext cx="1948607" cy="120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VR позволяет моделировать социальные взаимодействия, создавая </a:t>
            </a: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новые формы общественных отношений</a:t>
            </a: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которые не укладываются в традиционные правовые конструкции.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4608" y="1889894"/>
            <a:ext cx="586234" cy="5862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50993" y="1889894"/>
            <a:ext cx="1477938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Цифровая природа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750993" y="2135014"/>
            <a:ext cx="1948607" cy="86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Искусственное происхождение виртуальной среды порождает </a:t>
            </a: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новые формы правоотношений и объектов</a:t>
            </a: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не имеющих аналогов в физическом мире.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44326" y="3984575"/>
            <a:ext cx="8255347" cy="625450"/>
          </a:xfrm>
          <a:prstGeom prst="roundRect">
            <a:avLst>
              <a:gd name="adj" fmla="val 26640"/>
            </a:avLst>
          </a:prstGeom>
          <a:solidFill>
            <a:srgbClr val="B6D6F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352" y="4149998"/>
            <a:ext cx="138782" cy="11102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5160" y="4116437"/>
            <a:ext cx="7783488" cy="34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Эти свойства требуют особого внимания при разработке правовых норм, поскольку традиционное законодательство не учитывает специфику виртуальных сред.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713408"/>
            <a:ext cx="8196114" cy="7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Юридическое определение и проблемы регулирования VR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388665" y="1670521"/>
            <a:ext cx="4124102" cy="2759497"/>
          </a:xfrm>
          <a:prstGeom prst="roundRect">
            <a:avLst>
              <a:gd name="adj" fmla="val 10305"/>
            </a:avLst>
          </a:prstGeom>
          <a:solidFill>
            <a:srgbClr val="063E5F"/>
          </a:solidFill>
          <a:ln/>
        </p:spPr>
      </p:sp>
      <p:sp>
        <p:nvSpPr>
          <p:cNvPr id="4" name="Text 2"/>
          <p:cNvSpPr/>
          <p:nvPr/>
        </p:nvSpPr>
        <p:spPr>
          <a:xfrm>
            <a:off x="507132" y="1788988"/>
            <a:ext cx="1819498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Правовой пробел в РФ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132" y="2102272"/>
            <a:ext cx="3887167" cy="1137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сегодняшний день в российском законодательстве </a:t>
            </a: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отсутствует единое, законодательно закреплённое определение виртуальной реальности</a:t>
            </a: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Это создаёт существенные трудности при квалификации правоотношений, возникающих в виртуальных средах, и при применении норм действующего права.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132" y="3346103"/>
            <a:ext cx="3887167" cy="75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 мнению Р.И. Дремлюги, VR представляет собой </a:t>
            </a: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имитируемую среду</a:t>
            </a: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сочетающую свойства реального мира и киберпространства, что делает её уникальным объектом правового регулирования.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21275" y="1788988"/>
            <a:ext cx="2349698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Основные вызовы для права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5700" y="2122884"/>
            <a:ext cx="177701" cy="1777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06293" y="2117080"/>
            <a:ext cx="3568526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Высокая реалистичность и полное погружение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размывают границу между виртуальным и реальным, осложняя квалификацию правонарушений.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5700" y="2928417"/>
            <a:ext cx="177701" cy="1777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06293" y="2922612"/>
            <a:ext cx="3568526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Низкая киберзащищённость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аппаратных и программных средств создаёт риски для персональных данных пользователей.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5700" y="3733949"/>
            <a:ext cx="177701" cy="1777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06293" y="3728145"/>
            <a:ext cx="3568526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Трансграничный характер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виртуальных сред затрудняет определение применимого права и юрисдикции.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403771"/>
            <a:ext cx="4767114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Правовой режим виртуальных объектов и метавселенных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902943" y="1194718"/>
            <a:ext cx="4767114" cy="446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Становление </a:t>
            </a:r>
            <a:r>
              <a:rPr lang="en-US" sz="7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метавселенных</a:t>
            </a: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знаменует новый этап развития виртуальных сред, при котором отдельные VR-пространства объединяются в устойчивые цифровые экосистемы с собственной экономикой, социальными институтами и системами управления.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3902943" y="1737940"/>
            <a:ext cx="4767114" cy="1042839"/>
          </a:xfrm>
          <a:prstGeom prst="roundRect">
            <a:avLst>
              <a:gd name="adj" fmla="val 14487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17231" y="1752228"/>
            <a:ext cx="402803" cy="1014264"/>
          </a:xfrm>
          <a:prstGeom prst="roundRect">
            <a:avLst>
              <a:gd name="adj" fmla="val 33248"/>
            </a:avLst>
          </a:prstGeom>
          <a:solidFill>
            <a:srgbClr val="D4E9F7"/>
          </a:solidFill>
          <a:ln/>
        </p:spPr>
      </p:sp>
      <p:sp>
        <p:nvSpPr>
          <p:cNvPr id="7" name="Text 4"/>
          <p:cNvSpPr/>
          <p:nvPr/>
        </p:nvSpPr>
        <p:spPr>
          <a:xfrm>
            <a:off x="4040684" y="2164928"/>
            <a:ext cx="151061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405610" y="1852910"/>
            <a:ext cx="2697733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Пересмотр подходов к регулированию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05610" y="2069902"/>
            <a:ext cx="4149477" cy="595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В.О. Панин указывает на необходимость пересмотра подходов к регулированию отношений пользователей и правообладателей в метавселенных, поскольку традиционные модели не учитывают их специфику.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902943" y="2866355"/>
            <a:ext cx="4767114" cy="893862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17231" y="2880643"/>
            <a:ext cx="402803" cy="865287"/>
          </a:xfrm>
          <a:prstGeom prst="roundRect">
            <a:avLst>
              <a:gd name="adj" fmla="val 33248"/>
            </a:avLst>
          </a:prstGeom>
          <a:solidFill>
            <a:srgbClr val="D4E9F7"/>
          </a:solidFill>
          <a:ln/>
        </p:spPr>
      </p:sp>
      <p:sp>
        <p:nvSpPr>
          <p:cNvPr id="12" name="Text 9"/>
          <p:cNvSpPr/>
          <p:nvPr/>
        </p:nvSpPr>
        <p:spPr>
          <a:xfrm>
            <a:off x="4040684" y="3218855"/>
            <a:ext cx="151061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405610" y="2981325"/>
            <a:ext cx="2136874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Отказ от «игрового характера»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405610" y="3198316"/>
            <a:ext cx="4149477" cy="446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Отношения в виртуальных средах не должны рассматриваться исключительно как игровые — это лишает участников возможности судебной защиты своих прав и законных интересов.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902943" y="3845793"/>
            <a:ext cx="4767114" cy="893862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17231" y="3860081"/>
            <a:ext cx="402803" cy="865287"/>
          </a:xfrm>
          <a:prstGeom prst="roundRect">
            <a:avLst>
              <a:gd name="adj" fmla="val 33248"/>
            </a:avLst>
          </a:prstGeom>
          <a:solidFill>
            <a:srgbClr val="D4E9F7"/>
          </a:solidFill>
          <a:ln/>
        </p:spPr>
      </p:sp>
      <p:sp>
        <p:nvSpPr>
          <p:cNvPr id="17" name="Text 14"/>
          <p:cNvSpPr/>
          <p:nvPr/>
        </p:nvSpPr>
        <p:spPr>
          <a:xfrm>
            <a:off x="4040684" y="4198293"/>
            <a:ext cx="151061" cy="1887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405610" y="3960763"/>
            <a:ext cx="2378422" cy="165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Публичные интересы государства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05610" y="4177754"/>
            <a:ext cx="4149477" cy="446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Виртуализация затрагивает публичные интересы: безопасность, налогообложение, защиту прав граждан и суверенитет государства в цифровом пространстве.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502" y="328613"/>
            <a:ext cx="8210996" cy="728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Актуальные вопросы правового регулирования в виртуальном пространстве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02" y="1329333"/>
            <a:ext cx="3368948" cy="33689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87813" y="1316385"/>
            <a:ext cx="242039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Регулирование метавселенных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287813" y="1602135"/>
            <a:ext cx="4394374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С.П. Федоренко, Р.Г. Непранов и Т.М. Шогенов исследуют вопросы регулирования общественных отношений в метавселенных, подчёркивая необходимость формирования специального правового режима для виртуальных пространств.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287813" y="2432447"/>
            <a:ext cx="4394374" cy="8260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287813" y="2584921"/>
            <a:ext cx="152615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Технологии и право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87813" y="2870671"/>
            <a:ext cx="4394374" cy="514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Проблемы регулирования разработки и использования VR-технологий включают вопросы стандартизации, сертификации оборудования, а также ответственности разработчиков за безопасность пользователей.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287813" y="3529459"/>
            <a:ext cx="4394374" cy="8260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287813" y="3681933"/>
            <a:ext cx="328113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Социальное и техническое регулирование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87813" y="3967683"/>
            <a:ext cx="4394374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В.Э. Волков обосновывает необходимость </a:t>
            </a: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сочетания социального и технического регулирования</a:t>
            </a: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правовые нормы должны дополняться технологическими стандартами и механизмами саморегулирования отрасли.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70595"/>
            <a:ext cx="8196114" cy="7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Интеллектуальная собственность в виртуальной реальности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1486942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Виртуальная реальность порождает широкий спектр объектов, охраняемых нормами об интеллектуальной собственности. Эти объекты обладают спецификой, требующей особого правового подхода.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43" y="1999283"/>
            <a:ext cx="296168" cy="296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943" y="2443535"/>
            <a:ext cx="2205038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Объекты авторского права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3943" y="2709416"/>
            <a:ext cx="2633290" cy="1137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 охраняемым объектам в VR относятся: </a:t>
            </a:r>
            <a:r>
              <a:rPr lang="en-US" sz="9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3D-модели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сценарии виртуальных миров, программный код, аудиовизуальные произведения, дизайны виртуальных предметов и аватаров.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5318" y="1999283"/>
            <a:ext cx="296168" cy="296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55318" y="2443535"/>
            <a:ext cx="198432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Проблемы защиты прав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55318" y="2709416"/>
            <a:ext cx="2633290" cy="1137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Копирование и несанкционированное использование виртуальных объектов затрудняет защиту прав. Отсутствие чётких критериев оригинальности для VR-объектов создаёт правовую неопределённость.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6692" y="1999283"/>
            <a:ext cx="296168" cy="296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6692" y="2443535"/>
            <a:ext cx="1924348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Лицензионные модели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36692" y="2709416"/>
            <a:ext cx="2633365" cy="1137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Лицензионные соглашения (EULA) являются основным инструментом закрепления отношений между пользователями и правообладателями, однако их условия нередко ущемляют права пользователей.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473943" y="3979887"/>
            <a:ext cx="8196114" cy="693018"/>
          </a:xfrm>
          <a:prstGeom prst="roundRect">
            <a:avLst>
              <a:gd name="adj" fmla="val 25646"/>
            </a:avLst>
          </a:prstGeom>
          <a:solidFill>
            <a:srgbClr val="FCF2B5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410" y="4157662"/>
            <a:ext cx="148084" cy="11846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58962" y="4127971"/>
            <a:ext cx="7692628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Виртуальные предметы и активы, приобретаемые за реальные деньги, требуют особого правового статуса, не сводимого к «игровым ценностям».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743" y="191988"/>
            <a:ext cx="4268614" cy="186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Перспективы развития и правового регулирования VR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251743" y="445815"/>
            <a:ext cx="1670447" cy="93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«Цифровое право» как теоретическая база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251743" y="565993"/>
            <a:ext cx="4251201" cy="200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Развитие </a:t>
            </a:r>
            <a:r>
              <a:rPr lang="en-US" sz="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«цифрового права»</a:t>
            </a:r>
            <a:r>
              <a:rPr lang="en-US" sz="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рассматривается как площадка для формирования теории виртуального права — самостоятельной отрасли, учитывающей специфику цифровых отношений. Исследователи НИУ ВШЭ подчёркивают, что VR требует </a:t>
            </a:r>
            <a:r>
              <a:rPr lang="en-US" sz="4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«реального права»</a:t>
            </a:r>
            <a:r>
              <a:rPr lang="en-US" sz="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для регулирования игровой индустрии и смежных сфер.</a:t>
            </a:r>
            <a:endParaRPr lang="en-US" sz="400" dirty="0"/>
          </a:p>
        </p:txBody>
      </p:sp>
      <p:sp>
        <p:nvSpPr>
          <p:cNvPr id="5" name="Shape 3"/>
          <p:cNvSpPr/>
          <p:nvPr/>
        </p:nvSpPr>
        <p:spPr>
          <a:xfrm>
            <a:off x="4605040" y="418802"/>
            <a:ext cx="4332759" cy="846013"/>
          </a:xfrm>
          <a:prstGeom prst="roundRect">
            <a:avLst>
              <a:gd name="adj" fmla="val 16071"/>
            </a:avLst>
          </a:prstGeom>
          <a:solidFill>
            <a:srgbClr val="063E5F"/>
          </a:solidFill>
          <a:ln/>
        </p:spPr>
      </p:sp>
      <p:sp>
        <p:nvSpPr>
          <p:cNvPr id="6" name="Text 4"/>
          <p:cNvSpPr/>
          <p:nvPr/>
        </p:nvSpPr>
        <p:spPr>
          <a:xfrm>
            <a:off x="4661669" y="445815"/>
            <a:ext cx="1548185" cy="93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Комплексный подход к регулированию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4661669" y="565993"/>
            <a:ext cx="4219501" cy="66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Эффективное регулирование VR должно строиться на трёх уровнях:</a:t>
            </a:r>
            <a:endParaRPr lang="en-US" sz="400" dirty="0"/>
          </a:p>
        </p:txBody>
      </p:sp>
      <p:sp>
        <p:nvSpPr>
          <p:cNvPr id="8" name="Text 6"/>
          <p:cNvSpPr/>
          <p:nvPr/>
        </p:nvSpPr>
        <p:spPr>
          <a:xfrm>
            <a:off x="4661669" y="663327"/>
            <a:ext cx="113258" cy="707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669" y="754782"/>
            <a:ext cx="2096244" cy="476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61669" y="792584"/>
            <a:ext cx="2096244" cy="13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Национальное законодательство</a:t>
            </a:r>
            <a:r>
              <a:rPr lang="en-US" sz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нормы ГК РФ, законы об информации и персональных данных.</a:t>
            </a:r>
            <a:endParaRPr lang="en-US" sz="400" dirty="0"/>
          </a:p>
        </p:txBody>
      </p:sp>
      <p:sp>
        <p:nvSpPr>
          <p:cNvPr id="11" name="Text 8"/>
          <p:cNvSpPr/>
          <p:nvPr/>
        </p:nvSpPr>
        <p:spPr>
          <a:xfrm>
            <a:off x="6784925" y="663327"/>
            <a:ext cx="113258" cy="707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925" y="754782"/>
            <a:ext cx="2096244" cy="476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84925" y="792584"/>
            <a:ext cx="2096244" cy="13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Международные принципы</a:t>
            </a:r>
            <a:r>
              <a:rPr lang="en-US" sz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гармонизация подходов в рамках ЕАЭС и международных организаций.</a:t>
            </a:r>
            <a:endParaRPr lang="en-US" sz="400" dirty="0"/>
          </a:p>
        </p:txBody>
      </p:sp>
      <p:sp>
        <p:nvSpPr>
          <p:cNvPr id="14" name="Text 10"/>
          <p:cNvSpPr/>
          <p:nvPr/>
        </p:nvSpPr>
        <p:spPr>
          <a:xfrm>
            <a:off x="4661669" y="995809"/>
            <a:ext cx="113258" cy="707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4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669" y="1081608"/>
            <a:ext cx="4219501" cy="476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61669" y="1125066"/>
            <a:ext cx="4219501" cy="66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Саморегулирование</a:t>
            </a:r>
            <a:r>
              <a:rPr lang="en-US" sz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отраслевые стандарты и этические кодексы разработчиков VR.</a:t>
            </a:r>
            <a:endParaRPr lang="en-US" sz="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791" y="1283940"/>
            <a:ext cx="7776418" cy="355885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80055" y="1672368"/>
            <a:ext cx="1896075" cy="452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Саморегулирование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380055" y="2186287"/>
            <a:ext cx="1896075" cy="2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Отраслевые коды и добровольные нормы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867676" y="2842124"/>
            <a:ext cx="1743166" cy="452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Международные принципы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67676" y="3356043"/>
            <a:ext cx="1743166" cy="2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Гармонизация правил и общие стандарты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380055" y="3332867"/>
            <a:ext cx="1896075" cy="679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Ядро: Национальное право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380055" y="4073164"/>
            <a:ext cx="1896075" cy="2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Гражданский кодекс и законы о данных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251743" y="4884539"/>
            <a:ext cx="8640514" cy="66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Трёхуровневая модель регулирования обеспечивает гибкость и адаптивность правового режима к быстро меняющимся VR-технологиям.</a:t>
            </a:r>
            <a:endParaRPr lang="en-US" sz="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80693" y="442913"/>
            <a:ext cx="4811613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Заключение: Вызовы и возможности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033093" y="1340272"/>
            <a:ext cx="4659213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Виртуальная реальность — это не только технологический прорыв, но и новый вызов для правовой системы, требующий системного ответа со стороны государства, науки и бизнеса.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3880693" y="1242194"/>
            <a:ext cx="14288" cy="649337"/>
          </a:xfrm>
          <a:prstGeom prst="rect">
            <a:avLst/>
          </a:prstGeom>
          <a:solidFill>
            <a:srgbClr val="75BAE6"/>
          </a:solidFill>
          <a:ln/>
        </p:spPr>
      </p:sp>
      <p:sp>
        <p:nvSpPr>
          <p:cNvPr id="6" name="Shape 3"/>
          <p:cNvSpPr/>
          <p:nvPr/>
        </p:nvSpPr>
        <p:spPr>
          <a:xfrm>
            <a:off x="3880693" y="1989609"/>
            <a:ext cx="2362200" cy="1187351"/>
          </a:xfrm>
          <a:prstGeom prst="roundRect">
            <a:avLst>
              <a:gd name="adj" fmla="val 1284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87031" y="2095946"/>
            <a:ext cx="133729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Ключевая задача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987031" y="2315319"/>
            <a:ext cx="2149525" cy="75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Формирование адекватного правового режима VR и виртуальных объектов для обеспечения безопасности, защиты прав граждан и развития цифровой экономики России.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330032" y="1989609"/>
            <a:ext cx="2362274" cy="1187351"/>
          </a:xfrm>
          <a:prstGeom prst="roundRect">
            <a:avLst>
              <a:gd name="adj" fmla="val 12840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36370" y="2095946"/>
            <a:ext cx="2138511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Роль информационного права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36370" y="2315319"/>
            <a:ext cx="2149599" cy="75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Информационное право призвано стать теоретической основой для развития теории виртуального права как самостоятельного направления правовой науки.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880693" y="3264098"/>
            <a:ext cx="4811613" cy="885230"/>
          </a:xfrm>
          <a:prstGeom prst="roundRect">
            <a:avLst>
              <a:gd name="adj" fmla="val 17223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87031" y="3370436"/>
            <a:ext cx="133729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Перспектива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987031" y="3589809"/>
            <a:ext cx="4598938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Комплексный подход, сочетающий законодательное регулирование, международную гармонизацию и отраслевое саморегулирование, позволит создать устойчивую правовую среду для VR-технологий.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880693" y="4247406"/>
            <a:ext cx="4811613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Дисциплина: </a:t>
            </a: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Правовое регулирование сферы ИИ и интеллектуальной собственности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Студент: </a:t>
            </a: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Мухаметшин А.Р.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Группа: </a:t>
            </a: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ББМО-01-25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Преподаватель: </a:t>
            </a: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Самогин А.С.</a:t>
            </a: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РТУ МИРЭА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1127</Words>
  <Application>Microsoft Office PowerPoint</Application>
  <PresentationFormat>Экран (16:9)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Barlow Bold</vt:lpstr>
      <vt:lpstr>Barlow Light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Alexandr Slasher</dc:creator>
  <cp:lastModifiedBy>Alexandr Slasher</cp:lastModifiedBy>
  <cp:revision>2</cp:revision>
  <dcterms:created xsi:type="dcterms:W3CDTF">2026-05-06T12:35:58Z</dcterms:created>
  <dcterms:modified xsi:type="dcterms:W3CDTF">2026-05-06T12:36:53Z</dcterms:modified>
</cp:coreProperties>
</file>