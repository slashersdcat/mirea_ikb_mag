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Platypi Medium" panose="020B0604020202020204" charset="0"/>
      <p:regular r:id="rId17"/>
    </p:embeddedFont>
    <p:embeddedFont>
      <p:font typeface="Source Serif 4" panose="020B0604020202020204" charset="0"/>
      <p:regular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48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2807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930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РТУ МИРЭА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2982516"/>
            <a:ext cx="1273254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Интеллектуальная собственность в цифровой среде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793790" y="3949779"/>
            <a:ext cx="13042821" cy="14883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423743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Дисциплина:</a:t>
            </a: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Правовое регулирование сферы искусственного интеллекта и интеллектуальной собственности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77821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Студент:</a:t>
            </a: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Мухаметшин А.Р.</a:t>
            </a:r>
            <a:endParaRPr lang="ru-RU" sz="1550" dirty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ru-RU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</a:rPr>
              <a:t>Группа: ББМО-01-25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42709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Преподаватель:</a:t>
            </a: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Самогин А.С.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5677" y="122515"/>
            <a:ext cx="5323046" cy="79845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9025" y="680680"/>
            <a:ext cx="7605951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Введение: Цифровая трансформация и интеллектуальная собственность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69025" y="1904048"/>
            <a:ext cx="7605951" cy="953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Цифровая среда стала принципиально новой реальностью для объектов интеллектуальной собственности (ОИС). Лёгкость создания, тиражирования и мгновенного распространения цифрового контента кардинально изменила условия, в которых существуют авторские и смежные права.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69025" y="3008828"/>
            <a:ext cx="7605951" cy="1423630"/>
          </a:xfrm>
          <a:prstGeom prst="roundRect">
            <a:avLst>
              <a:gd name="adj" fmla="val 770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6165" y="3008828"/>
            <a:ext cx="91440" cy="1423630"/>
          </a:xfrm>
          <a:prstGeom prst="roundRect">
            <a:avLst>
              <a:gd name="adj" fmla="val 26810"/>
            </a:avLst>
          </a:prstGeom>
          <a:solidFill>
            <a:srgbClr val="3E2513"/>
          </a:solidFill>
          <a:ln/>
        </p:spPr>
      </p:sp>
      <p:sp>
        <p:nvSpPr>
          <p:cNvPr id="8" name="Text 5"/>
          <p:cNvSpPr/>
          <p:nvPr/>
        </p:nvSpPr>
        <p:spPr>
          <a:xfrm>
            <a:off x="1023818" y="3195042"/>
            <a:ext cx="2042874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Масштаб явления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23818" y="3531156"/>
            <a:ext cx="7164943" cy="715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Ежегодный объём создаваемого цифрового контента исчисляется петабайтами. Музыка, видео, программное обеспечение, базы данных — всё это требует правовой охраны в условиях открытой сети.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69025" y="4566999"/>
            <a:ext cx="7605951" cy="1423630"/>
          </a:xfrm>
          <a:prstGeom prst="roundRect">
            <a:avLst>
              <a:gd name="adj" fmla="val 770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6165" y="4566999"/>
            <a:ext cx="91440" cy="1423630"/>
          </a:xfrm>
          <a:prstGeom prst="roundRect">
            <a:avLst>
              <a:gd name="adj" fmla="val 26810"/>
            </a:avLst>
          </a:prstGeom>
          <a:solidFill>
            <a:srgbClr val="3E2513"/>
          </a:solidFill>
          <a:ln/>
        </p:spPr>
      </p:sp>
      <p:sp>
        <p:nvSpPr>
          <p:cNvPr id="12" name="Text 9"/>
          <p:cNvSpPr/>
          <p:nvPr/>
        </p:nvSpPr>
        <p:spPr>
          <a:xfrm>
            <a:off x="1023818" y="4753213"/>
            <a:ext cx="2042874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Правовой вызов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23818" y="5089327"/>
            <a:ext cx="7164943" cy="715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Традиционные механизмы защиты ИС, выработанные в эпоху физических носителей, не в полной мере соответствуют реалиям цифровой экономики. Требуется адаптация нормативно-правовой базы.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69025" y="6125170"/>
            <a:ext cx="7605951" cy="1423630"/>
          </a:xfrm>
          <a:prstGeom prst="roundRect">
            <a:avLst>
              <a:gd name="adj" fmla="val 770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6165" y="6125170"/>
            <a:ext cx="91440" cy="1423630"/>
          </a:xfrm>
          <a:prstGeom prst="roundRect">
            <a:avLst>
              <a:gd name="adj" fmla="val 26810"/>
            </a:avLst>
          </a:prstGeom>
          <a:solidFill>
            <a:srgbClr val="3E2513"/>
          </a:solidFill>
          <a:ln/>
        </p:spPr>
      </p:sp>
      <p:sp>
        <p:nvSpPr>
          <p:cNvPr id="16" name="Text 13"/>
          <p:cNvSpPr/>
          <p:nvPr/>
        </p:nvSpPr>
        <p:spPr>
          <a:xfrm>
            <a:off x="1023818" y="6311384"/>
            <a:ext cx="2042874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Роль государства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23818" y="6647498"/>
            <a:ext cx="7164943" cy="715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Российская Федерация последовательно совершенствует законодательство: от поправок в ГК РФ до принятия специальных стандартов и экспериментальных правовых режимов в сфере ИИ.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63491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Российское законодательство: Основы защиты ИС в цифровой среде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00482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Центральным источником правового регулирования интеллектуальной собственности в России является </a:t>
            </a:r>
            <a:r>
              <a:rPr lang="en-US" sz="1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часть четвёртая Гражданского кодекса РФ</a:t>
            </a: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 Статья 1225 ГК РФ содержит исчерпывающий перечень охраняемых результатов интеллектуальной деятельности (РИД) и средств индивидуализации.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0915" y="4076343"/>
            <a:ext cx="6565106" cy="2889766"/>
          </a:xfrm>
          <a:prstGeom prst="roundRect">
            <a:avLst>
              <a:gd name="adj" fmla="val 1030"/>
            </a:avLst>
          </a:prstGeom>
          <a:solidFill>
            <a:srgbClr val="3E2513"/>
          </a:solidFill>
          <a:ln/>
        </p:spPr>
      </p:sp>
      <p:sp>
        <p:nvSpPr>
          <p:cNvPr id="5" name="Text 3"/>
          <p:cNvSpPr/>
          <p:nvPr/>
        </p:nvSpPr>
        <p:spPr>
          <a:xfrm>
            <a:off x="849273" y="4274701"/>
            <a:ext cx="463796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Ключевые объекты в цифровой среде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49273" y="4783217"/>
            <a:ext cx="6168390" cy="211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Программы для ЭВМ (ст. 1261 ГК РФ) — охраняются как литературные произведения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Базы данных (ст. 1260, 1334 ГК РФ) — авторские и смежные права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Аудиовизуальные произведения, размещённые онлайн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Сайты как составные произведения (ст. 1260 ГК РФ)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4274701"/>
            <a:ext cx="552247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Электронные охранные документы (с 2021 г.)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4783217"/>
            <a:ext cx="62793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 2021 года в России введены электронные свидетельства и патенты. Правообладатели получают охранные документы в цифровом формате через портал Роспатента, что существенно упрощает доступ к государственным услугам в сфере ИС и сокращает сроки регистрации.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296" y="118943"/>
            <a:ext cx="5327809" cy="79917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721043"/>
            <a:ext cx="75564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Государственная политика: Дорожная карта трансформации ИС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793790" y="1903809"/>
            <a:ext cx="75564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Правительство Российской Федерации утвердило комплексную </a:t>
            </a:r>
            <a:r>
              <a:rPr lang="en-US" sz="12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дорожную карту развития интеллектуальной собственности</a:t>
            </a: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, направленную на формирование благоприятной среды для создателей РИД и инновационного бизнеса в цифровую эпоху.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93790" y="2732484"/>
            <a:ext cx="7556421" cy="1098828"/>
          </a:xfrm>
          <a:prstGeom prst="roundRect">
            <a:avLst>
              <a:gd name="adj" fmla="val 2167"/>
            </a:avLst>
          </a:prstGeom>
          <a:solidFill>
            <a:srgbClr val="F9F7F7"/>
          </a:solidFill>
          <a:ln/>
        </p:spPr>
      </p:sp>
      <p:sp>
        <p:nvSpPr>
          <p:cNvPr id="7" name="Text 4"/>
          <p:cNvSpPr/>
          <p:nvPr/>
        </p:nvSpPr>
        <p:spPr>
          <a:xfrm>
            <a:off x="952500" y="2891195"/>
            <a:ext cx="308883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Самозанятые и товарные знаки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52500" y="3215402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Разрешена регистрация товарных знаков самозанятыми гражданами, что открывает малый бизнес и творческих предпринимателей к полноценной защите бренда.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93790" y="3958233"/>
            <a:ext cx="7556421" cy="1098828"/>
          </a:xfrm>
          <a:prstGeom prst="roundRect">
            <a:avLst>
              <a:gd name="adj" fmla="val 2167"/>
            </a:avLst>
          </a:prstGeom>
          <a:solidFill>
            <a:srgbClr val="F9F7F7"/>
          </a:solidFill>
          <a:ln/>
        </p:spPr>
      </p:sp>
      <p:sp>
        <p:nvSpPr>
          <p:cNvPr id="10" name="Text 7"/>
          <p:cNvSpPr/>
          <p:nvPr/>
        </p:nvSpPr>
        <p:spPr>
          <a:xfrm>
            <a:off x="952500" y="4116943"/>
            <a:ext cx="346769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Электронные патенты и 3D-модели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52500" y="4441150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Сформирована правовая база для выдачи электронных патентов и охраны трёхмерных моделей — актуальных объектов в аддитивном производстве и цифровом дизайне.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93790" y="5183981"/>
            <a:ext cx="7556421" cy="1098828"/>
          </a:xfrm>
          <a:prstGeom prst="roundRect">
            <a:avLst>
              <a:gd name="adj" fmla="val 2167"/>
            </a:avLst>
          </a:prstGeom>
          <a:solidFill>
            <a:srgbClr val="F9F7F7"/>
          </a:solidFill>
          <a:ln/>
        </p:spPr>
      </p:sp>
      <p:sp>
        <p:nvSpPr>
          <p:cNvPr id="13" name="Text 10"/>
          <p:cNvSpPr/>
          <p:nvPr/>
        </p:nvSpPr>
        <p:spPr>
          <a:xfrm>
            <a:off x="952500" y="534269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Налоговые льготы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952500" y="5666899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Введены льготы по налогу на прибыль с доходов от лицензионных платежей, что стимулирует коммерциализацию интеллектуальных разработок российских компаний.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93790" y="6409730"/>
            <a:ext cx="7556421" cy="1098828"/>
          </a:xfrm>
          <a:prstGeom prst="roundRect">
            <a:avLst>
              <a:gd name="adj" fmla="val 2167"/>
            </a:avLst>
          </a:prstGeom>
          <a:solidFill>
            <a:srgbClr val="F9F7F7"/>
          </a:solidFill>
          <a:ln/>
        </p:spPr>
      </p:sp>
      <p:sp>
        <p:nvSpPr>
          <p:cNvPr id="16" name="Text 13"/>
          <p:cNvSpPr/>
          <p:nvPr/>
        </p:nvSpPr>
        <p:spPr>
          <a:xfrm>
            <a:off x="952500" y="6568440"/>
            <a:ext cx="221408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ИС как вклад в стартап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952500" y="6892647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Законодательно закреплена возможность использования исключительных прав в качестве имущественного взноса в уставный капитал стартапов и инновационных компаний.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9610"/>
            <a:ext cx="12138065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ГОСТы как инструмент регулирования цифровой ИС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93790" y="1636871"/>
            <a:ext cx="13042821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Наряду с нормами ГК РФ, важнейшим инструментом технического регулирования в сфере цифровой интеллектуальной собственности являются национальные стандарты — ГОСТы, разработанные Росстандартом совместно с экспертным сообществом.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93790" y="2426732"/>
            <a:ext cx="6431875" cy="3841909"/>
          </a:xfrm>
          <a:prstGeom prst="roundRect">
            <a:avLst>
              <a:gd name="adj" fmla="val 73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650" y="2449592"/>
            <a:ext cx="6386155" cy="565547"/>
          </a:xfrm>
          <a:prstGeom prst="roundRect">
            <a:avLst>
              <a:gd name="adj" fmla="val 150"/>
            </a:avLst>
          </a:prstGeom>
          <a:solidFill>
            <a:srgbClr val="F9F7F7"/>
          </a:solidFill>
          <a:ln/>
        </p:spPr>
      </p:sp>
      <p:sp>
        <p:nvSpPr>
          <p:cNvPr id="6" name="Text 4"/>
          <p:cNvSpPr/>
          <p:nvPr/>
        </p:nvSpPr>
        <p:spPr>
          <a:xfrm>
            <a:off x="3868341" y="2555558"/>
            <a:ext cx="28277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126" y="3194209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ГОСТ 34916.1-2022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05126" y="3596283"/>
            <a:ext cx="6009203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«Интеллектуальная собственность. Использование объектов интеллектуальной собственности в сети Интернет. Часть 1. Общие положения»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126" y="4586288"/>
            <a:ext cx="6009203" cy="117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Стандарт устанавливает базовые требования и принципы использования ОИС в сети Интернет: порядок размещения, ссылки на правообладателей, допустимые форматы использования.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404735" y="2426732"/>
            <a:ext cx="6431875" cy="3841909"/>
          </a:xfrm>
          <a:prstGeom prst="roundRect">
            <a:avLst>
              <a:gd name="adj" fmla="val 73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27595" y="2449592"/>
            <a:ext cx="6386155" cy="565547"/>
          </a:xfrm>
          <a:prstGeom prst="roundRect">
            <a:avLst>
              <a:gd name="adj" fmla="val 150"/>
            </a:avLst>
          </a:prstGeom>
          <a:solidFill>
            <a:srgbClr val="F9F7F7"/>
          </a:solidFill>
          <a:ln/>
        </p:spPr>
      </p:sp>
      <p:sp>
        <p:nvSpPr>
          <p:cNvPr id="12" name="Text 10"/>
          <p:cNvSpPr/>
          <p:nvPr/>
        </p:nvSpPr>
        <p:spPr>
          <a:xfrm>
            <a:off x="10479286" y="2555558"/>
            <a:ext cx="28277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16071" y="3194209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ГОСТ 34916.2-2025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616071" y="3596283"/>
            <a:ext cx="6009203" cy="117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«Интеллектуальная собственность. Использование объектов интеллектуальной собственности в сети Интернет. Часть 2. Государственные информационные системы и социальные сети»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616071" y="4880491"/>
            <a:ext cx="6009203" cy="117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Распространяет требования на ГИС и социальные сети: обязательная идентификация контента, соблюдение авторских прав при автоматической обработке данных и публикациях пользователей.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93790" y="6470094"/>
            <a:ext cx="13042821" cy="1069896"/>
          </a:xfrm>
          <a:prstGeom prst="roundRect">
            <a:avLst>
              <a:gd name="adj" fmla="val 2643"/>
            </a:avLst>
          </a:prstGeom>
          <a:solidFill>
            <a:srgbClr val="EDD5C4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266" y="6753939"/>
            <a:ext cx="235625" cy="18847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06366" y="6696194"/>
            <a:ext cx="12241768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Принятие серии ГОСТ 34916 свидетельствует о переходе России к системному стандартизированному подходу в регулировании ИС в цифровой среде.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4" y="111562"/>
            <a:ext cx="5337572" cy="80063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917377"/>
            <a:ext cx="7556421" cy="930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Вызовы цифровой среды: Пиратство и несанкционированное использование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280190" y="2015133"/>
            <a:ext cx="7556421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Цифровая среда, открывая широкие возможности для распространения контента, одновременно создаёт серьёзные риски нарушения исключительных прав. Ключевая проблема — принципиальная простота нелегального копирования при минимальных издержках для нарушителя.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2765703"/>
            <a:ext cx="372070" cy="3720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0190" y="3277314"/>
            <a:ext cx="2074783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Лёгкость копирования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280190" y="3576757"/>
            <a:ext cx="7556421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Цифровые файлы воспроизводятся без потери качества и распространяются мгновенно. Одна нелегальная копия программы или фильма способна нанести правообладателю многомиллионный ущерб.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0190" y="4425077"/>
            <a:ext cx="372070" cy="3720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80190" y="4936688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Анонимность сети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280190" y="5236131"/>
            <a:ext cx="7556421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Использование VPN, анонимайзеров и зарубежных хостингов существенно затрудняет идентификацию нарушителей и правоприменение. Трансграничный характер нарушений осложняет юрисдикцию.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0190" y="6084451"/>
            <a:ext cx="372070" cy="37207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80190" y="6596063"/>
            <a:ext cx="3008709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LegalTech и превентивные меры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6280190" y="6895505"/>
            <a:ext cx="7556421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Ответом на вызовы становится применение технологий LegalTech: автоматический мониторинг нарушений, системы Content ID, блокировка пиратских ресурсов по решению Роскомнадзора.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8660"/>
            <a:ext cx="13042821" cy="1178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Искусственный интеллект и интеллектуальная собственность: Новые горизонты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93790" y="2245043"/>
            <a:ext cx="13042821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Широкое распространение генеративного ИИ поставило перед правовой системой принципиально новые вопросы: кто является автором произведения, созданного с участием алгоритма, и кому принадлежат исключительные права на такой результат?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93790" y="3236357"/>
            <a:ext cx="424220" cy="424220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5" name="Text 3"/>
          <p:cNvSpPr/>
          <p:nvPr/>
        </p:nvSpPr>
        <p:spPr>
          <a:xfrm>
            <a:off x="864453" y="3271659"/>
            <a:ext cx="28277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97079" y="3301127"/>
            <a:ext cx="3108841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Реестр РИД, созданных ИИ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397079" y="3774877"/>
            <a:ext cx="6363176" cy="147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Приказ Минэкономразвития России от 19.11.2024 № 725 установил порядок ведения реестра результатов интеллектуальной деятельности, создаваемых с применением ИИ в рамках экспериментальных правовых режимов (ЭПР). Это первый в России механизм учёта таких объектов.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93790" y="5604034"/>
            <a:ext cx="424220" cy="424220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9" name="Text 7"/>
          <p:cNvSpPr/>
          <p:nvPr/>
        </p:nvSpPr>
        <p:spPr>
          <a:xfrm>
            <a:off x="864453" y="5639336"/>
            <a:ext cx="28277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97079" y="5668804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Вопрос авторства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397079" y="6142553"/>
            <a:ext cx="6363176" cy="117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Действующий ГК РФ признаёт автором только физическое лицо. Контент, созданный ИИ без творческого вклада человека, остаётся в «серой зоне». В рамках ЭПР отрабатываются модели атрибуции прав: разработчику системы, пользователю или особому субъекту.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92083" y="3034903"/>
            <a:ext cx="5887879" cy="4485918"/>
          </a:xfrm>
          <a:prstGeom prst="roundRect">
            <a:avLst>
              <a:gd name="adj" fmla="val 630"/>
            </a:avLst>
          </a:prstGeom>
          <a:solidFill>
            <a:srgbClr val="3E2513"/>
          </a:solidFill>
          <a:ln/>
        </p:spPr>
      </p:sp>
      <p:sp>
        <p:nvSpPr>
          <p:cNvPr id="13" name="Text 11"/>
          <p:cNvSpPr/>
          <p:nvPr/>
        </p:nvSpPr>
        <p:spPr>
          <a:xfrm>
            <a:off x="8280559" y="3213973"/>
            <a:ext cx="4611767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Экспериментальные правовые режимы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280559" y="3687723"/>
            <a:ext cx="5510927" cy="147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ЭПР (Федеральный закон № 258-ФЗ от 31.07.2020) позволяют апробировать новые нормы в ограниченной среде без изменения общего законодательства. В сфере ИИ и ИС они служат «полигоном» для выработки будущих правил игры.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2426"/>
            <a:ext cx="990504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Цифровые активы и их правовая охрана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29339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Понятие «цифровой актив» охватывает широкий спектр объектов: от программного обеспечения и баз данных до NFT-токенов, цифрового искусства и онлайн-контента. Их правовая охрана строится на общих принципах ГК РФ, однако имеет существенную специфику.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505200"/>
            <a:ext cx="4215289" cy="3411974"/>
          </a:xfrm>
          <a:prstGeom prst="roundRect">
            <a:avLst>
              <a:gd name="adj" fmla="val 321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930" y="3505200"/>
            <a:ext cx="91440" cy="3411974"/>
          </a:xfrm>
          <a:prstGeom prst="roundRect">
            <a:avLst>
              <a:gd name="adj" fmla="val 32558"/>
            </a:avLst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1083588" y="3726418"/>
            <a:ext cx="341447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Критерии правовой охраны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83588" y="4155638"/>
            <a:ext cx="3704273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Оригинальность</a:t>
            </a: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для авторско-правовой охраны достаточно, чтобы произведение являлось результатом творческого труда автора (ст. 1257 ГК РФ). </a:t>
            </a:r>
            <a:r>
              <a:rPr lang="en-US" sz="15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Новизна и промышленная применимость</a:t>
            </a: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обязательны для патентной охраны изобретений и полезных моделей.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3505200"/>
            <a:ext cx="4215408" cy="3411974"/>
          </a:xfrm>
          <a:prstGeom prst="roundRect">
            <a:avLst>
              <a:gd name="adj" fmla="val 321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4577" y="3505200"/>
            <a:ext cx="91440" cy="3411974"/>
          </a:xfrm>
          <a:prstGeom prst="roundRect">
            <a:avLst>
              <a:gd name="adj" fmla="val 32558"/>
            </a:avLst>
          </a:prstGeom>
          <a:solidFill>
            <a:srgbClr val="3E2513"/>
          </a:solidFill>
          <a:ln/>
        </p:spPr>
      </p:sp>
      <p:sp>
        <p:nvSpPr>
          <p:cNvPr id="10" name="Text 8"/>
          <p:cNvSpPr/>
          <p:nvPr/>
        </p:nvSpPr>
        <p:spPr>
          <a:xfrm>
            <a:off x="5497235" y="3726418"/>
            <a:ext cx="334387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Программное обеспечение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97235" y="4155638"/>
            <a:ext cx="3704392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Охраняется авторским правом без регистрации с момента создания. Правообладатель вправе осуществить добровольную регистрацию в Роспатенте для целей доказательства приоритета.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3505200"/>
            <a:ext cx="4215289" cy="3411974"/>
          </a:xfrm>
          <a:prstGeom prst="roundRect">
            <a:avLst>
              <a:gd name="adj" fmla="val 321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98343" y="3505200"/>
            <a:ext cx="91440" cy="3411974"/>
          </a:xfrm>
          <a:prstGeom prst="roundRect">
            <a:avLst>
              <a:gd name="adj" fmla="val 32558"/>
            </a:avLst>
          </a:prstGeom>
          <a:solidFill>
            <a:srgbClr val="3E2513"/>
          </a:solidFill>
          <a:ln/>
        </p:spPr>
      </p:sp>
      <p:sp>
        <p:nvSpPr>
          <p:cNvPr id="14" name="Text 12"/>
          <p:cNvSpPr/>
          <p:nvPr/>
        </p:nvSpPr>
        <p:spPr>
          <a:xfrm>
            <a:off x="9911001" y="3726418"/>
            <a:ext cx="370427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Цифровое искусство и онлайн-контент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911001" y="4465796"/>
            <a:ext cx="370427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Иллюстрации, музыка, видео и иной творческий контент, размещённый в сети, охраняется по нормам авторского права. Специфика — необходимость фиксации факта публикации для доказательства авторства в спорных ситуациях.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165" y="383738"/>
            <a:ext cx="9116258" cy="436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Перспективы развития правового регулирования ИС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58165" y="1015960"/>
            <a:ext cx="13514070" cy="38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Стремительное развитие цифровых технологий требует не точечных, а системных изменений в институте интеллектуальной собственности. Ключевые направления — адаптация, международная кооперация и поиск баланса интересов.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5" y="1506379"/>
            <a:ext cx="10485120" cy="58521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165" y="1506379"/>
            <a:ext cx="10485120" cy="5852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8165" y="7468910"/>
            <a:ext cx="13514070" cy="38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Развитие института ИС в России будет определяться способностью законодателя своевременно реагировать на технологические изменения — в первую очередь в области генеративного ИИ, блокчейна и метавселенных — сохраняя при этом стабильность правовой системы.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083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Заключение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7774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Интеллектуальная собственность в цифровой среде — одна из наиболее динамично развивающихся областей российского права. Государство последовательно формирует нормативную базу, отвечающую вызовам цифровой экономики.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836069"/>
            <a:ext cx="4215289" cy="2731175"/>
          </a:xfrm>
          <a:prstGeom prst="roundRect">
            <a:avLst>
              <a:gd name="adj" fmla="val 1090"/>
            </a:avLst>
          </a:prstGeom>
          <a:solidFill>
            <a:srgbClr val="F9F7F7"/>
          </a:solidFill>
          <a:ln/>
        </p:spPr>
      </p:sp>
      <p:sp>
        <p:nvSpPr>
          <p:cNvPr id="5" name="Text 3"/>
          <p:cNvSpPr/>
          <p:nvPr/>
        </p:nvSpPr>
        <p:spPr>
          <a:xfrm>
            <a:off x="992148" y="30344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Правовая база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2148" y="3463647"/>
            <a:ext cx="381857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ГК РФ (ч. IV), ГОСТ 34916.1-2022 и 34916.2-2025, приказы Минэкономразвития формируют комплексную систему охраны ИС в сети.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2836069"/>
            <a:ext cx="4215408" cy="2731175"/>
          </a:xfrm>
          <a:prstGeom prst="roundRect">
            <a:avLst>
              <a:gd name="adj" fmla="val 1090"/>
            </a:avLst>
          </a:prstGeom>
          <a:solidFill>
            <a:srgbClr val="F9F7F7"/>
          </a:solidFill>
          <a:ln/>
        </p:spPr>
      </p:sp>
      <p:sp>
        <p:nvSpPr>
          <p:cNvPr id="8" name="Text 6"/>
          <p:cNvSpPr/>
          <p:nvPr/>
        </p:nvSpPr>
        <p:spPr>
          <a:xfrm>
            <a:off x="5405795" y="30344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ИИ и ИС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05795" y="3463647"/>
            <a:ext cx="3818692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Россия первой в мире приступила к формированию реестра РИД, созданных с применением ИИ. ЭПР позволяют апробировать новые правовые модели авторства.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21203" y="2836069"/>
            <a:ext cx="4215289" cy="2731175"/>
          </a:xfrm>
          <a:prstGeom prst="roundRect">
            <a:avLst>
              <a:gd name="adj" fmla="val 1090"/>
            </a:avLst>
          </a:prstGeom>
          <a:solidFill>
            <a:srgbClr val="F9F7F7"/>
          </a:solidFill>
          <a:ln/>
        </p:spPr>
      </p:sp>
      <p:sp>
        <p:nvSpPr>
          <p:cNvPr id="11" name="Text 9"/>
          <p:cNvSpPr/>
          <p:nvPr/>
        </p:nvSpPr>
        <p:spPr>
          <a:xfrm>
            <a:off x="9819561" y="3034427"/>
            <a:ext cx="372772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Актуальность для специалиста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19561" y="3463647"/>
            <a:ext cx="3818573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Понимание правовых механизмов защиты ИС в цифровой среде — необходимая компетенция для юриста, инженера и предпринимателя в условиях цифровой экономики.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5790486"/>
            <a:ext cx="13042821" cy="1478280"/>
          </a:xfrm>
          <a:prstGeom prst="roundRect">
            <a:avLst>
              <a:gd name="adj" fmla="val 2014"/>
            </a:avLst>
          </a:prstGeom>
          <a:solidFill>
            <a:srgbClr val="EDD5C4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6085761"/>
            <a:ext cx="248007" cy="19835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38513" y="6038374"/>
            <a:ext cx="1219973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Список источников:</a:t>
            </a:r>
            <a:r>
              <a:rPr lang="en-US" sz="15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Гражданский кодекс РФ (часть четвёртая); Федеральный закон № 258-ФЗ от 31.07.2020; Приказ Минэкономразвития № 725 от 19.11.2024; ГОСТ 34916.1-2022; ГОСТ 34916.2-2025; Дорожная карта развития ИС (Правительство РФ).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1203</Words>
  <Application>Microsoft Office PowerPoint</Application>
  <PresentationFormat>Произвольный</PresentationFormat>
  <Paragraphs>92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Platypi Medium</vt:lpstr>
      <vt:lpstr>Source Serif 4</vt:lpstr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Alexandr Slasher</dc:creator>
  <cp:lastModifiedBy>Alexandr Slasher</cp:lastModifiedBy>
  <cp:revision>3</cp:revision>
  <dcterms:created xsi:type="dcterms:W3CDTF">2026-04-13T08:53:00Z</dcterms:created>
  <dcterms:modified xsi:type="dcterms:W3CDTF">2026-04-13T08:55:32Z</dcterms:modified>
</cp:coreProperties>
</file>