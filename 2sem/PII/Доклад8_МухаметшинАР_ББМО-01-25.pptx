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DM Sans Semi Bold" panose="020B0604020202020204" charset="0"/>
      <p:regular r:id="rId17"/>
    </p:embeddedFont>
    <p:embeddedFont>
      <p:font typeface="Inter Medium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993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6037" y="1257895"/>
            <a:ext cx="731192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Федеральное государственное бюджетное образовательное учреждение высшего образования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501304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Искусственный интеллект в предпринимательской деятельности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96119" y="2493392"/>
            <a:ext cx="8151763" cy="9302"/>
          </a:xfrm>
          <a:prstGeom prst="rect">
            <a:avLst/>
          </a:prstGeom>
          <a:solidFill>
            <a:srgbClr val="464646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67317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Дисциплина: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Правовое регулирование сферы искусственного интеллекта и интеллектуальной собственности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3011165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Студент: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Мухаметшин А.Р.  |  </a:t>
            </a: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Группа: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ББМО-01-25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3349154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Преподаватель: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Самогин А.С.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6119" y="368714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РТУ МИРЭА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Российский технологический университет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0542"/>
            <a:ext cx="4722763" cy="73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Введение: ИИ как драйвер предпринимательства в России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1314822"/>
            <a:ext cx="4722763" cy="91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Искусственный интеллект (ИИ) коренным образом трансформирует бизнес-процессы, открывая принципиально новые возможности для инноваций, роста производительности и создания конкурентных преимуществ. Компании, внедряющие ИИ, способны оптимизировать затраты, ускорить вывод продуктов на рынок и улучшить качество принимаемых решений.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96119" y="2360116"/>
            <a:ext cx="2305422" cy="1406277"/>
          </a:xfrm>
          <a:prstGeom prst="roundRect">
            <a:avLst>
              <a:gd name="adj" fmla="val 1257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13916" y="2477914"/>
            <a:ext cx="1848817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Масштаб трансформации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3916" y="2729210"/>
            <a:ext cx="2069827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ИИ меняет структуру конкуренции во всех ключевых секторах экономики России — от финансов до производства.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13459" y="2360116"/>
            <a:ext cx="2305422" cy="1406277"/>
          </a:xfrm>
          <a:prstGeom prst="roundRect">
            <a:avLst>
              <a:gd name="adj" fmla="val 125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3031257" y="2477914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Нормативная база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031257" y="2729210"/>
            <a:ext cx="2069827" cy="91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РФ активно формирует законодательную и стандартизационную основу для ответственного внедрения ИИ в предпринимательство.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6119" y="3878312"/>
            <a:ext cx="4722763" cy="854646"/>
          </a:xfrm>
          <a:prstGeom prst="roundRect">
            <a:avLst>
              <a:gd name="adj" fmla="val 2068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13916" y="3996110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Цель презентации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3916" y="4247406"/>
            <a:ext cx="4487168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Раскрыть ключевые аспекты применения ИИ в бизнесе с акцентом на российское законодательство, ГОСТы и государственную поддержку.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0998"/>
            <a:ext cx="558909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Нормативно-правовая база ИИ в РФ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56568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Российская Федерация последовательно выстраивает комплексную систему регулирования искусственного интеллекта, опираясь на национальные стандарты, стратегические документы и специальное законодательство. Данная база создаёт правовые условия для безопасного и эффективного внедрения ИИ в предпринимательскую деятельность.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91482"/>
            <a:ext cx="2634555" cy="2330946"/>
          </a:xfrm>
          <a:prstGeom prst="roundRect">
            <a:avLst>
              <a:gd name="adj" fmla="val 294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1831" y="2091482"/>
            <a:ext cx="57150" cy="2330946"/>
          </a:xfrm>
          <a:prstGeom prst="roundRect">
            <a:avLst>
              <a:gd name="adj" fmla="val 32558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677242" y="222974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ГОСТ Р 71752-2024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7242" y="2498006"/>
            <a:ext cx="2315170" cy="178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«Искусственный интеллект. Техническое задание. Требования к содержанию» — устанавливает обязательные требования к техническим заданиям для разработки и внедрения ИИ-систем в предпринимательстве, обеспечивая чёткость и прозрачность проектов.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2091482"/>
            <a:ext cx="2634630" cy="2330946"/>
          </a:xfrm>
          <a:prstGeom prst="roundRect">
            <a:avLst>
              <a:gd name="adj" fmla="val 294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0360" y="2091482"/>
            <a:ext cx="57150" cy="2330946"/>
          </a:xfrm>
          <a:prstGeom prst="roundRect">
            <a:avLst>
              <a:gd name="adj" fmla="val 32558"/>
            </a:avLst>
          </a:prstGeom>
          <a:solidFill>
            <a:srgbClr val="1C9770"/>
          </a:solidFill>
          <a:ln/>
        </p:spPr>
      </p:sp>
      <p:sp>
        <p:nvSpPr>
          <p:cNvPr id="10" name="Text 8"/>
          <p:cNvSpPr/>
          <p:nvPr/>
        </p:nvSpPr>
        <p:spPr>
          <a:xfrm>
            <a:off x="3435772" y="2229743"/>
            <a:ext cx="231524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ГОСТ Р 71539-2024 (ИСО/МЭК 5338:2023)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35772" y="2691854"/>
            <a:ext cx="2315245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«Процессы жизненного цикла системы ИИ» — определяет стандарты разработки, внедрения и эксплуатации ИИ-систем, гарантируя их надёжность, управляемость и соответствие международным нормам.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2091482"/>
            <a:ext cx="2634555" cy="2330946"/>
          </a:xfrm>
          <a:prstGeom prst="roundRect">
            <a:avLst>
              <a:gd name="adj" fmla="val 294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98964" y="2091482"/>
            <a:ext cx="57150" cy="2330946"/>
          </a:xfrm>
          <a:prstGeom prst="roundRect">
            <a:avLst>
              <a:gd name="adj" fmla="val 32558"/>
            </a:avLst>
          </a:prstGeom>
          <a:solidFill>
            <a:srgbClr val="1C9770"/>
          </a:solidFill>
          <a:ln/>
        </p:spPr>
      </p:sp>
      <p:sp>
        <p:nvSpPr>
          <p:cNvPr id="14" name="Text 12"/>
          <p:cNvSpPr/>
          <p:nvPr/>
        </p:nvSpPr>
        <p:spPr>
          <a:xfrm>
            <a:off x="6194375" y="2229743"/>
            <a:ext cx="231517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Национальная стратегия до 2030 года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4375" y="2691854"/>
            <a:ext cx="23151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Указ Президента РФ № 490 от 10.10.2019 — определяет приоритетные направления, целевые показатели и меры государственной поддержки развития ИИ как стратегического ресурса конкурентоспособности страны.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9078"/>
            <a:ext cx="8151763" cy="73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ИИ в управлении инновационными проектами и стартапами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484114"/>
            <a:ext cx="4354041" cy="91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ИИ становится незаменимым инструментом для повышения эффективности инновационной деятельности. По материалам XIV Всероссийского совещания по проблемам управления, применение ИИ в проектном менеджменте позволяет существенно сократить сроки реализации проектов и снизить операционные риски.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2529408"/>
            <a:ext cx="265137" cy="2651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540283" y="2551472"/>
            <a:ext cx="176733" cy="220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73175" y="2569890"/>
            <a:ext cx="2292921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Автоматизация рутинных задач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73175" y="2865983"/>
            <a:ext cx="3976985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Освобождение команды для стратегических решений.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6119" y="3273698"/>
            <a:ext cx="265137" cy="2651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540283" y="3295762"/>
            <a:ext cx="176733" cy="220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73175" y="3314179"/>
            <a:ext cx="185000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Прогнозирование рисков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3175" y="3610273"/>
            <a:ext cx="3976985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Моделирование сценариев и оптимизация ресурсов.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6119" y="4017987"/>
            <a:ext cx="265137" cy="2651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540283" y="4040051"/>
            <a:ext cx="176733" cy="220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73175" y="4058469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Аналитика данных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3175" y="4354562"/>
            <a:ext cx="3976985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Глубокое понимание рынка и поведения потребителей.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57552" y="1383357"/>
            <a:ext cx="3679924" cy="3280990"/>
          </a:xfrm>
          <a:prstGeom prst="roundRect">
            <a:avLst>
              <a:gd name="adj" fmla="val 539"/>
            </a:avLst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5175349" y="1495276"/>
            <a:ext cx="2126307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Преимущества для стартапов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75349" y="1791370"/>
            <a:ext cx="3444329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Российские IT-компании и исследовательские центры предлагают специализированные решения по интеграции ИИ в управление стартапами: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75349" y="2443758"/>
            <a:ext cx="3444329" cy="103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Ускорение разработки продукта</a:t>
            </a:r>
            <a:endParaRPr lang="en-US" sz="9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Быстрый выход на рынок</a:t>
            </a:r>
            <a:endParaRPr lang="en-US" sz="9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Снижение стоимости привлечения клиента</a:t>
            </a:r>
            <a:endParaRPr lang="en-US" sz="9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Масштабирование без пропорционального роста затрат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0917"/>
            <a:ext cx="743969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Применение ИИ в отраслях российского бизнеса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306488"/>
            <a:ext cx="310083" cy="3100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1206" y="130648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Финансы и банки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61206" y="1574750"/>
            <a:ext cx="2148780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Кредитный скоринг, антифрод-системы, персонализированные финансовые предложения, автоматизация клиентской поддержки через чат-боты и виртуальных ассистентов.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4991" y="1306488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0079" y="130648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Ритейл и логистика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730079" y="1574750"/>
            <a:ext cx="2148855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Прогнозирование спроса, оптимизация цепочек поставок, персонализация рекомендаций, интеллектуальное управление товарными запасами.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3939" y="1306488"/>
            <a:ext cx="310083" cy="310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99027" y="130648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Производство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99027" y="1574750"/>
            <a:ext cx="2148855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Предиктивное обслуживание оборудования, оптимизация производственных процессов, автоматизированный контроль качества продукции на линии.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13546"/>
            <a:ext cx="310083" cy="3100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1206" y="3013546"/>
            <a:ext cx="20704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Медицина и фармацевтика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961206" y="3281809"/>
            <a:ext cx="2148780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Диагностика заболеваний по медицинским снимкам, ускорение разработки лекарственных препаратов, персонализированные схемы лечения.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64991" y="3013546"/>
            <a:ext cx="310083" cy="3100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0079" y="301354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Маркетинг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3730079" y="3281809"/>
            <a:ext cx="2148855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Анализ поведения потребителей, таргетированная реклама, автоматизированное создание контента и A/B-тестирование рекламных кампаний.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0629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Интеллектуальная собственность и ИИ: Вызовы и решения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3374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Широкое внедрение ИИ в предпринимательскую деятельность порождает принципиально новые правовые вопросы в сфере интеллектуальной собственности, на которые российское законодательство только начинает формировать системные ответы.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209726"/>
            <a:ext cx="3924598" cy="1915269"/>
          </a:xfrm>
          <a:prstGeom prst="roundRect">
            <a:avLst>
              <a:gd name="adj" fmla="val 97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2347987"/>
            <a:ext cx="18415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⚠</a:t>
            </a: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Ключевые проблемы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80" y="2665809"/>
            <a:ext cx="3648075" cy="132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Авторство произведений и изобретений, созданных ИИ без участия человека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Патентоспособность алгоритмов и моделей ИИ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Правовой статус обучающих данных и персональных данных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Ответственность за ущерб, причинённый ИИ-системой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28046" y="2209726"/>
            <a:ext cx="3924598" cy="2283619"/>
          </a:xfrm>
          <a:prstGeom prst="roundRect">
            <a:avLst>
              <a:gd name="adj" fmla="val 815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852020" y="2333699"/>
            <a:ext cx="1694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✔</a:t>
            </a: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Российский подход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52020" y="2651522"/>
            <a:ext cx="3676650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Развитие ГК РФ в части прав на объекты, созданные с помощью ИИ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Применение ФЗ «О персональных данных» к обучающим датасетам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Разработка этических кодексов и стандартов прозрачности ИИ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Международное сотрудничество по гармонизации норм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3910"/>
            <a:ext cx="810428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Государственная поддержка и меры стимулирования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9948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Российское государство формирует разветвлённую систему мер поддержки предпринимательства в сфере ИИ, охватывающую финансирование, инфраструктуру и подготовку кадров.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35931"/>
            <a:ext cx="422746" cy="4227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869" y="1735931"/>
            <a:ext cx="134391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Национальный проект «Цифровая экономика РФ»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3869" y="2585740"/>
            <a:ext cx="1343918" cy="198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Федеральный проект «Искусственный интеллект» в составе нацпроекта предусматривает финансирование разработок, формирование рынка данных и развитие ИИ-инфраструктуры.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792" y="1735931"/>
            <a:ext cx="422746" cy="4227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50543" y="1735931"/>
            <a:ext cx="13439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Гранты и субсидии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150543" y="2198043"/>
            <a:ext cx="1343918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Фонд содействия инновациям (программы «Умник», «Старт»), Российский фонд развития информационных технологий (РФРИТ) — основные инструменты финансирования ИИ-стартапов и НИОКР.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465" y="1735931"/>
            <a:ext cx="422746" cy="4227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27216" y="1735931"/>
            <a:ext cx="13439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Технопарки и ОЭЗ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227216" y="2198043"/>
            <a:ext cx="1343918" cy="218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Особые экономические зоны и технопарки предоставляют IT-компаниям налоговые льготы, субсидированные площади и доступ к инфраструктуре для разработки и внедрения ИИ.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138" y="1735931"/>
            <a:ext cx="422746" cy="4227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03889" y="1735931"/>
            <a:ext cx="134399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Образование и кадры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303889" y="2198043"/>
            <a:ext cx="1343992" cy="218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Федеральные программы подготовки специалистов в области ИИ, машинного обучения и права ИИ реализуются ведущими вузами страны, в том числе РТУ МИРЭА.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592" y="250701"/>
            <a:ext cx="4113237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Экосистема ИИ в российском бизнесе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56592" y="657374"/>
            <a:ext cx="843081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Современная экосистема ИИ в России охватывает полный цикл — от стартапа до крупной корпорации, объединяя регуляторные органы, институты поддержки и технологических игроков.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92" y="851967"/>
            <a:ext cx="6553200" cy="3657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92" y="851967"/>
            <a:ext cx="655320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6592" y="4581599"/>
            <a:ext cx="8430816" cy="311125"/>
          </a:xfrm>
          <a:prstGeom prst="roundRect">
            <a:avLst>
              <a:gd name="adj" fmla="val 4299"/>
            </a:avLst>
          </a:prstGeom>
          <a:solidFill>
            <a:srgbClr val="B6D6FC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40" y="4705424"/>
            <a:ext cx="111398" cy="891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6286" y="4667920"/>
            <a:ext cx="8051974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Ключевые игроки рынка ИИ в РФ: Яндекс, Сбер (GigaChat, SaluteSpeech), VK, МТС, Ростелеком — формируют отечественную технологическую независимость.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38758"/>
            <a:ext cx="4722763" cy="658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Перспективы развития ИИ в предпринимательстве РФ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614735" y="1332012"/>
            <a:ext cx="14288" cy="3272656"/>
          </a:xfrm>
          <a:prstGeom prst="roundRect">
            <a:avLst>
              <a:gd name="adj" fmla="val 110694"/>
            </a:avLst>
          </a:prstGeom>
          <a:solidFill>
            <a:srgbClr val="D8D4D4"/>
          </a:solidFill>
          <a:ln/>
        </p:spPr>
      </p:sp>
      <p:sp>
        <p:nvSpPr>
          <p:cNvPr id="5" name="Shape 2"/>
          <p:cNvSpPr/>
          <p:nvPr/>
        </p:nvSpPr>
        <p:spPr>
          <a:xfrm>
            <a:off x="719063" y="1443484"/>
            <a:ext cx="316260" cy="14288"/>
          </a:xfrm>
          <a:prstGeom prst="roundRect">
            <a:avLst>
              <a:gd name="adj" fmla="val 110694"/>
            </a:avLst>
          </a:prstGeom>
          <a:solidFill>
            <a:srgbClr val="D8D4D4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1332012"/>
            <a:ext cx="237232" cy="23723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35670" y="1351806"/>
            <a:ext cx="1581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1884" y="1368251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Рост доли в ВВП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1884" y="1586657"/>
            <a:ext cx="4076998" cy="46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По оценкам, к 2030 году вклад ИИ в ВВП России составит от 1 до 2%, что эквивалентно триллионам рублей дополнительной экономической ценности.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19063" y="2345457"/>
            <a:ext cx="316260" cy="14288"/>
          </a:xfrm>
          <a:prstGeom prst="roundRect">
            <a:avLst>
              <a:gd name="adj" fmla="val 110694"/>
            </a:avLst>
          </a:prstGeom>
          <a:solidFill>
            <a:srgbClr val="D8D4D4"/>
          </a:solidFill>
          <a:ln/>
        </p:spPr>
      </p:sp>
      <p:sp>
        <p:nvSpPr>
          <p:cNvPr id="11" name="Shape 8"/>
          <p:cNvSpPr/>
          <p:nvPr/>
        </p:nvSpPr>
        <p:spPr>
          <a:xfrm>
            <a:off x="496119" y="2233985"/>
            <a:ext cx="237232" cy="23723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535670" y="2253779"/>
            <a:ext cx="1581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1884" y="2270224"/>
            <a:ext cx="1626691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Отечественные решения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1884" y="2488629"/>
            <a:ext cx="4076998" cy="46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Активное замещение зарубежных ИИ-платформ российскими разработками снижает технологическую зависимость и формирует суверенный рынок ИИ-продуктов.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19063" y="3247430"/>
            <a:ext cx="316260" cy="14288"/>
          </a:xfrm>
          <a:prstGeom prst="roundRect">
            <a:avLst>
              <a:gd name="adj" fmla="val 110694"/>
            </a:avLst>
          </a:prstGeom>
          <a:solidFill>
            <a:srgbClr val="D8D4D4"/>
          </a:solidFill>
          <a:ln/>
        </p:spPr>
      </p:sp>
      <p:sp>
        <p:nvSpPr>
          <p:cNvPr id="16" name="Shape 13"/>
          <p:cNvSpPr/>
          <p:nvPr/>
        </p:nvSpPr>
        <p:spPr>
          <a:xfrm>
            <a:off x="496119" y="3135957"/>
            <a:ext cx="237232" cy="23723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535670" y="3155752"/>
            <a:ext cx="1581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1884" y="3172197"/>
            <a:ext cx="1718295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Новые сферы применения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1884" y="3390602"/>
            <a:ext cx="4076998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Интеграция ИИ в образование, государственное управление, сельское хозяйство и транспорт создаёт новые предпринимательские ниши и рынки.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19063" y="3993356"/>
            <a:ext cx="316260" cy="14288"/>
          </a:xfrm>
          <a:prstGeom prst="roundRect">
            <a:avLst>
              <a:gd name="adj" fmla="val 110694"/>
            </a:avLst>
          </a:prstGeom>
          <a:solidFill>
            <a:srgbClr val="D8D4D4"/>
          </a:solidFill>
          <a:ln/>
        </p:spPr>
      </p:sp>
      <p:sp>
        <p:nvSpPr>
          <p:cNvPr id="21" name="Shape 18"/>
          <p:cNvSpPr/>
          <p:nvPr/>
        </p:nvSpPr>
        <p:spPr>
          <a:xfrm>
            <a:off x="496119" y="3881884"/>
            <a:ext cx="237232" cy="23723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2" name="Text 19"/>
          <p:cNvSpPr/>
          <p:nvPr/>
        </p:nvSpPr>
        <p:spPr>
          <a:xfrm>
            <a:off x="535670" y="3901678"/>
            <a:ext cx="1581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41884" y="3918124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Этика и стандарты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1884" y="4136529"/>
            <a:ext cx="4076998" cy="46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Формирование национальных этических норм и технических стандартов обеспечит ответственное и устойчивое использование ИИ в долгосрочной перспективе.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2958"/>
            <a:ext cx="758710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Заключение: ИИ как конкурентное преимущество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2154" y="1698054"/>
            <a:ext cx="796572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Искусственный интеллект — это не просто технология будущего. Это инструмент настоящего, определяющий конкурентоспособность российского предпринимательства уже сегодня.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58528"/>
            <a:ext cx="14288" cy="675977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374032"/>
            <a:ext cx="8151763" cy="1310060"/>
          </a:xfrm>
          <a:prstGeom prst="roundRect">
            <a:avLst>
              <a:gd name="adj" fmla="val 1420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374032"/>
            <a:ext cx="2717229" cy="1310060"/>
          </a:xfrm>
          <a:prstGeom prst="roundRect">
            <a:avLst>
              <a:gd name="adj" fmla="val 1420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20092" y="2498006"/>
            <a:ext cx="17325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Правовая грамотность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0092" y="2766268"/>
            <a:ext cx="24692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Знание ГОСТов, стратегических документов и норм ГК РФ в сфере ИИ — обязательное условие для ответственного предпринимателя.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3348" y="2374032"/>
            <a:ext cx="2717229" cy="131006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13348" y="2374032"/>
            <a:ext cx="14288" cy="1310060"/>
          </a:xfrm>
          <a:prstGeom prst="roundRect">
            <a:avLst>
              <a:gd name="adj" fmla="val 130228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3337322" y="2498006"/>
            <a:ext cx="230259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Использование господдержки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322" y="2766268"/>
            <a:ext cx="24692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Активное применение грантов, льгот ОЭЗ и программ РФРИТ даёт российским компаниям реальное преимущество при внедрении ИИ.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30578" y="2374032"/>
            <a:ext cx="2717229" cy="131006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30578" y="2374032"/>
            <a:ext cx="14288" cy="1310060"/>
          </a:xfrm>
          <a:prstGeom prst="roundRect">
            <a:avLst>
              <a:gd name="adj" fmla="val 130228"/>
            </a:avLst>
          </a:prstGeom>
          <a:solidFill>
            <a:srgbClr val="D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6054551" y="2498006"/>
            <a:ext cx="20605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Стратегическое мышление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54551" y="2766268"/>
            <a:ext cx="24692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Будущее бизнеса — за теми, кто интегрирует ИИ системно, с учётом правовых рисков, этических норм и долгосрочных целей развития.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119" y="382361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Студент: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Мухаметшин А.Р.  |  </a:t>
            </a: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Группа: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ББМО-01-25  |  </a:t>
            </a: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Дисциплина: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Правовое регулирование сферы ИИ и интеллектуальной собственности  |  </a:t>
            </a: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РТУ МИРЭА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1014</Words>
  <Application>Microsoft Office PowerPoint</Application>
  <PresentationFormat>Экран (16:9)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DM Sans Semi Bold</vt:lpstr>
      <vt:lpstr>Arial</vt:lpstr>
      <vt:lpstr>Calibri</vt:lpstr>
      <vt:lpstr>Inter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Alexandr Slasher</dc:creator>
  <cp:lastModifiedBy>Alexandr Slasher</cp:lastModifiedBy>
  <cp:revision>2</cp:revision>
  <dcterms:created xsi:type="dcterms:W3CDTF">2026-05-06T13:00:41Z</dcterms:created>
  <dcterms:modified xsi:type="dcterms:W3CDTF">2026-05-06T13:02:51Z</dcterms:modified>
</cp:coreProperties>
</file>