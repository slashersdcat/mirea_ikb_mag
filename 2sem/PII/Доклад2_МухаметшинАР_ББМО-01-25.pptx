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latypi Medium" panose="020B0604020202020204" charset="0"/>
      <p:regular r:id="rId17"/>
    </p:embeddedFont>
    <p:embeddedFont>
      <p:font typeface="Source Serif 4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8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95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4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" y="146447"/>
            <a:ext cx="5291138" cy="793670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67807" y="819269"/>
            <a:ext cx="1612821" cy="380524"/>
          </a:xfrm>
          <a:prstGeom prst="roundRect">
            <a:avLst>
              <a:gd name="adj" fmla="val 6161"/>
            </a:avLst>
          </a:prstGeom>
          <a:noFill/>
          <a:ln w="7620">
            <a:solidFill>
              <a:srgbClr val="3E251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92585" y="885468"/>
            <a:ext cx="1363266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РТУ МИРЭА • 202</a:t>
            </a:r>
            <a:r>
              <a:rPr lang="ru-RU" sz="12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67807" y="1276707"/>
            <a:ext cx="7581186" cy="122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Классификация искусственного интеллекта в праве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6267807" y="2834759"/>
            <a:ext cx="7581186" cy="14645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267807" y="3114556"/>
            <a:ext cx="2398871" cy="2982158"/>
          </a:xfrm>
          <a:prstGeom prst="roundRect">
            <a:avLst>
              <a:gd name="adj" fmla="val 1222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6463070" y="3309818"/>
            <a:ext cx="2008346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Дисциплина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63070" y="3730347"/>
            <a:ext cx="2008346" cy="217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Правовое регулирование сферы искусственного интеллекта и интеллектуальной собственности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858964" y="3114556"/>
            <a:ext cx="2398871" cy="2982158"/>
          </a:xfrm>
          <a:prstGeom prst="roundRect">
            <a:avLst>
              <a:gd name="adj" fmla="val 1222"/>
            </a:avLst>
          </a:prstGeom>
          <a:solidFill>
            <a:srgbClr val="F9F7F7"/>
          </a:solidFill>
          <a:ln/>
        </p:spPr>
      </p:sp>
      <p:sp>
        <p:nvSpPr>
          <p:cNvPr id="12" name="Text 9"/>
          <p:cNvSpPr/>
          <p:nvPr/>
        </p:nvSpPr>
        <p:spPr>
          <a:xfrm>
            <a:off x="9054227" y="3309818"/>
            <a:ext cx="2008346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Студент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054227" y="3730347"/>
            <a:ext cx="200834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Мухаметшин А.Р. Группа: ББМО-01-25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450122" y="3114556"/>
            <a:ext cx="2398871" cy="2982158"/>
          </a:xfrm>
          <a:prstGeom prst="roundRect">
            <a:avLst>
              <a:gd name="adj" fmla="val 1222"/>
            </a:avLst>
          </a:prstGeom>
          <a:solidFill>
            <a:srgbClr val="F9F7F7"/>
          </a:solidFill>
          <a:ln/>
        </p:spPr>
      </p:sp>
      <p:sp>
        <p:nvSpPr>
          <p:cNvPr id="15" name="Text 12"/>
          <p:cNvSpPr/>
          <p:nvPr/>
        </p:nvSpPr>
        <p:spPr>
          <a:xfrm>
            <a:off x="11645384" y="3309818"/>
            <a:ext cx="2008346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Преподаватель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1645384" y="3730347"/>
            <a:ext cx="200834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Самогин А.С.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67807" y="6289000"/>
            <a:ext cx="7581186" cy="1121212"/>
          </a:xfrm>
          <a:prstGeom prst="roundRect">
            <a:avLst>
              <a:gd name="adj" fmla="val 2614"/>
            </a:avLst>
          </a:prstGeom>
          <a:solidFill>
            <a:srgbClr val="F9F7F7"/>
          </a:solidFill>
          <a:ln/>
        </p:spPr>
      </p:sp>
      <p:sp>
        <p:nvSpPr>
          <p:cNvPr id="18" name="Text 15"/>
          <p:cNvSpPr/>
          <p:nvPr/>
        </p:nvSpPr>
        <p:spPr>
          <a:xfrm>
            <a:off x="6463070" y="6484263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Учреждение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463070" y="6904792"/>
            <a:ext cx="71906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РТУ МИРЭА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7" y="133945"/>
            <a:ext cx="5307806" cy="796170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0190" y="773668"/>
            <a:ext cx="1001792" cy="324326"/>
          </a:xfrm>
          <a:prstGeom prst="roundRect">
            <a:avLst>
              <a:gd name="adj" fmla="val 6609"/>
            </a:avLst>
          </a:prstGeom>
          <a:solidFill>
            <a:srgbClr val="F3E3D8"/>
          </a:solidFill>
          <a:ln/>
        </p:spPr>
      </p:sp>
      <p:sp>
        <p:nvSpPr>
          <p:cNvPr id="5" name="Text 2"/>
          <p:cNvSpPr/>
          <p:nvPr/>
        </p:nvSpPr>
        <p:spPr>
          <a:xfrm>
            <a:off x="6387346" y="827246"/>
            <a:ext cx="787479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ВВЕДЕНИЕ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80190" y="1162288"/>
            <a:ext cx="7556421" cy="1116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Искусственный интеллект в правовом поле России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280190" y="2519720"/>
            <a:ext cx="7556421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Стремительное и экспоненциальное развитие технологий искусственного интеллекта ставит принципиально новые вызовы перед юридической сферой. Правовая система России оказалась перед необходимостью выработки чёткой научной и нормативной базы для регулирования создания, применения и оборота систем ИИ.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7103" y="4063425"/>
            <a:ext cx="267891" cy="2678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60619" y="4057888"/>
            <a:ext cx="263675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Технологический вызов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860619" y="4433292"/>
            <a:ext cx="697599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Экспоненциальный рост возможностей ИИ опережает темпы формирования правовой базы, создавая нормативный вакуум.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7103" y="5303222"/>
            <a:ext cx="267891" cy="2678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60619" y="5297686"/>
            <a:ext cx="2375416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Научная потребность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860619" y="5673090"/>
            <a:ext cx="697599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Необходима единая система понятий, классификаций и критериев для корректного применения норм права к системам ИИ.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7103" y="6543020"/>
            <a:ext cx="267891" cy="2678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60619" y="6537484"/>
            <a:ext cx="3395901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Законодательные инициативы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6860619" y="6912888"/>
            <a:ext cx="697599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 России приняты стратегические документы и ГОСТы, формирующие первичную регуляторную основу для работы с ИИ.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51178"/>
            <a:ext cx="1038106" cy="373142"/>
          </a:xfrm>
          <a:prstGeom prst="roundRect">
            <a:avLst>
              <a:gd name="adj" fmla="val 6383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910709"/>
            <a:ext cx="79998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ПОНЯТИЕ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303615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Понятие искусственного интеллекта в российском праве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50915" y="2841427"/>
            <a:ext cx="7241381" cy="4536877"/>
          </a:xfrm>
          <a:prstGeom prst="roundRect">
            <a:avLst>
              <a:gd name="adj" fmla="val 656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3039785"/>
            <a:ext cx="251757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Общее определение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49273" y="3548301"/>
            <a:ext cx="684466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ИИ — система или машина, имитирующая поведение человека при выполнении сложных задач и способная к самосовершенствованию на основе обработки больших объёмов информации. В российском праве акцент делается на программно-аппаратном характере систем ИИ.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9273" y="5334357"/>
            <a:ext cx="32800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Позиция Корольковой Д.А.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49273" y="5842873"/>
            <a:ext cx="684466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ИИ рассматривается как интегрированная система аппаратных и программных компонентов, где именно программная часть является основополагающей и определяет юридическую природу объекта.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41149" y="3039785"/>
            <a:ext cx="33422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Юридическая сущность ИИ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241149" y="3548301"/>
            <a:ext cx="560296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 точки зрения действующего российского законодательства, ИИ квалифицируется прежде всего как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программа для ЭВМ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объект, охраняемый нормами авторского права в соответствии с частью четвёртой ГК РФ.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41149" y="5359241"/>
            <a:ext cx="5602962" cy="1795820"/>
          </a:xfrm>
          <a:prstGeom prst="roundRect">
            <a:avLst>
              <a:gd name="adj" fmla="val 1658"/>
            </a:avLst>
          </a:prstGeom>
          <a:solidFill>
            <a:srgbClr val="EDD5C4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507" y="5654516"/>
            <a:ext cx="248007" cy="1983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885873" y="5607129"/>
            <a:ext cx="475988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Такой подход позволяет применять к ИИ уже существующие правовые механизмы, однако не снимает вопроса о специальном регулировании.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631" y="146447"/>
            <a:ext cx="5291138" cy="793670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407" y="589002"/>
            <a:ext cx="1754029" cy="365284"/>
          </a:xfrm>
          <a:prstGeom prst="roundRect">
            <a:avLst>
              <a:gd name="adj" fmla="val 6418"/>
            </a:avLst>
          </a:prstGeom>
          <a:solidFill>
            <a:srgbClr val="F3E3D8"/>
          </a:solidFill>
          <a:ln/>
        </p:spPr>
      </p:sp>
      <p:sp>
        <p:nvSpPr>
          <p:cNvPr id="5" name="Text 2"/>
          <p:cNvSpPr/>
          <p:nvPr/>
        </p:nvSpPr>
        <p:spPr>
          <a:xfrm>
            <a:off x="898565" y="647581"/>
            <a:ext cx="1519714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СТАНДАРТИЗАЦИЯ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1407" y="1031200"/>
            <a:ext cx="7581186" cy="122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Основные подходы к классификации ИИ в РФ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81407" y="2540437"/>
            <a:ext cx="7581186" cy="155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Ключевым нормативно-техническим документом в сфере классификации систем ИИ в России является </a:t>
            </a: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ГОСТ Р 59277-2020 «Системы искусственного интеллекта. Классификация систем искусственного интеллекта»</a:t>
            </a: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Стандарт устанавливает единые принципы описания и сравнения систем ИИ по набору формализованных параметров.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1407" y="4307562"/>
            <a:ext cx="2398871" cy="3333036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9530" y="4525685"/>
            <a:ext cx="1962626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Цель стандарта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99530" y="4946213"/>
            <a:ext cx="1962626" cy="217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Повышение эффективности использования систем ИИ путём унификации их описания и сравнения.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72564" y="4307562"/>
            <a:ext cx="2398871" cy="3333036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90687" y="4525685"/>
            <a:ext cx="1962626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Область применения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590687" y="5251371"/>
            <a:ext cx="1962626" cy="217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Применяется при разработке, закупке и оценке систем ИИ в государственном и коммерческом секторах.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963722" y="4307562"/>
            <a:ext cx="2398871" cy="3333036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81844" y="4525685"/>
            <a:ext cx="1962626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Правовое значение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181844" y="5251371"/>
            <a:ext cx="1962626" cy="217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Является основой для сопоставления решений при государственном регулировании и стандартизации рынка ИИ.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74621"/>
            <a:ext cx="1547336" cy="348377"/>
          </a:xfrm>
          <a:prstGeom prst="roundRect">
            <a:avLst>
              <a:gd name="adj" fmla="val 6495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906899" y="831175"/>
            <a:ext cx="1321117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ГОСТ Р 59277-2020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1194554"/>
            <a:ext cx="13042821" cy="1178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Классификация по ГОСТ Р 59277-2020: ключевые параметры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3790" y="2641402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Стандарт предусматривает многомерную классификацию систем ИИ по шести ключевым параметрам, позволяющим всесторонне описать любую систему в целях регулирования, сравнения и применения.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431262"/>
            <a:ext cx="471368" cy="471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12646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Вид деятельности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93790" y="4528542"/>
            <a:ext cx="4198382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Автономный, полуавтономный или управляемый человеком режим работы системы.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6009" y="3431262"/>
            <a:ext cx="471368" cy="471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6009" y="412646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Структура знаний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5216009" y="4528542"/>
            <a:ext cx="4198382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Символьные, статистические или гибридные модели представления и обработки знаний.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8228" y="3431262"/>
            <a:ext cx="471368" cy="4713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8228" y="4126468"/>
            <a:ext cx="245685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Функции управления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638228" y="4528542"/>
            <a:ext cx="4198382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Обучение, адаптация, принятие решений — составляющие контура управления системы.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769293"/>
            <a:ext cx="471368" cy="4713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3790" y="646449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Безопасность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793790" y="6866573"/>
            <a:ext cx="4198382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Уровни защиты данных и программно-аппаратных компонентов системы ИИ.</a:t>
            </a:r>
            <a:endParaRPr lang="en-US" sz="14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16009" y="5769293"/>
            <a:ext cx="471368" cy="4713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16009" y="6464498"/>
            <a:ext cx="279546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Степень автоматизации</a:t>
            </a:r>
            <a:endParaRPr lang="en-US" sz="1850" dirty="0"/>
          </a:p>
        </p:txBody>
      </p:sp>
      <p:sp>
        <p:nvSpPr>
          <p:cNvPr id="20" name="Text 13"/>
          <p:cNvSpPr/>
          <p:nvPr/>
        </p:nvSpPr>
        <p:spPr>
          <a:xfrm>
            <a:off x="5216009" y="6866573"/>
            <a:ext cx="4198382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Спектр от ручного управления до полной автономии системы без участия человека.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20046"/>
            <a:ext cx="1994297" cy="373142"/>
          </a:xfrm>
          <a:prstGeom prst="roundRect">
            <a:avLst>
              <a:gd name="adj" fmla="val 6383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379577"/>
            <a:ext cx="175617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ПРАВОВЫЕ ПОДХОДЫ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772483"/>
            <a:ext cx="1156918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Иные подходы к классификации ИИ в праве РФ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50915" y="2690217"/>
            <a:ext cx="6565106" cy="4219337"/>
          </a:xfrm>
          <a:prstGeom prst="roundRect">
            <a:avLst>
              <a:gd name="adj" fmla="val 706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2888575"/>
            <a:ext cx="36383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Гражданско-правовой подход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49273" y="3397091"/>
            <a:ext cx="6168390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 рамках данного подхода система ИИ рассматривается как </a:t>
            </a:r>
            <a:r>
              <a:rPr lang="en-US" sz="15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программа для ЭВМ</a:t>
            </a: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объект гражданских прав, подпадающий под охрану ч. IV ГК РФ. Королькова Д.А. предлагает дополнительную классификацию программ ИИ по функциональному назначению и степени автономности их поведения при создании результатов.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2888575"/>
            <a:ext cx="346209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По признаку субъекта права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64874" y="3397091"/>
            <a:ext cx="6279356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Ряд исследователей — Макаров Т.И., Воротилина Т.В., Коротченко А.В. — рассматривают ИИ исключительно как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объект права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(программу, базу данных), ставя вопрос об ответственности разработчиков и операторов. Дискутируется возможность наделения ИИ ограниченной правосубъектностью в будущем.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564874" y="5525572"/>
            <a:ext cx="6279356" cy="1160740"/>
          </a:xfrm>
          <a:prstGeom prst="roundRect">
            <a:avLst>
              <a:gd name="adj" fmla="val 2565"/>
            </a:avLst>
          </a:prstGeom>
          <a:solidFill>
            <a:srgbClr val="EDD5C4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32" y="5820847"/>
            <a:ext cx="248007" cy="1983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09598" y="5773460"/>
            <a:ext cx="5436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Вопрос о правовом статусе ИИ остаётся одним из наиболее острых в российской правовой доктрине.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" y="118943"/>
            <a:ext cx="5327809" cy="79917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0190" y="643652"/>
            <a:ext cx="2742843" cy="278130"/>
          </a:xfrm>
          <a:prstGeom prst="roundRect">
            <a:avLst>
              <a:gd name="adj" fmla="val 6851"/>
            </a:avLst>
          </a:prstGeom>
          <a:solidFill>
            <a:srgbClr val="F3E3D8"/>
          </a:solidFill>
          <a:ln/>
        </p:spPr>
      </p:sp>
      <p:sp>
        <p:nvSpPr>
          <p:cNvPr id="5" name="Text 2"/>
          <p:cNvSpPr/>
          <p:nvPr/>
        </p:nvSpPr>
        <p:spPr>
          <a:xfrm>
            <a:off x="6375440" y="691277"/>
            <a:ext cx="25523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ИНТЕЛЛЕКТУАЛЬНАЯ СОБСТВЕННОСТЬ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80190" y="972503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Искусственный интеллект как объект интеллектуальной собственности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280190" y="2155269"/>
            <a:ext cx="755642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Программы ИИ и результаты их деятельности — тексты, изображения, музыкальные произведения, базы данных — потенциально являются объектами авторского права. Вопрос о том, кому принадлежат исключительные права на такие результаты, остаётся дискуссионным в российской науке.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80190" y="3212544"/>
            <a:ext cx="7556421" cy="1373148"/>
          </a:xfrm>
          <a:prstGeom prst="roundRect">
            <a:avLst>
              <a:gd name="adj" fmla="val 799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57330" y="3212544"/>
            <a:ext cx="91440" cy="1373148"/>
          </a:xfrm>
          <a:prstGeom prst="roundRect">
            <a:avLst>
              <a:gd name="adj" fmla="val 26046"/>
            </a:avLst>
          </a:prstGeom>
          <a:solidFill>
            <a:srgbClr val="3E2513"/>
          </a:solidFill>
          <a:ln/>
        </p:spPr>
      </p:sp>
      <p:sp>
        <p:nvSpPr>
          <p:cNvPr id="10" name="Text 7"/>
          <p:cNvSpPr/>
          <p:nvPr/>
        </p:nvSpPr>
        <p:spPr>
          <a:xfrm>
            <a:off x="6530340" y="3394115"/>
            <a:ext cx="344304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Авторское право на результаты ИИ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530340" y="3718322"/>
            <a:ext cx="7124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Круглов А.Ю. исследует механизмы распределения авторских прав между разработчиком, пользователем и оператором системы ИИ при создании творческих результатов интеллектуальной деятельности.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80190" y="4712613"/>
            <a:ext cx="7556421" cy="1373148"/>
          </a:xfrm>
          <a:prstGeom prst="roundRect">
            <a:avLst>
              <a:gd name="adj" fmla="val 799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7330" y="4712613"/>
            <a:ext cx="91440" cy="1373148"/>
          </a:xfrm>
          <a:prstGeom prst="roundRect">
            <a:avLst>
              <a:gd name="adj" fmla="val 26046"/>
            </a:avLst>
          </a:prstGeom>
          <a:solidFill>
            <a:srgbClr val="3E2513"/>
          </a:solidFill>
          <a:ln/>
        </p:spPr>
      </p:sp>
      <p:sp>
        <p:nvSpPr>
          <p:cNvPr id="14" name="Text 11"/>
          <p:cNvSpPr/>
          <p:nvPr/>
        </p:nvSpPr>
        <p:spPr>
          <a:xfrm>
            <a:off x="6530340" y="4894183"/>
            <a:ext cx="234136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Необходимость реформ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530340" y="5218390"/>
            <a:ext cx="7124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Существующий правовой режим требует корректировки гражданского, административного и уголовного законодательства применительно к специфике систем ИИ и генерируемых ими объектов.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80190" y="6212681"/>
            <a:ext cx="7556421" cy="1373148"/>
          </a:xfrm>
          <a:prstGeom prst="roundRect">
            <a:avLst>
              <a:gd name="adj" fmla="val 799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57330" y="6212681"/>
            <a:ext cx="91440" cy="1373148"/>
          </a:xfrm>
          <a:prstGeom prst="roundRect">
            <a:avLst>
              <a:gd name="adj" fmla="val 26046"/>
            </a:avLst>
          </a:prstGeom>
          <a:solidFill>
            <a:srgbClr val="3E2513"/>
          </a:solidFill>
          <a:ln/>
        </p:spPr>
      </p:sp>
      <p:sp>
        <p:nvSpPr>
          <p:cNvPr id="18" name="Text 15"/>
          <p:cNvSpPr/>
          <p:nvPr/>
        </p:nvSpPr>
        <p:spPr>
          <a:xfrm>
            <a:off x="6530340" y="6394252"/>
            <a:ext cx="23399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Практические коллизии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530340" y="6718459"/>
            <a:ext cx="7124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Действующие нормы ГК РФ предполагают, что автором может быть только физическое лицо. Это создаёт правовой пробел при оценке произведений, самостоятельно созданных системами ИИ.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814" y="429578"/>
            <a:ext cx="1820347" cy="262652"/>
          </a:xfrm>
          <a:prstGeom prst="roundRect">
            <a:avLst>
              <a:gd name="adj" fmla="val 6943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698897" y="475059"/>
            <a:ext cx="1638181" cy="17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ВЫЗОВЫ И ПЕРСПЕКТИВЫ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07814" y="738664"/>
            <a:ext cx="11741706" cy="474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Вызовы и перспективы правового регулирования ИИ в России</a:t>
            </a:r>
            <a:endParaRPr lang="en-US" sz="2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14" y="1387912"/>
            <a:ext cx="10485120" cy="58521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14" y="1387912"/>
            <a:ext cx="10485120" cy="5852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7814" y="7370921"/>
            <a:ext cx="13414772" cy="429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Россия нуждается в системном подходе к регулированию ИИ: действующие стратегические документы (Национальная стратегия развития ИИ до 2030 года) создают лишь рамочные условия, тогда как специализированного закона об ИИ в стране до сих пор не принято.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868" y="131802"/>
            <a:ext cx="5310664" cy="79659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407" y="742117"/>
            <a:ext cx="1232059" cy="317540"/>
          </a:xfrm>
          <a:prstGeom prst="roundRect">
            <a:avLst>
              <a:gd name="adj" fmla="val 6645"/>
            </a:avLst>
          </a:prstGeom>
          <a:solidFill>
            <a:srgbClr val="F3E3D8"/>
          </a:solidFill>
          <a:ln/>
        </p:spPr>
      </p:sp>
      <p:sp>
        <p:nvSpPr>
          <p:cNvPr id="5" name="Text 2"/>
          <p:cNvSpPr/>
          <p:nvPr/>
        </p:nvSpPr>
        <p:spPr>
          <a:xfrm>
            <a:off x="886897" y="794861"/>
            <a:ext cx="1021080" cy="21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ЗАКЛЮЧЕНИЕ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81407" y="1121926"/>
            <a:ext cx="7581186" cy="1098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Путь к комплексному регулированию</a:t>
            </a:r>
            <a:endParaRPr lang="en-US" sz="3450" dirty="0"/>
          </a:p>
        </p:txBody>
      </p:sp>
      <p:sp>
        <p:nvSpPr>
          <p:cNvPr id="7" name="Text 4"/>
          <p:cNvSpPr/>
          <p:nvPr/>
        </p:nvSpPr>
        <p:spPr>
          <a:xfrm>
            <a:off x="781407" y="2454473"/>
            <a:ext cx="7581186" cy="795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Проведённый анализ показывает, что Россия находится на начальном, но важном этапе формирования правовой базы для регулирования систем искусственного интеллекта.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57263" y="3689152"/>
            <a:ext cx="175736" cy="986314"/>
          </a:xfrm>
          <a:prstGeom prst="roundRect">
            <a:avLst>
              <a:gd name="adj" fmla="val 15009"/>
            </a:avLst>
          </a:pr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781407" y="3573780"/>
            <a:ext cx="527447" cy="527447"/>
          </a:xfrm>
          <a:prstGeom prst="roundRect">
            <a:avLst>
              <a:gd name="adj" fmla="val 86682"/>
            </a:avLst>
          </a:prstGeom>
          <a:solidFill>
            <a:srgbClr val="F9F7F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209" y="3705701"/>
            <a:ext cx="263723" cy="2637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4588" y="3601164"/>
            <a:ext cx="340161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Стандартизация как фундамент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64588" y="3969306"/>
            <a:ext cx="6898005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ГОСТ Р 59277-2020 — важный шаг к унификации классификации систем ИИ и основа для будущего законодательства.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220986" y="5095042"/>
            <a:ext cx="175736" cy="986314"/>
          </a:xfrm>
          <a:prstGeom prst="roundRect">
            <a:avLst>
              <a:gd name="adj" fmla="val 15009"/>
            </a:avLst>
          </a:prstGeom>
          <a:solidFill>
            <a:srgbClr val="F9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1045131" y="4979670"/>
            <a:ext cx="527447" cy="527447"/>
          </a:xfrm>
          <a:prstGeom prst="roundRect">
            <a:avLst>
              <a:gd name="adj" fmla="val 86682"/>
            </a:avLst>
          </a:prstGeom>
          <a:solidFill>
            <a:srgbClr val="F9F7F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6933" y="5111591"/>
            <a:ext cx="263723" cy="2637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28311" y="5007054"/>
            <a:ext cx="254150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Сравнительный анализ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728311" y="5375196"/>
            <a:ext cx="6634282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Сопоставление российских и европейских подходов (EU AI Act) позволит выработать эффективные регуляторные решения.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1484709" y="6500932"/>
            <a:ext cx="175736" cy="986314"/>
          </a:xfrm>
          <a:prstGeom prst="roundRect">
            <a:avLst>
              <a:gd name="adj" fmla="val 15009"/>
            </a:avLst>
          </a:prstGeom>
          <a:solidFill>
            <a:srgbClr val="F9F7F7"/>
          </a:solidFill>
          <a:ln/>
        </p:spPr>
      </p:sp>
      <p:sp>
        <p:nvSpPr>
          <p:cNvPr id="19" name="Shape 14"/>
          <p:cNvSpPr/>
          <p:nvPr/>
        </p:nvSpPr>
        <p:spPr>
          <a:xfrm>
            <a:off x="1308854" y="6385560"/>
            <a:ext cx="527447" cy="527447"/>
          </a:xfrm>
          <a:prstGeom prst="roundRect">
            <a:avLst>
              <a:gd name="adj" fmla="val 86682"/>
            </a:avLst>
          </a:prstGeom>
          <a:solidFill>
            <a:srgbClr val="F9F7F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0656" y="6517481"/>
            <a:ext cx="263723" cy="26372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92035" y="6412944"/>
            <a:ext cx="3438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Комплексный нормативный акт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992035" y="6781086"/>
            <a:ext cx="6370558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России необходима разработка специального закона об ИИ, охватывающего вопросы классификации, ответственности и прав ИС.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179" y="148709"/>
            <a:ext cx="5288042" cy="7932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209800"/>
            <a:ext cx="7469505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Спасибо за внимание!</a:t>
            </a:r>
            <a:endParaRPr lang="en-US" sz="5350" dirty="0"/>
          </a:p>
        </p:txBody>
      </p:sp>
      <p:sp>
        <p:nvSpPr>
          <p:cNvPr id="5" name="Shape 2"/>
          <p:cNvSpPr/>
          <p:nvPr/>
        </p:nvSpPr>
        <p:spPr>
          <a:xfrm>
            <a:off x="793790" y="3412807"/>
            <a:ext cx="7556421" cy="148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370046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Если у вас есть вопросы по теме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«Классификация искусственного интеллекта в праве»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готов ответить.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4558784"/>
            <a:ext cx="2386489" cy="1461016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992148" y="4757142"/>
            <a:ext cx="19897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Студент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92148" y="5186363"/>
            <a:ext cx="19897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Мухаметшин А.Р. Группа ББМО-01-25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3378637" y="4558784"/>
            <a:ext cx="2386608" cy="1461016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3576995" y="4757142"/>
            <a:ext cx="19898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Преподаватель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3576995" y="5186363"/>
            <a:ext cx="19898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Самогин А.С.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963603" y="4558784"/>
            <a:ext cx="2386608" cy="1461016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6161961" y="4757142"/>
            <a:ext cx="19898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Учреждение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161961" y="5186363"/>
            <a:ext cx="19898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РТУ МИРЭА, 2025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</Words>
  <Application>Microsoft Office PowerPoint</Application>
  <PresentationFormat>Произвольный</PresentationFormat>
  <Paragraphs>96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Platypi Medium</vt:lpstr>
      <vt:lpstr>Calibri</vt:lpstr>
      <vt:lpstr>Source Serif 4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Alexandr Slasher</dc:creator>
  <cp:lastModifiedBy>Alexandr Slasher</cp:lastModifiedBy>
  <cp:revision>2</cp:revision>
  <dcterms:created xsi:type="dcterms:W3CDTF">2026-04-13T09:01:22Z</dcterms:created>
  <dcterms:modified xsi:type="dcterms:W3CDTF">2026-04-13T09:02:22Z</dcterms:modified>
</cp:coreProperties>
</file>