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Barlow Light" panose="00000400000000000000" pitchFamily="2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Montserrat" panose="00000500000000000000" pitchFamily="2" charset="-52"/>
      <p:regular r:id="rId18"/>
      <p:bold r:id="rId1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9792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5.png"/><Relationship Id="rId9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786259"/>
            <a:ext cx="4767114" cy="1169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Правовое регулирование блокчейн-технологий в финансовом секторе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3902943" y="2133079"/>
            <a:ext cx="4767114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Дисциплина: «Правовое регулирование сферы искусственного интеллекта и интеллектуальной собственности»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902943" y="2645420"/>
            <a:ext cx="2324323" cy="891406"/>
          </a:xfrm>
          <a:prstGeom prst="roundRect">
            <a:avLst>
              <a:gd name="adj" fmla="val 19938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26173" y="2768650"/>
            <a:ext cx="15589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Студент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026173" y="3034531"/>
            <a:ext cx="2077864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Мухаметшин А.Р.</a:t>
            </a:r>
            <a:endParaRPr lang="en-US" sz="9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Группа ББМО-01-25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345734" y="2645420"/>
            <a:ext cx="2324323" cy="891406"/>
          </a:xfrm>
          <a:prstGeom prst="roundRect">
            <a:avLst>
              <a:gd name="adj" fmla="val 19938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68963" y="2768650"/>
            <a:ext cx="15589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Преподаватель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68963" y="3034531"/>
            <a:ext cx="2077864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Самогин А.С.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902943" y="3655293"/>
            <a:ext cx="4767114" cy="701873"/>
          </a:xfrm>
          <a:prstGeom prst="roundRect">
            <a:avLst>
              <a:gd name="adj" fmla="val 25322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26173" y="3778523"/>
            <a:ext cx="15589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Университет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026173" y="4044404"/>
            <a:ext cx="4520654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РТУ МИРЭА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3943" y="348481"/>
            <a:ext cx="4767114" cy="662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Введение: Блокчейн и Финансовый Сектор</a:t>
            </a:r>
            <a:endParaRPr lang="en-US" sz="2050" dirty="0"/>
          </a:p>
        </p:txBody>
      </p:sp>
      <p:sp>
        <p:nvSpPr>
          <p:cNvPr id="4" name="Text 1"/>
          <p:cNvSpPr/>
          <p:nvPr/>
        </p:nvSpPr>
        <p:spPr>
          <a:xfrm>
            <a:off x="473943" y="1139428"/>
            <a:ext cx="4767114" cy="595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Блокчейн-технология стала основой для принципиально новых финансовых инструментов и процессов, трансформируя традиционные подходы к проведению транзакций, учёту активов и обеспечению безопасности данных. Распределённый реестр обеспечивает неизменность и прозрачность записей без посредников.</a:t>
            </a:r>
            <a:endParaRPr lang="en-US" sz="7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3943" y="1831628"/>
            <a:ext cx="251743" cy="25174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3943" y="2190378"/>
            <a:ext cx="2072580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Прозрачность и безопасность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473943" y="2407369"/>
            <a:ext cx="4767114" cy="297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Блокчейн обеспечивает высокую степень защиты данных и неизменность записей, снижая риски мошенничества и ошибок в финансовых операциях.</a:t>
            </a:r>
            <a:endParaRPr lang="en-US" sz="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943" y="2876476"/>
            <a:ext cx="251743" cy="25174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73943" y="3235226"/>
            <a:ext cx="1976884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Эффективность транзакций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473943" y="3452217"/>
            <a:ext cx="4767114" cy="297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Технология позволяет проводить расчёты быстрее и дешевле за счёт исключения посредников и автоматизации процессов через смарт-контракты.</a:t>
            </a:r>
            <a:endParaRPr lang="en-US" sz="7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3943" y="3921323"/>
            <a:ext cx="251743" cy="25174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73943" y="4280074"/>
            <a:ext cx="2201317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Необходимость регулирования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473943" y="4497065"/>
            <a:ext cx="4767114" cy="297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Активное внедрение блокчейна требует формирования чёткой правовой базы для защиты участников рынка и обеспечения стабильности финансовой системы.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817959"/>
            <a:ext cx="6191027" cy="3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Ключевые Законодательные Акты РФ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73943" y="1444600"/>
            <a:ext cx="8196114" cy="568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Российское законодательство в сфере блокчейн-технологий формируется вокруг двух ключевых федеральных законов, принятых в 2020 году и актуализированных в 2024 году. Они закладывают нормативный фундамент для оборота цифровых активов и функционирования финансовых платформ.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88665" y="2146474"/>
            <a:ext cx="4124102" cy="2178993"/>
          </a:xfrm>
          <a:prstGeom prst="roundRect">
            <a:avLst>
              <a:gd name="adj" fmla="val 13050"/>
            </a:avLst>
          </a:prstGeom>
          <a:solidFill>
            <a:srgbClr val="063E5F"/>
          </a:solidFill>
          <a:ln/>
        </p:spPr>
      </p:sp>
      <p:sp>
        <p:nvSpPr>
          <p:cNvPr id="5" name="Text 3"/>
          <p:cNvSpPr/>
          <p:nvPr/>
        </p:nvSpPr>
        <p:spPr>
          <a:xfrm>
            <a:off x="507132" y="2264941"/>
            <a:ext cx="2441451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Федеральный закон № 259-ФЗ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132" y="2578224"/>
            <a:ext cx="3887167" cy="568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«О цифровых финансовых активах, цифровой валюте и о внесении изменений в отдельные законодательные акты Российской Федерации» (от 31.07.2020, ред. от 28.12.2024)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7132" y="3253457"/>
            <a:ext cx="3887167" cy="103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Определяет понятия «цифровой финансовый актив» (ЦФА) и «цифровая валюта»</a:t>
            </a:r>
            <a:endParaRPr lang="en-US" sz="9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Устанавливает правила выпуска, учёта и обращения ЦФА</a:t>
            </a:r>
            <a:endParaRPr lang="en-US" sz="9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Запрещает использование цифровой валюты как средства платежа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21275" y="2264941"/>
            <a:ext cx="2385194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Федеральный закон № 211-ФЗ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21275" y="2578224"/>
            <a:ext cx="3953545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«О совершении финансовых сделок с использованием финансовой платформы» (от 20.07.2020)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21275" y="3063925"/>
            <a:ext cx="3953545" cy="1220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Регулирует деятельность операторов финансовых платформ</a:t>
            </a:r>
            <a:endParaRPr lang="en-US" sz="9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Определяет порядок совершения финансовых сделок через платформы</a:t>
            </a:r>
            <a:endParaRPr lang="en-US" sz="9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Предусматривает возможность использования блокчейн-технологий для обеспечения функционала платформ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780901"/>
            <a:ext cx="8196114" cy="779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Цифровые Финансовые Активы (ЦФА) в Законодательстве РФ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73943" y="1797248"/>
            <a:ext cx="8196114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Федеральный закон № 259-ФЗ вводит понятие цифрового финансового актива как объекта гражданских прав, что придаёт ему правовой статус, аналогичный традиционным финансовым инструментам, но с учётом цифровой природы.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73943" y="2309589"/>
            <a:ext cx="2653010" cy="2052935"/>
          </a:xfrm>
          <a:prstGeom prst="roundRect">
            <a:avLst>
              <a:gd name="adj" fmla="val 3341"/>
            </a:avLst>
          </a:prstGeom>
          <a:solidFill>
            <a:srgbClr val="FFFFFF"/>
          </a:solidFill>
          <a:ln w="14288">
            <a:solidFill>
              <a:srgbClr val="BACFDD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656" y="2309589"/>
            <a:ext cx="57150" cy="20529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9560" y="2442344"/>
            <a:ext cx="1750963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Правовой статус ЦФА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9560" y="2708225"/>
            <a:ext cx="2344638" cy="1326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ЦФА приравниваются к объектам гражданских прав согласно Гражданскому кодексу РФ. Однако они </a:t>
            </a:r>
            <a:r>
              <a:rPr lang="en-US" sz="9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являются средством платежа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не могут использоваться для расчётов за товары и услуги наравне с национальной валютой.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45421" y="2309589"/>
            <a:ext cx="2653085" cy="2052935"/>
          </a:xfrm>
          <a:prstGeom prst="roundRect">
            <a:avLst>
              <a:gd name="adj" fmla="val 3341"/>
            </a:avLst>
          </a:prstGeom>
          <a:solidFill>
            <a:srgbClr val="FFFFFF"/>
          </a:solidFill>
          <a:ln w="14288">
            <a:solidFill>
              <a:srgbClr val="BACFDD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1133" y="2309589"/>
            <a:ext cx="57150" cy="20529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21038" y="2442344"/>
            <a:ext cx="2344713" cy="389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Операторы информационных систем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421038" y="2903041"/>
            <a:ext cx="2344713" cy="1326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Закон определяет операторов информационных систем, выпускающих и учитывающих ЦФА. Операторы обязаны быть включены в реестр Банка России и соблюдать требования по раскрытию информации и защите данных.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016972" y="2309589"/>
            <a:ext cx="2653010" cy="2052935"/>
          </a:xfrm>
          <a:prstGeom prst="roundRect">
            <a:avLst>
              <a:gd name="adj" fmla="val 3341"/>
            </a:avLst>
          </a:prstGeom>
          <a:solidFill>
            <a:srgbClr val="FFFFFF"/>
          </a:solidFill>
          <a:ln w="14288">
            <a:solidFill>
              <a:srgbClr val="BACFDD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2685" y="2309589"/>
            <a:ext cx="57150" cy="205293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92589" y="2442344"/>
            <a:ext cx="1974800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Ограничения и запреты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192589" y="2708225"/>
            <a:ext cx="2344638" cy="1516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 территории Российской Федерации установлен </a:t>
            </a:r>
            <a:r>
              <a:rPr lang="en-US" sz="9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прямой запрет на использование цифровой валюты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для оплаты товаров и услуг. Данное ограничение направлено на защиту денежной системы страны и предотвращение рисков для потребителей.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1023789"/>
            <a:ext cx="7748215" cy="3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Цифровая Валюта и Майнинг: Правовой Статус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73943" y="1709663"/>
            <a:ext cx="15589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Цифровая валюта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3943" y="2022946"/>
            <a:ext cx="3953545" cy="9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Согласно № 259-ФЗ, цифровая валюта определяется как совокупность электронных данных (цифрового кода или обозначения), содержащихся в информационной системе и предлагаемых в качестве средства платежа, не являющегося денежной единицей РФ или иностранного государства.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73943" y="3103885"/>
            <a:ext cx="3953545" cy="882551"/>
          </a:xfrm>
          <a:prstGeom prst="roundRect">
            <a:avLst>
              <a:gd name="adj" fmla="val 20138"/>
            </a:avLst>
          </a:prstGeom>
          <a:solidFill>
            <a:srgbClr val="FCF2B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10" y="3281660"/>
            <a:ext cx="148084" cy="1184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8962" y="3251969"/>
            <a:ext cx="3450059" cy="568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Важно:</a:t>
            </a: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Цифровая валюта не признаётся законным платёжным средством на территории России. Её оборот регулируется отдельно от ЦФА.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635996" y="1591196"/>
            <a:ext cx="4124102" cy="2528515"/>
          </a:xfrm>
          <a:prstGeom prst="roundRect">
            <a:avLst>
              <a:gd name="adj" fmla="val 11246"/>
            </a:avLst>
          </a:prstGeom>
          <a:solidFill>
            <a:srgbClr val="063E5F"/>
          </a:solidFill>
          <a:ln/>
        </p:spPr>
      </p:sp>
      <p:sp>
        <p:nvSpPr>
          <p:cNvPr id="9" name="Text 6"/>
          <p:cNvSpPr/>
          <p:nvPr/>
        </p:nvSpPr>
        <p:spPr>
          <a:xfrm>
            <a:off x="4754463" y="1709663"/>
            <a:ext cx="2095426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Майнинг: регулирование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754463" y="2022946"/>
            <a:ext cx="3887167" cy="568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Майнинг (добыча цифровой валюты) регулируется отдельными положениями законодательства. </a:t>
            </a: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Федеральный закон № 349-ФЗ</a:t>
            </a: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от 25.10.2024 вносит ключевые изменения: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754463" y="2698179"/>
            <a:ext cx="3887167" cy="1220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Устанавливает запрет на майнинг в отдельных субъектах РФ</a:t>
            </a:r>
            <a:endParaRPr lang="en-US" sz="9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Вводит требования к энергопотреблению майнинговых мощностей</a:t>
            </a:r>
            <a:endParaRPr lang="en-US" sz="9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Определяет порядок налогообложения доходов от майнинга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1108546"/>
            <a:ext cx="6076801" cy="3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Финансовые Платформы и Блокчейн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73943" y="1735187"/>
            <a:ext cx="8196114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Федеральный закон № 211-ФЗ создаёт правовую основу для функционирования финансовых платформ, которые могут использовать блокчейн-технологии для повышения прозрачности и безопасности проводимых операций.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43" y="2247528"/>
            <a:ext cx="885230" cy="8852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7257" y="2247528"/>
            <a:ext cx="2859063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Операторы финансовых платформ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507257" y="2513409"/>
            <a:ext cx="2990701" cy="1326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Операторами признаются юридические лица, обеспечивающие взаимодействие между финансовыми организациями и клиентами для совершения финансовых сделок. Они несут ответственность за соблюдение требований законодательства и защиту интересов участников.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6042" y="2247528"/>
            <a:ext cx="885230" cy="8852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79356" y="2247528"/>
            <a:ext cx="2990701" cy="389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Применение блокчейна на платформах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679356" y="2708225"/>
            <a:ext cx="2990701" cy="1326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Хотя прямое упоминание блокчейна в тексте закона № 211-ФЗ отсутствует, технология подразумевается как инструмент обеспечения функционала платформ. Блокчейн позволяет повысить прозрачность транзакций, обеспечить неизменность записей и снизить операционные риски.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940519"/>
            <a:ext cx="6614592" cy="3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Экспериментальные Правовые Режимы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73943" y="1567160"/>
            <a:ext cx="8196114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Для стимулирования инноваций в финансовом секторе в России создан специальный правовой механизм — «регуляторные песочницы», позволяющие тестировать новые технологии в контролируемой среде.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73943" y="2079501"/>
            <a:ext cx="2653010" cy="2123405"/>
          </a:xfrm>
          <a:prstGeom prst="roundRect">
            <a:avLst>
              <a:gd name="adj" fmla="val 8370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73" y="2202731"/>
            <a:ext cx="355402" cy="35540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4879" y="2300436"/>
            <a:ext cx="159916" cy="1599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7173" y="2676599"/>
            <a:ext cx="15589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Правовая основа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97173" y="2942481"/>
            <a:ext cx="2406551" cy="1137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Федеральный закон «Об экспериментальных правовых режимах в сфере цифровых инноваций в Российской Федерации» создаёт нормативную базу для тестирования блокчейн-решений.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3245421" y="2079501"/>
            <a:ext cx="2653085" cy="2123405"/>
          </a:xfrm>
          <a:prstGeom prst="roundRect">
            <a:avLst>
              <a:gd name="adj" fmla="val 8370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8650" y="2202731"/>
            <a:ext cx="355402" cy="355402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66356" y="2300436"/>
            <a:ext cx="159916" cy="15991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368650" y="2676599"/>
            <a:ext cx="1943174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«Правовые песочницы»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3368650" y="2942481"/>
            <a:ext cx="2406625" cy="1137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Режимы позволяют участникам рынка апробировать инновационные финансовые продукты с минимальным нормативным риском, не нарушая действующего законодательства.</a:t>
            </a:r>
            <a:endParaRPr lang="en-US" sz="900" dirty="0"/>
          </a:p>
        </p:txBody>
      </p:sp>
      <p:sp>
        <p:nvSpPr>
          <p:cNvPr id="14" name="Shape 8"/>
          <p:cNvSpPr/>
          <p:nvPr/>
        </p:nvSpPr>
        <p:spPr>
          <a:xfrm>
            <a:off x="6016972" y="2079501"/>
            <a:ext cx="2653010" cy="2123405"/>
          </a:xfrm>
          <a:prstGeom prst="roundRect">
            <a:avLst>
              <a:gd name="adj" fmla="val 8370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0202" y="2202731"/>
            <a:ext cx="355402" cy="355402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37908" y="2300436"/>
            <a:ext cx="159916" cy="15991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140202" y="2676599"/>
            <a:ext cx="1795909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Адаптация продуктов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6140202" y="2942481"/>
            <a:ext cx="2406551" cy="1137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Экспериментальные режимы способствуют совершенствованию инновационных продуктов и формированию оптимальных регуляторных подходов до их массового внедрения.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718765"/>
            <a:ext cx="7266533" cy="3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Перспективы Развития и Ключевые Вызовы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73943" y="1404640"/>
            <a:ext cx="1917353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Перспективы развития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368" y="1738536"/>
            <a:ext cx="177701" cy="1777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8962" y="1732731"/>
            <a:ext cx="3568526" cy="758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Совершенствование законодательства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постоянное обновление нормативной базы в ответ на технологический прогресс и появление новых финансовых инструментов.</a:t>
            </a:r>
            <a:endParaRPr lang="en-US" sz="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368" y="2733601"/>
            <a:ext cx="177701" cy="1777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8962" y="2727796"/>
            <a:ext cx="3568526" cy="758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Международное сотрудничество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гармонизация подходов к регулированию блокчейн-технологий с зарубежными юрисдикциями и международными стандартами.</a:t>
            </a:r>
            <a:endParaRPr lang="en-US" sz="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368" y="3728665"/>
            <a:ext cx="177701" cy="17770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8962" y="3722861"/>
            <a:ext cx="3568526" cy="568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Цифровой рубль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пилотные проекты Банка России по внедрению цифровой национальной валюты на базе блокчейн-технологий.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4635996" y="1286173"/>
            <a:ext cx="4124102" cy="3138562"/>
          </a:xfrm>
          <a:prstGeom prst="roundRect">
            <a:avLst>
              <a:gd name="adj" fmla="val 9060"/>
            </a:avLst>
          </a:prstGeom>
          <a:solidFill>
            <a:srgbClr val="063E5F"/>
          </a:solidFill>
          <a:ln/>
        </p:spPr>
      </p:sp>
      <p:sp>
        <p:nvSpPr>
          <p:cNvPr id="11" name="Text 6"/>
          <p:cNvSpPr/>
          <p:nvPr/>
        </p:nvSpPr>
        <p:spPr>
          <a:xfrm>
            <a:off x="4754463" y="1404640"/>
            <a:ext cx="15589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Ключевые вызовы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754463" y="1717923"/>
            <a:ext cx="3887167" cy="2209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Защита прав инвесторов</a:t>
            </a: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обеспечение надлежащего уровня информированности и безопасности участников рынка цифровых активов</a:t>
            </a:r>
            <a:endParaRPr lang="en-US" sz="9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Противодействие отмыванию денег</a:t>
            </a: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внедрение механизмов AML/KYC для операций с ЦФА и цифровой валютой</a:t>
            </a:r>
            <a:endParaRPr lang="en-US" sz="9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Кибербезопасность</a:t>
            </a: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защита инфраструктуры от кибератак и обеспечение сохранности цифровых активов</a:t>
            </a:r>
            <a:endParaRPr lang="en-US" sz="9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Технологическая зрелость</a:t>
            </a: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необходимость стандартизации и обеспечения совместимости блокчейн-решений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594122"/>
            <a:ext cx="4767114" cy="70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Заключение: Блокчейн в Финансовом Секторе РФ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902943" y="1439466"/>
            <a:ext cx="4767114" cy="486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Российское законодательство активно формирует комплексную правовую базу для регулирования блокчейн-технологий в финансовом секторе, балансируя между стимулированием инноваций и обеспечением финансовой безопасности.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902943" y="2033588"/>
            <a:ext cx="213271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01</a:t>
            </a:r>
            <a:endParaRPr lang="en-US" sz="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2943" y="2200498"/>
            <a:ext cx="2335560" cy="142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902943" y="2282354"/>
            <a:ext cx="2006575" cy="175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Фундамент регулирования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3902943" y="2515270"/>
            <a:ext cx="2335560" cy="810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Федеральные законы № 259-ФЗ и № 211-ФЗ закладывают базовые понятия, определяют участников рынка и устанавливают правила оборота цифровых финансовых активов.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6334423" y="2033588"/>
            <a:ext cx="213271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02</a:t>
            </a:r>
            <a:endParaRPr lang="en-US" sz="8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423" y="2200498"/>
            <a:ext cx="2335634" cy="142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334423" y="2282354"/>
            <a:ext cx="1534641" cy="175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Чёткие ограничения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6334423" y="2515270"/>
            <a:ext cx="2335634" cy="810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Запрет на использование цифровой валюты как платёжного средства и регулирование майнинга обеспечивают защиту национальной денежной системы и финансовой стабильности.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3902943" y="3501479"/>
            <a:ext cx="213271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03</a:t>
            </a:r>
            <a:endParaRPr lang="en-US" sz="8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2943" y="3657749"/>
            <a:ext cx="4767114" cy="142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902943" y="3750246"/>
            <a:ext cx="2444651" cy="175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Инновационная инфраструктура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3902943" y="3983162"/>
            <a:ext cx="4767114" cy="486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Экспериментальные правовые режимы и регуляторные песочницы открывают возможности для тестирования и внедрения блокчейн-решений с минимальным нормативным риском.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47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3943" y="325785"/>
            <a:ext cx="4767114" cy="1075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Спасибо за внимание!</a:t>
            </a:r>
            <a:endParaRPr lang="en-US" sz="3350" dirty="0"/>
          </a:p>
        </p:txBody>
      </p:sp>
      <p:sp>
        <p:nvSpPr>
          <p:cNvPr id="4" name="Text 1"/>
          <p:cNvSpPr/>
          <p:nvPr/>
        </p:nvSpPr>
        <p:spPr>
          <a:xfrm>
            <a:off x="473943" y="1579066"/>
            <a:ext cx="4767114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Доклад подготовлен в рамках дисциплины «Правовое регулирование сферы искусственного интеллекта и интеллектуальной собственности»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73943" y="2091407"/>
            <a:ext cx="2324323" cy="891406"/>
          </a:xfrm>
          <a:prstGeom prst="roundRect">
            <a:avLst>
              <a:gd name="adj" fmla="val 19938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7173" y="2214637"/>
            <a:ext cx="15589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Студент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7173" y="2480518"/>
            <a:ext cx="2077864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Мухаметшин А.Р.</a:t>
            </a:r>
            <a:endParaRPr lang="en-US" sz="9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Группа ББМО-01-25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916734" y="2091407"/>
            <a:ext cx="2324323" cy="891406"/>
          </a:xfrm>
          <a:prstGeom prst="roundRect">
            <a:avLst>
              <a:gd name="adj" fmla="val 19938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39963" y="2214637"/>
            <a:ext cx="15589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Преподаватель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039963" y="2480518"/>
            <a:ext cx="2077864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Самогин А.С.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3943" y="3101280"/>
            <a:ext cx="4767114" cy="701873"/>
          </a:xfrm>
          <a:prstGeom prst="roundRect">
            <a:avLst>
              <a:gd name="adj" fmla="val 25322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7173" y="3224510"/>
            <a:ext cx="15589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Университет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7173" y="3490392"/>
            <a:ext cx="4520654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РТУ МИРЭА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73943" y="3936429"/>
            <a:ext cx="4767114" cy="882551"/>
          </a:xfrm>
          <a:prstGeom prst="roundRect">
            <a:avLst>
              <a:gd name="adj" fmla="val 20138"/>
            </a:avLst>
          </a:prstGeom>
          <a:solidFill>
            <a:srgbClr val="B6D6FC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410" y="4114205"/>
            <a:ext cx="148084" cy="11846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58962" y="4084513"/>
            <a:ext cx="4263628" cy="568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Вопросы?</a:t>
            </a: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Готов ответить на ваши вопросы по теме правового регулирования блокчейн-технологий в финансовом секторе Российской Федерации.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987</Words>
  <Application>Microsoft Office PowerPoint</Application>
  <PresentationFormat>Экран (16:9)</PresentationFormat>
  <Paragraphs>101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Barlow Bold</vt:lpstr>
      <vt:lpstr>Montserrat</vt:lpstr>
      <vt:lpstr>Barlow Light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Alexandr Slasher</dc:creator>
  <cp:lastModifiedBy>Alexandr Slasher</cp:lastModifiedBy>
  <cp:revision>2</cp:revision>
  <dcterms:created xsi:type="dcterms:W3CDTF">2026-05-06T12:26:36Z</dcterms:created>
  <dcterms:modified xsi:type="dcterms:W3CDTF">2026-05-06T12:27:35Z</dcterms:modified>
</cp:coreProperties>
</file>