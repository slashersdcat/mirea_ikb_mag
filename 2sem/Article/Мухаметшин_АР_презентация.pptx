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4673" r:id="rId2"/>
  </p:sldMasterIdLst>
  <p:notesMasterIdLst>
    <p:notesMasterId r:id="rId17"/>
  </p:notesMasterIdLst>
  <p:sldIdLst>
    <p:sldId id="290" r:id="rId3"/>
    <p:sldId id="292" r:id="rId4"/>
    <p:sldId id="304" r:id="rId5"/>
    <p:sldId id="313" r:id="rId6"/>
    <p:sldId id="305" r:id="rId7"/>
    <p:sldId id="306" r:id="rId8"/>
    <p:sldId id="308" r:id="rId9"/>
    <p:sldId id="307" r:id="rId10"/>
    <p:sldId id="310" r:id="rId11"/>
    <p:sldId id="311" r:id="rId12"/>
    <p:sldId id="312" r:id="rId13"/>
    <p:sldId id="301" r:id="rId14"/>
    <p:sldId id="309" r:id="rId15"/>
    <p:sldId id="314" r:id="rId16"/>
  </p:sldIdLst>
  <p:sldSz cx="9144000" cy="6858000" type="screen4x3"/>
  <p:notesSz cx="6797675" cy="992822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рина Красноперова" initials="ИК" lastIdx="1" clrIdx="0">
    <p:extLst>
      <p:ext uri="{19B8F6BF-5375-455C-9EA6-DF929625EA0E}">
        <p15:presenceInfo xmlns:p15="http://schemas.microsoft.com/office/powerpoint/2012/main" userId="1e389190c458cc4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66"/>
    <a:srgbClr val="97CBFF"/>
    <a:srgbClr val="B3D9FF"/>
    <a:srgbClr val="990000"/>
    <a:srgbClr val="CBCFDB"/>
    <a:srgbClr val="FFE4C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7" autoAdjust="0"/>
    <p:restoredTop sz="85068" autoAdjust="0"/>
  </p:normalViewPr>
  <p:slideViewPr>
    <p:cSldViewPr snapToGrid="0">
      <p:cViewPr varScale="1">
        <p:scale>
          <a:sx n="74" d="100"/>
          <a:sy n="74" d="100"/>
        </p:scale>
        <p:origin x="2026" y="72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"/>
    </p:cViewPr>
  </p:sorterViewPr>
  <p:notesViewPr>
    <p:cSldViewPr snapToGrid="0">
      <p:cViewPr varScale="1">
        <p:scale>
          <a:sx n="64" d="100"/>
          <a:sy n="64" d="100"/>
        </p:scale>
        <p:origin x="-3444" y="-114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1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6144"/>
            <a:ext cx="5438140" cy="4468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129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9129"/>
            <a:ext cx="2945659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4" rIns="91427" bIns="457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055D563B-D296-4A85-9EE8-8990DC6445B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734280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45538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08207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EAC5-980B-67BD-6A99-A37E25E5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85C6FC-DF71-9C74-B550-CD85DD8AA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282DD5C-3890-D40D-5BCA-73D57230A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CA9564-C3C2-8741-68B5-3810DDF03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16402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38212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CC34-7E36-BC6B-631D-6825FACB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F9FE03-792A-1DAC-FFC9-892873E40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782FD1-6599-67C5-6738-5001B3E15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842129-497E-0650-2A1E-5E1E820C6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50663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B145-AFD7-5D42-1D62-C6C5CCF5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5B03B8-FCAD-1DEA-1953-32EAF84CB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51719C-4763-DC91-89FE-A1CC15C70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05A610-7FFF-AD4D-6C00-0CAE77868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39972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502E-F721-01D5-3382-F43A30B7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9A64D7-595B-A025-1900-531F38D58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D0D7664-5DC8-8F05-1E84-E45E00992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54AF56-7446-BD75-6E15-5D23E8720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81492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24AB-EF78-81EC-5F51-7C9715B18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C0D5C2-14BC-C9DA-673E-6D9BD03D2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E8DC92-C8BB-1595-5DDF-936E6331F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58E3B2-F388-7095-CEBC-C76B430A8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98884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203D-B447-AA80-A425-CBBD5FF1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19F14BF-13B3-2760-E71F-6F03F922E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575B5EB-8EAD-8160-1EBE-C2E2E9527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338AB7-B7D4-8CDC-219C-580A787E5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13426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6407-A6B4-73B0-DA5C-1CCFA897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48EA03-263C-83A3-AFC3-E330208BC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384644-2759-2457-EBE1-DA9EB45DA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br>
              <a:rPr lang="ru-RU" sz="14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1"/>
            <a:endParaRPr lang="ru-RU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FEB5BB-EB40-843A-0838-B627ADD52D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02071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39291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5D563B-D296-4A85-9EE8-8990DC6445BE}" type="slidenum">
              <a:rPr lang="ru-RU" altLang="ru-RU" smtClean="0"/>
              <a:pPr>
                <a:defRPr/>
              </a:pPr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7564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 descr="flag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 userDrawn="1"/>
        </p:nvSpPr>
        <p:spPr bwMode="auto">
          <a:xfrm>
            <a:off x="0" y="1011238"/>
            <a:ext cx="9144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6" r:id="rId1"/>
    <p:sldLayoutId id="2147484697" r:id="rId2"/>
    <p:sldLayoutId id="2147484698" r:id="rId3"/>
    <p:sldLayoutId id="2147484699" r:id="rId4"/>
    <p:sldLayoutId id="2147484700" r:id="rId5"/>
    <p:sldLayoutId id="2147484701" r:id="rId6"/>
    <p:sldLayoutId id="2147484702" r:id="rId7"/>
    <p:sldLayoutId id="2147484703" r:id="rId8"/>
    <p:sldLayoutId id="2147484704" r:id="rId9"/>
    <p:sldLayoutId id="2147484705" r:id="rId10"/>
    <p:sldLayoutId id="214748470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flag2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 userDrawn="1"/>
        </p:nvSpPr>
        <p:spPr bwMode="auto">
          <a:xfrm>
            <a:off x="0" y="1011238"/>
            <a:ext cx="9144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7" r:id="rId1"/>
    <p:sldLayoutId id="2147484708" r:id="rId2"/>
    <p:sldLayoutId id="2147484709" r:id="rId3"/>
    <p:sldLayoutId id="2147484710" r:id="rId4"/>
    <p:sldLayoutId id="2147484711" r:id="rId5"/>
    <p:sldLayoutId id="2147484712" r:id="rId6"/>
    <p:sldLayoutId id="2147484713" r:id="rId7"/>
    <p:sldLayoutId id="2147484714" r:id="rId8"/>
    <p:sldLayoutId id="2147484715" r:id="rId9"/>
    <p:sldLayoutId id="2147484716" r:id="rId10"/>
    <p:sldLayoutId id="214748471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3268389"/>
            <a:ext cx="914399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800" b="0">
                <a:latin typeface="Times New Roman"/>
              </a:rPr>
              <a:t>Тема научной статьи</a:t>
            </a:r>
          </a:p>
          <a:p>
            <a:pPr algn="ctr"/>
            <a:r>
              <a:rPr sz="2000" b="1">
                <a:latin typeface="Times New Roman"/>
              </a:rPr>
              <a:t>«Исследование методов взаимодействия автономных агентов кибербезопасности на основе протоколов обмена контекстом»</a:t>
            </a:r>
          </a:p>
          <a:p>
            <a:pPr algn="l"/>
            <a:endParaRPr sz="2000" b="1">
              <a:latin typeface="Times New Roman"/>
            </a:endParaRPr>
          </a:p>
          <a:p>
            <a:pPr algn="l"/>
            <a:r>
              <a:rPr sz="1600">
                <a:latin typeface="Times New Roman"/>
              </a:rPr>
              <a:t>                    Студент: Мухаметшин А.Р.</a:t>
            </a:r>
          </a:p>
          <a:p>
            <a:pPr algn="l"/>
            <a:r>
              <a:rPr sz="1600">
                <a:latin typeface="Times New Roman"/>
              </a:rPr>
              <a:t>                    Группа: ББМО-01-25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81797"/>
              </p:ext>
            </p:extLst>
          </p:nvPr>
        </p:nvGraphicFramePr>
        <p:xfrm>
          <a:off x="0" y="987197"/>
          <a:ext cx="9144000" cy="1744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МИНОБРНАУКИ РОССИИ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Федеральное государственное бюджетное образовательное учреждение 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высшего образования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«МИРЭА – Российский технологический университет»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РТУ МИРЭА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Институт кибербезопасности и цифровых технологий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Кафедра КБ-4 «Интеллектуальные системы информационной безопасности»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 г.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69" y="2114550"/>
            <a:ext cx="7185660" cy="9184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26"/>
            <a:ext cx="9144000" cy="174823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65" y="21393"/>
            <a:ext cx="890270" cy="100901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865" y="2888766"/>
            <a:ext cx="890270" cy="988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2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0BECB8-FB9B-4089-B794-06AFF573ED37}"/>
              </a:ext>
            </a:extLst>
          </p:cNvPr>
          <p:cNvSpPr/>
          <p:nvPr/>
        </p:nvSpPr>
        <p:spPr>
          <a:xfrm>
            <a:off x="120316" y="0"/>
            <a:ext cx="88054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Актуальность задачи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57B338-B5E5-7C58-3DC0-7F8ABF987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53" y="784654"/>
            <a:ext cx="8229600" cy="5543411"/>
          </a:xfrm>
        </p:spPr>
        <p:txBody>
          <a:bodyPr/>
          <a:lstStyle/>
          <a:p>
            <a:pPr algn="l"/>
            <a:r>
              <a:rPr sz="1800">
                <a:latin typeface="Times New Roman"/>
              </a:rPr>
              <a:t>Современные SOC интегрируют десятки разнородных источников телеметрии и систем реагирования; единые протоколы обмена закрывают лишь отдельные части цикла координации.</a:t>
            </a:r>
          </a:p>
          <a:p>
            <a:pPr algn="l"/>
            <a:r>
              <a:rPr sz="1800">
                <a:latin typeface="Times New Roman"/>
              </a:rPr>
              <a:t>Без согласованного межагентного обмена контекстом автономное реагирование на инциденты невозможно либо сопряжено с риском деструктивных действий по неполным данным.</a:t>
            </a:r>
          </a:p>
          <a:p>
            <a:pPr algn="l"/>
            <a:r>
              <a:rPr sz="1800">
                <a:latin typeface="Times New Roman"/>
              </a:rPr>
              <a:t>Появление LLM-агентов и протоколов MCP (2024) и A2A (2025) поставило задачу их интеграции с традиционными CTI-форматами STIX/TAXII, OCSF и OpenC2.</a:t>
            </a:r>
          </a:p>
          <a:p>
            <a:pPr algn="l"/>
            <a:r>
              <a:rPr sz="1800">
                <a:latin typeface="Times New Roman"/>
              </a:rPr>
              <a:t>Ни один из существующих стандартов в отдельности не покрывает полный цикл: нормализация → разведка → исполнение → координация.</a:t>
            </a:r>
          </a:p>
          <a:p>
            <a:pPr algn="l"/>
            <a:r>
              <a:rPr sz="1800">
                <a:latin typeface="Times New Roman"/>
              </a:rPr>
              <a:t>Необходим синтез связующего архитектурного решения и количественных метрик качества межагентного обмена.</a:t>
            </a:r>
          </a:p>
        </p:txBody>
      </p:sp>
    </p:spTree>
    <p:extLst>
      <p:ext uri="{BB962C8B-B14F-4D97-AF65-F5344CB8AC3E}">
        <p14:creationId xmlns:p14="http://schemas.microsoft.com/office/powerpoint/2010/main" val="247626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0BECB8-FB9B-4089-B794-06AFF573ED37}"/>
              </a:ext>
            </a:extLst>
          </p:cNvPr>
          <p:cNvSpPr/>
          <p:nvPr/>
        </p:nvSpPr>
        <p:spPr>
          <a:xfrm>
            <a:off x="0" y="0"/>
            <a:ext cx="88054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Цель и объект исследования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DF0F4-9A52-0032-C232-9489381E9883}"/>
              </a:ext>
            </a:extLst>
          </p:cNvPr>
          <p:cNvSpPr txBox="1"/>
          <p:nvPr/>
        </p:nvSpPr>
        <p:spPr>
          <a:xfrm>
            <a:off x="279852" y="1871371"/>
            <a:ext cx="82666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800" dirty="0" err="1">
                <a:latin typeface="Times New Roman"/>
              </a:rPr>
              <a:t>Цель</a:t>
            </a:r>
            <a:r>
              <a:rPr sz="1800" dirty="0">
                <a:latin typeface="Times New Roman"/>
              </a:rPr>
              <a:t> </a:t>
            </a:r>
            <a:r>
              <a:rPr lang="ru-RU" sz="1800" dirty="0">
                <a:latin typeface="Times New Roman"/>
              </a:rPr>
              <a:t>–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систематизация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существующих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протоколов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обмена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контекстом</a:t>
            </a:r>
            <a:r>
              <a:rPr sz="1800" dirty="0">
                <a:latin typeface="Times New Roman"/>
              </a:rPr>
              <a:t> и </a:t>
            </a:r>
            <a:r>
              <a:rPr sz="1800" dirty="0" err="1">
                <a:latin typeface="Times New Roman"/>
              </a:rPr>
              <a:t>обоснование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архитектурного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решения</a:t>
            </a:r>
            <a:r>
              <a:rPr sz="1800" dirty="0">
                <a:latin typeface="Times New Roman"/>
              </a:rPr>
              <a:t>, </a:t>
            </a:r>
            <a:r>
              <a:rPr sz="1800" dirty="0" err="1">
                <a:latin typeface="Times New Roman"/>
              </a:rPr>
              <a:t>обеспечивающего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полный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цикл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координации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автономных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агентов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кибербезопасности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от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приёма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телеметрии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до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согласованного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исполнения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ответного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действия</a:t>
            </a:r>
            <a:r>
              <a:rPr sz="1800" dirty="0">
                <a:latin typeface="Times New Roman"/>
              </a:rPr>
              <a:t>.</a:t>
            </a:r>
          </a:p>
          <a:p>
            <a:pPr algn="l"/>
            <a:endParaRPr sz="1800" dirty="0">
              <a:latin typeface="Times New Roman"/>
            </a:endParaRPr>
          </a:p>
          <a:p>
            <a:pPr algn="l"/>
            <a:r>
              <a:rPr sz="1800" dirty="0" err="1">
                <a:latin typeface="Times New Roman"/>
              </a:rPr>
              <a:t>Объект</a:t>
            </a:r>
            <a:r>
              <a:rPr sz="1800" dirty="0">
                <a:latin typeface="Times New Roman"/>
              </a:rPr>
              <a:t> </a:t>
            </a:r>
            <a:r>
              <a:rPr lang="ru-RU" sz="1800" dirty="0">
                <a:latin typeface="Times New Roman"/>
              </a:rPr>
              <a:t>–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процессы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обмена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контекстом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между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автономными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агентами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кибербезопасности</a:t>
            </a:r>
            <a:r>
              <a:rPr sz="1800" dirty="0">
                <a:latin typeface="Times New Roman"/>
              </a:rPr>
              <a:t> в </a:t>
            </a:r>
            <a:r>
              <a:rPr sz="1800" dirty="0" err="1">
                <a:latin typeface="Times New Roman"/>
              </a:rPr>
              <a:t>составе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распределённых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систем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защиты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информации</a:t>
            </a:r>
            <a:r>
              <a:rPr sz="1800" dirty="0">
                <a:latin typeface="Times New Roman"/>
              </a:rPr>
              <a:t>.</a:t>
            </a:r>
          </a:p>
          <a:p>
            <a:pPr algn="l"/>
            <a:endParaRPr sz="1800" dirty="0">
              <a:latin typeface="Times New Roman"/>
            </a:endParaRPr>
          </a:p>
          <a:p>
            <a:pPr algn="l"/>
            <a:r>
              <a:rPr sz="1800" dirty="0" err="1">
                <a:latin typeface="Times New Roman"/>
              </a:rPr>
              <a:t>Предмет</a:t>
            </a:r>
            <a:r>
              <a:rPr sz="1800" dirty="0">
                <a:latin typeface="Times New Roman"/>
              </a:rPr>
              <a:t> </a:t>
            </a:r>
            <a:r>
              <a:rPr lang="ru-RU" sz="1800" dirty="0">
                <a:latin typeface="Times New Roman"/>
              </a:rPr>
              <a:t>–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протоколы</a:t>
            </a:r>
            <a:r>
              <a:rPr sz="1800" dirty="0">
                <a:latin typeface="Times New Roman"/>
              </a:rPr>
              <a:t> и </a:t>
            </a:r>
            <a:r>
              <a:rPr sz="1800" dirty="0" err="1">
                <a:latin typeface="Times New Roman"/>
              </a:rPr>
              <a:t>форматы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обмена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контекстом</a:t>
            </a:r>
            <a:r>
              <a:rPr sz="1800" dirty="0">
                <a:latin typeface="Times New Roman"/>
              </a:rPr>
              <a:t>, </a:t>
            </a:r>
            <a:r>
              <a:rPr sz="1800" dirty="0" err="1">
                <a:latin typeface="Times New Roman"/>
              </a:rPr>
              <a:t>методы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их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согласования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при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построении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мультиагентной</a:t>
            </a:r>
            <a:r>
              <a:rPr sz="1800" dirty="0">
                <a:latin typeface="Times New Roman"/>
              </a:rPr>
              <a:t> </a:t>
            </a:r>
            <a:r>
              <a:rPr sz="1800" dirty="0" err="1">
                <a:latin typeface="Times New Roman"/>
              </a:rPr>
              <a:t>защиты</a:t>
            </a:r>
            <a:r>
              <a:rPr sz="1800" dirty="0"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954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1952-81F3-EF3C-976D-EEA6E82B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1A1DDC-985F-8FEA-E2A4-C84808034CD9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4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40251BA-BC3E-A109-3681-BDAFF88643E8}"/>
              </a:ext>
            </a:extLst>
          </p:cNvPr>
          <p:cNvSpPr/>
          <p:nvPr/>
        </p:nvSpPr>
        <p:spPr>
          <a:xfrm>
            <a:off x="0" y="0"/>
            <a:ext cx="88054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Задачи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3D2192-2231-F4FF-4CB1-FFD409AB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462" y="24164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74E31-99A8-AB97-FF0E-EC530F809555}"/>
              </a:ext>
            </a:extLst>
          </p:cNvPr>
          <p:cNvSpPr txBox="1"/>
          <p:nvPr/>
        </p:nvSpPr>
        <p:spPr>
          <a:xfrm>
            <a:off x="473993" y="1551223"/>
            <a:ext cx="81212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800" b="0" dirty="0">
                <a:latin typeface="Times New Roman"/>
              </a:rPr>
              <a:t>1. </a:t>
            </a:r>
            <a:r>
              <a:rPr sz="1800" b="0" dirty="0" err="1">
                <a:latin typeface="Times New Roman"/>
              </a:rPr>
              <a:t>Выполнить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сравнительный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анализ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современных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протоколов</a:t>
            </a:r>
            <a:r>
              <a:rPr sz="1800" b="0" dirty="0">
                <a:latin typeface="Times New Roman"/>
              </a:rPr>
              <a:t> и </a:t>
            </a:r>
            <a:r>
              <a:rPr sz="1800" b="0" dirty="0" err="1">
                <a:latin typeface="Times New Roman"/>
              </a:rPr>
              <a:t>схем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обмена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данными</a:t>
            </a:r>
            <a:r>
              <a:rPr sz="1800" b="0" dirty="0">
                <a:latin typeface="Times New Roman"/>
              </a:rPr>
              <a:t> в </a:t>
            </a:r>
            <a:r>
              <a:rPr sz="1800" b="0" dirty="0" err="1">
                <a:latin typeface="Times New Roman"/>
              </a:rPr>
              <a:t>информационной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безопасности</a:t>
            </a:r>
            <a:r>
              <a:rPr sz="1800" b="0" dirty="0">
                <a:latin typeface="Times New Roman"/>
              </a:rPr>
              <a:t> (STIX/TAXII, OCSF, CACAO, OpenC2, MCP, A2A).</a:t>
            </a:r>
          </a:p>
          <a:p>
            <a:pPr algn="l"/>
            <a:r>
              <a:rPr sz="1800" b="0" dirty="0">
                <a:latin typeface="Times New Roman"/>
              </a:rPr>
              <a:t>2. </a:t>
            </a:r>
            <a:r>
              <a:rPr sz="1800" b="0" dirty="0" err="1">
                <a:latin typeface="Times New Roman"/>
              </a:rPr>
              <a:t>Сформулировать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количественные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метрики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качества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межагентного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взаимодействия</a:t>
            </a:r>
            <a:r>
              <a:rPr sz="1800" b="0" dirty="0">
                <a:latin typeface="Times New Roman"/>
              </a:rPr>
              <a:t> </a:t>
            </a:r>
            <a:r>
              <a:rPr lang="ru-RU" sz="1800" b="0" dirty="0">
                <a:latin typeface="Times New Roman"/>
              </a:rPr>
              <a:t>–</a:t>
            </a:r>
            <a:r>
              <a:rPr sz="1800" b="0" dirty="0">
                <a:latin typeface="Times New Roman"/>
              </a:rPr>
              <a:t> КПК, ЗРК, КССА.</a:t>
            </a:r>
          </a:p>
          <a:p>
            <a:pPr algn="l"/>
            <a:r>
              <a:rPr sz="1800" b="0" dirty="0">
                <a:latin typeface="Times New Roman"/>
              </a:rPr>
              <a:t>3. </a:t>
            </a:r>
            <a:r>
              <a:rPr sz="1800" b="0" dirty="0" err="1">
                <a:latin typeface="Times New Roman"/>
              </a:rPr>
              <a:t>Предложить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трёхуровневую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архитектуру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брокера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контекста</a:t>
            </a:r>
            <a:r>
              <a:rPr sz="1800" b="0" dirty="0">
                <a:latin typeface="Times New Roman"/>
              </a:rPr>
              <a:t>, </a:t>
            </a:r>
            <a:r>
              <a:rPr sz="1800" b="0" dirty="0" err="1">
                <a:latin typeface="Times New Roman"/>
              </a:rPr>
              <a:t>преодолевающую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ограничения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отдельных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протоколов</a:t>
            </a:r>
            <a:r>
              <a:rPr sz="1800" b="0" dirty="0">
                <a:latin typeface="Times New Roman"/>
              </a:rPr>
              <a:t>.</a:t>
            </a:r>
          </a:p>
          <a:p>
            <a:pPr algn="l"/>
            <a:r>
              <a:rPr sz="1800" b="0" dirty="0">
                <a:latin typeface="Times New Roman"/>
              </a:rPr>
              <a:t>4. </a:t>
            </a:r>
            <a:r>
              <a:rPr sz="1800" b="0" dirty="0" err="1">
                <a:latin typeface="Times New Roman"/>
              </a:rPr>
              <a:t>Обосновать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пороговые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значения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метрик</a:t>
            </a:r>
            <a:r>
              <a:rPr sz="1800" b="0" dirty="0">
                <a:latin typeface="Times New Roman"/>
              </a:rPr>
              <a:t>, </a:t>
            </a:r>
            <a:r>
              <a:rPr sz="1800" b="0" dirty="0" err="1">
                <a:latin typeface="Times New Roman"/>
              </a:rPr>
              <a:t>допускающие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автономный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режим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реагирования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без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участия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аналитика</a:t>
            </a:r>
            <a:r>
              <a:rPr sz="1800" b="0" dirty="0">
                <a:latin typeface="Times New Roman"/>
              </a:rPr>
              <a:t> SOC.</a:t>
            </a:r>
          </a:p>
        </p:txBody>
      </p:sp>
    </p:spTree>
    <p:extLst>
      <p:ext uri="{BB962C8B-B14F-4D97-AF65-F5344CB8AC3E}">
        <p14:creationId xmlns:p14="http://schemas.microsoft.com/office/powerpoint/2010/main" val="378219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5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0BECB8-FB9B-4089-B794-06AFF573ED37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Сравнительный анализ протоколов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00E70-56DA-9740-AC3D-6A67858DBE5A}"/>
              </a:ext>
            </a:extLst>
          </p:cNvPr>
          <p:cNvSpPr txBox="1"/>
          <p:nvPr/>
        </p:nvSpPr>
        <p:spPr>
          <a:xfrm>
            <a:off x="457200" y="1371600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dirty="0" err="1">
                <a:latin typeface="Times New Roman"/>
              </a:rPr>
              <a:t>Уровень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нормализации</a:t>
            </a:r>
            <a:r>
              <a:rPr sz="1600" dirty="0">
                <a:latin typeface="Times New Roman"/>
              </a:rPr>
              <a:t>: </a:t>
            </a:r>
            <a:r>
              <a:rPr sz="1600" b="0" dirty="0">
                <a:latin typeface="Times New Roman"/>
              </a:rPr>
              <a:t>OCSF v1.3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JSON-</a:t>
            </a:r>
            <a:r>
              <a:rPr sz="1600" b="0" dirty="0" err="1">
                <a:latin typeface="Times New Roman"/>
              </a:rPr>
              <a:t>схема</a:t>
            </a:r>
            <a:r>
              <a:rPr sz="1600" b="0" dirty="0">
                <a:latin typeface="Times New Roman"/>
              </a:rPr>
              <a:t>, 14 </a:t>
            </a:r>
            <a:r>
              <a:rPr sz="1600" b="0" dirty="0" err="1">
                <a:latin typeface="Times New Roman"/>
              </a:rPr>
              <a:t>категорий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событий</a:t>
            </a:r>
            <a:r>
              <a:rPr sz="1600" b="0" dirty="0">
                <a:latin typeface="Times New Roman"/>
              </a:rPr>
              <a:t> (</a:t>
            </a:r>
            <a:r>
              <a:rPr sz="1600" b="0" dirty="0" err="1">
                <a:latin typeface="Times New Roman"/>
              </a:rPr>
              <a:t>события</a:t>
            </a:r>
            <a:r>
              <a:rPr sz="1600" b="0" dirty="0">
                <a:latin typeface="Times New Roman"/>
              </a:rPr>
              <a:t> SIEM/EDR/NDR). </a:t>
            </a:r>
            <a:r>
              <a:rPr sz="1600" b="0" dirty="0" err="1">
                <a:latin typeface="Times New Roman"/>
              </a:rPr>
              <a:t>Нет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транспорта</a:t>
            </a:r>
            <a:r>
              <a:rPr sz="1600" b="0" dirty="0">
                <a:latin typeface="Times New Roman"/>
              </a:rPr>
              <a:t>.</a:t>
            </a:r>
          </a:p>
          <a:p>
            <a:pPr algn="l"/>
            <a:r>
              <a:rPr sz="1600" dirty="0" err="1">
                <a:latin typeface="Times New Roman"/>
              </a:rPr>
              <a:t>Уровень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разведки</a:t>
            </a:r>
            <a:r>
              <a:rPr sz="1600" dirty="0">
                <a:latin typeface="Times New Roman"/>
              </a:rPr>
              <a:t>: </a:t>
            </a:r>
            <a:r>
              <a:rPr sz="1600" b="0" dirty="0">
                <a:latin typeface="Times New Roman"/>
              </a:rPr>
              <a:t>STIX 2.1 / TAXII 2.1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JSON-</a:t>
            </a:r>
            <a:r>
              <a:rPr sz="1600" b="0" dirty="0" err="1">
                <a:latin typeface="Times New Roman"/>
              </a:rPr>
              <a:t>объекты</a:t>
            </a:r>
            <a:r>
              <a:rPr sz="1600" b="0" dirty="0">
                <a:latin typeface="Times New Roman"/>
              </a:rPr>
              <a:t> Indicator, Attack Pattern, Threat Actor; </a:t>
            </a:r>
            <a:r>
              <a:rPr sz="1600" b="0" dirty="0" err="1">
                <a:latin typeface="Times New Roman"/>
              </a:rPr>
              <a:t>асинхронный</a:t>
            </a:r>
            <a:r>
              <a:rPr sz="1600" b="0" dirty="0">
                <a:latin typeface="Times New Roman"/>
              </a:rPr>
              <a:t> push/pull </a:t>
            </a:r>
            <a:r>
              <a:rPr sz="1600" b="0" dirty="0" err="1">
                <a:latin typeface="Times New Roman"/>
              </a:rPr>
              <a:t>по</a:t>
            </a:r>
            <a:r>
              <a:rPr sz="1600" b="0" dirty="0">
                <a:latin typeface="Times New Roman"/>
              </a:rPr>
              <a:t> HTTPS.</a:t>
            </a:r>
          </a:p>
          <a:p>
            <a:pPr algn="l"/>
            <a:r>
              <a:rPr sz="1600" dirty="0" err="1">
                <a:latin typeface="Times New Roman"/>
              </a:rPr>
              <a:t>Уровень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исполнения</a:t>
            </a:r>
            <a:r>
              <a:rPr sz="1600" dirty="0">
                <a:latin typeface="Times New Roman"/>
              </a:rPr>
              <a:t>: </a:t>
            </a:r>
            <a:r>
              <a:rPr sz="1600" b="0" dirty="0">
                <a:latin typeface="Times New Roman"/>
              </a:rPr>
              <a:t>OpenC2 v1.0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команды</a:t>
            </a:r>
            <a:r>
              <a:rPr sz="1600" b="0" dirty="0">
                <a:latin typeface="Times New Roman"/>
              </a:rPr>
              <a:t> «action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target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actuator»; CACAO 2.0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плейбуки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реагирования</a:t>
            </a:r>
            <a:r>
              <a:rPr sz="1600" b="0" dirty="0">
                <a:latin typeface="Times New Roman"/>
              </a:rPr>
              <a:t> (workflow-</a:t>
            </a:r>
            <a:r>
              <a:rPr sz="1600" b="0" dirty="0" err="1">
                <a:latin typeface="Times New Roman"/>
              </a:rPr>
              <a:t>граф</a:t>
            </a:r>
            <a:r>
              <a:rPr sz="1600" b="0" dirty="0">
                <a:latin typeface="Times New Roman"/>
              </a:rPr>
              <a:t>).</a:t>
            </a:r>
          </a:p>
          <a:p>
            <a:pPr algn="l"/>
            <a:r>
              <a:rPr sz="1600" dirty="0" err="1">
                <a:latin typeface="Times New Roman"/>
              </a:rPr>
              <a:t>Уровень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координации</a:t>
            </a:r>
            <a:r>
              <a:rPr sz="1600" dirty="0">
                <a:latin typeface="Times New Roman"/>
              </a:rPr>
              <a:t> LLM-</a:t>
            </a:r>
            <a:r>
              <a:rPr sz="1600" dirty="0" err="1">
                <a:latin typeface="Times New Roman"/>
              </a:rPr>
              <a:t>агентов</a:t>
            </a:r>
            <a:r>
              <a:rPr sz="1600" dirty="0">
                <a:latin typeface="Times New Roman"/>
              </a:rPr>
              <a:t>: </a:t>
            </a:r>
            <a:r>
              <a:rPr sz="1600" b="0" dirty="0">
                <a:latin typeface="Times New Roman"/>
              </a:rPr>
              <a:t>MCP (Anthropic, </a:t>
            </a:r>
            <a:r>
              <a:rPr sz="1600" b="0" dirty="0" err="1">
                <a:latin typeface="Times New Roman"/>
              </a:rPr>
              <a:t>ноябрь</a:t>
            </a:r>
            <a:r>
              <a:rPr sz="1600" b="0" dirty="0">
                <a:latin typeface="Times New Roman"/>
              </a:rPr>
              <a:t> 2024)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JSON-RPC 2.0; A2A (Google, </a:t>
            </a:r>
            <a:r>
              <a:rPr sz="1600" b="0" dirty="0" err="1">
                <a:latin typeface="Times New Roman"/>
              </a:rPr>
              <a:t>апрель</a:t>
            </a:r>
            <a:r>
              <a:rPr sz="1600" b="0" dirty="0">
                <a:latin typeface="Times New Roman"/>
              </a:rPr>
              <a:t> 2025)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Agent Card, Task, Artifact.</a:t>
            </a:r>
          </a:p>
          <a:p>
            <a:pPr algn="l"/>
            <a:r>
              <a:rPr sz="1600" dirty="0" err="1">
                <a:latin typeface="Times New Roman"/>
              </a:rPr>
              <a:t>Семантический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разрыв</a:t>
            </a:r>
            <a:r>
              <a:rPr sz="1600" dirty="0">
                <a:latin typeface="Times New Roman"/>
              </a:rPr>
              <a:t>: </a:t>
            </a:r>
            <a:r>
              <a:rPr sz="1600" b="0" dirty="0" err="1">
                <a:latin typeface="Times New Roman"/>
              </a:rPr>
              <a:t>атрибуты</a:t>
            </a:r>
            <a:r>
              <a:rPr sz="1600" b="0" dirty="0">
                <a:latin typeface="Times New Roman"/>
              </a:rPr>
              <a:t> OCSF ↔ STIX </a:t>
            </a:r>
            <a:r>
              <a:rPr sz="1600" b="0" dirty="0" err="1">
                <a:latin typeface="Times New Roman"/>
              </a:rPr>
              <a:t>не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имеют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прямого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соответствия</a:t>
            </a:r>
            <a:r>
              <a:rPr sz="1600" b="0" dirty="0">
                <a:latin typeface="Times New Roman"/>
              </a:rPr>
              <a:t>; </a:t>
            </a:r>
            <a:r>
              <a:rPr sz="1600" b="0" dirty="0" err="1">
                <a:latin typeface="Times New Roman"/>
              </a:rPr>
              <a:t>команды</a:t>
            </a:r>
            <a:r>
              <a:rPr sz="1600" b="0" dirty="0">
                <a:latin typeface="Times New Roman"/>
              </a:rPr>
              <a:t> OpenC2 </a:t>
            </a:r>
            <a:r>
              <a:rPr sz="1600" b="0" dirty="0" err="1">
                <a:latin typeface="Times New Roman"/>
              </a:rPr>
              <a:t>не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содержат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ссылок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на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причину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выполнения</a:t>
            </a:r>
            <a:r>
              <a:rPr sz="1600" b="0" dirty="0">
                <a:latin typeface="Times New Roman"/>
              </a:rPr>
              <a:t>.</a:t>
            </a:r>
          </a:p>
          <a:p>
            <a:pPr algn="l"/>
            <a:r>
              <a:rPr sz="1600" dirty="0" err="1">
                <a:latin typeface="Times New Roman"/>
              </a:rPr>
              <a:t>Вывод</a:t>
            </a:r>
            <a:r>
              <a:rPr sz="1600" dirty="0">
                <a:latin typeface="Times New Roman"/>
              </a:rPr>
              <a:t>: </a:t>
            </a:r>
            <a:r>
              <a:rPr sz="1600" b="0" dirty="0" err="1">
                <a:latin typeface="Times New Roman"/>
              </a:rPr>
              <a:t>ни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один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стандарт</a:t>
            </a:r>
            <a:r>
              <a:rPr sz="1600" b="0" dirty="0">
                <a:latin typeface="Times New Roman"/>
              </a:rPr>
              <a:t> в </a:t>
            </a:r>
            <a:r>
              <a:rPr sz="1600" b="0" dirty="0" err="1">
                <a:latin typeface="Times New Roman"/>
              </a:rPr>
              <a:t>отдельности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не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обеспечивает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полного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цикла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координации</a:t>
            </a:r>
            <a:r>
              <a:rPr sz="1600" b="0" dirty="0">
                <a:latin typeface="Times New Roman"/>
              </a:rPr>
              <a:t> </a:t>
            </a:r>
            <a:r>
              <a:rPr lang="ru-RU" sz="1600" b="0" dirty="0">
                <a:latin typeface="Times New Roman"/>
              </a:rPr>
              <a:t>–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требуется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промежуточный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архитектурный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слой</a:t>
            </a:r>
            <a:r>
              <a:rPr sz="1600" b="0" dirty="0"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310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B9789-64F6-3FAC-261B-DA5EAD33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E9A248-155F-08BB-9E79-7C58D857EE08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B5264FB-6611-90FF-219E-8A9B5EB7CD3C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Метрики качества межагентного обмена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dirty="0">
                <a:latin typeface="Times New Roman"/>
              </a:rPr>
              <a:t>КПК </a:t>
            </a:r>
            <a:r>
              <a:rPr lang="ru-RU" sz="1500" dirty="0">
                <a:latin typeface="Times New Roman"/>
              </a:rPr>
              <a:t>–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коэффициент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полноты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контекста</a:t>
            </a:r>
            <a:r>
              <a:rPr sz="1500" dirty="0">
                <a:latin typeface="Times New Roman"/>
              </a:rPr>
              <a:t>: </a:t>
            </a:r>
            <a:r>
              <a:rPr sz="1500" dirty="0" err="1">
                <a:latin typeface="Times New Roman"/>
              </a:rPr>
              <a:t>доля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заполненных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атрибутов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объекта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относительно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требуемого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схемой</a:t>
            </a:r>
            <a:r>
              <a:rPr sz="1500" dirty="0">
                <a:latin typeface="Times New Roman"/>
              </a:rPr>
              <a:t> OCSF </a:t>
            </a:r>
            <a:r>
              <a:rPr sz="1500" dirty="0" err="1">
                <a:latin typeface="Times New Roman"/>
              </a:rPr>
              <a:t>набора</a:t>
            </a:r>
            <a:r>
              <a:rPr sz="1500" dirty="0">
                <a:latin typeface="Times New Roman"/>
              </a:rPr>
              <a:t> (</a:t>
            </a:r>
            <a:r>
              <a:rPr sz="1500" dirty="0" err="1">
                <a:latin typeface="Times New Roman"/>
              </a:rPr>
              <a:t>порог</a:t>
            </a:r>
            <a:r>
              <a:rPr sz="1500" dirty="0">
                <a:latin typeface="Times New Roman"/>
              </a:rPr>
              <a:t> ≥ 0,7).</a:t>
            </a:r>
          </a:p>
          <a:p>
            <a:pPr algn="l"/>
            <a:r>
              <a:rPr sz="1500" dirty="0">
                <a:latin typeface="Times New Roman"/>
              </a:rPr>
              <a:t>    КПК = </a:t>
            </a:r>
            <a:r>
              <a:rPr sz="1500" dirty="0" err="1">
                <a:latin typeface="Times New Roman"/>
              </a:rPr>
              <a:t>Nзаполн</a:t>
            </a:r>
            <a:r>
              <a:rPr sz="1500" dirty="0">
                <a:latin typeface="Times New Roman"/>
              </a:rPr>
              <a:t> / </a:t>
            </a:r>
            <a:r>
              <a:rPr sz="1500" dirty="0" err="1">
                <a:latin typeface="Times New Roman"/>
              </a:rPr>
              <a:t>Nобщ</a:t>
            </a:r>
            <a:endParaRPr sz="1500" dirty="0">
              <a:latin typeface="Times New Roman"/>
            </a:endParaRPr>
          </a:p>
          <a:p>
            <a:pPr algn="l"/>
            <a:endParaRPr sz="1500" dirty="0">
              <a:latin typeface="Times New Roman"/>
            </a:endParaRPr>
          </a:p>
          <a:p>
            <a:pPr algn="l"/>
            <a:r>
              <a:rPr sz="1500" dirty="0">
                <a:latin typeface="Times New Roman"/>
              </a:rPr>
              <a:t>ЗРК </a:t>
            </a:r>
            <a:r>
              <a:rPr lang="ru-RU" sz="1500" dirty="0">
                <a:latin typeface="Times New Roman"/>
              </a:rPr>
              <a:t>–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задержка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распространения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контекста</a:t>
            </a:r>
            <a:r>
              <a:rPr sz="1500" dirty="0">
                <a:latin typeface="Times New Roman"/>
              </a:rPr>
              <a:t>: </a:t>
            </a:r>
            <a:r>
              <a:rPr sz="1500" dirty="0" err="1">
                <a:latin typeface="Times New Roman"/>
              </a:rPr>
              <a:t>интервал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от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регистрации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события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источником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до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получения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обогащённого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контекста</a:t>
            </a:r>
            <a:r>
              <a:rPr sz="1500" dirty="0">
                <a:latin typeface="Times New Roman"/>
              </a:rPr>
              <a:t> (</a:t>
            </a:r>
            <a:r>
              <a:rPr sz="1500" dirty="0" err="1">
                <a:latin typeface="Times New Roman"/>
              </a:rPr>
              <a:t>порог</a:t>
            </a:r>
            <a:r>
              <a:rPr sz="1500" dirty="0">
                <a:latin typeface="Times New Roman"/>
              </a:rPr>
              <a:t> ≤ 500 </a:t>
            </a:r>
            <a:r>
              <a:rPr sz="1500" dirty="0" err="1">
                <a:latin typeface="Times New Roman"/>
              </a:rPr>
              <a:t>мс</a:t>
            </a:r>
            <a:r>
              <a:rPr sz="1500" dirty="0">
                <a:latin typeface="Times New Roman"/>
              </a:rPr>
              <a:t>).</a:t>
            </a:r>
          </a:p>
          <a:p>
            <a:pPr algn="l"/>
            <a:r>
              <a:rPr sz="1500" dirty="0">
                <a:latin typeface="Times New Roman"/>
              </a:rPr>
              <a:t>    ЗРК = </a:t>
            </a:r>
            <a:r>
              <a:rPr sz="1500" dirty="0" err="1">
                <a:latin typeface="Times New Roman"/>
              </a:rPr>
              <a:t>tполуч</a:t>
            </a:r>
            <a:r>
              <a:rPr sz="1500" dirty="0">
                <a:latin typeface="Times New Roman"/>
              </a:rPr>
              <a:t> − </a:t>
            </a:r>
            <a:r>
              <a:rPr sz="1500" dirty="0" err="1">
                <a:latin typeface="Times New Roman"/>
              </a:rPr>
              <a:t>tфикс</a:t>
            </a:r>
            <a:endParaRPr sz="1500" dirty="0">
              <a:latin typeface="Times New Roman"/>
            </a:endParaRPr>
          </a:p>
          <a:p>
            <a:pPr algn="l"/>
            <a:endParaRPr sz="1500" dirty="0">
              <a:latin typeface="Times New Roman"/>
            </a:endParaRPr>
          </a:p>
          <a:p>
            <a:pPr algn="l"/>
            <a:r>
              <a:rPr sz="1500" dirty="0">
                <a:latin typeface="Times New Roman"/>
              </a:rPr>
              <a:t>КССА </a:t>
            </a:r>
            <a:r>
              <a:rPr lang="ru-RU" sz="1500" dirty="0">
                <a:latin typeface="Times New Roman"/>
              </a:rPr>
              <a:t>–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коэффициент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семантической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согласованности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агентов</a:t>
            </a:r>
            <a:r>
              <a:rPr sz="1500" dirty="0">
                <a:latin typeface="Times New Roman"/>
              </a:rPr>
              <a:t>: </a:t>
            </a:r>
            <a:r>
              <a:rPr sz="1500" dirty="0" err="1">
                <a:latin typeface="Times New Roman"/>
              </a:rPr>
              <a:t>доля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сообщений</a:t>
            </a:r>
            <a:r>
              <a:rPr sz="1500" dirty="0">
                <a:latin typeface="Times New Roman"/>
              </a:rPr>
              <a:t>, </a:t>
            </a:r>
            <a:r>
              <a:rPr sz="1500" dirty="0" err="1">
                <a:latin typeface="Times New Roman"/>
              </a:rPr>
              <a:t>обработанных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без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запроса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уточнения</a:t>
            </a:r>
            <a:r>
              <a:rPr sz="1500" dirty="0">
                <a:latin typeface="Times New Roman"/>
              </a:rPr>
              <a:t> (</a:t>
            </a:r>
            <a:r>
              <a:rPr sz="1500" dirty="0" err="1">
                <a:latin typeface="Times New Roman"/>
              </a:rPr>
              <a:t>порог</a:t>
            </a:r>
            <a:r>
              <a:rPr sz="1500" dirty="0">
                <a:latin typeface="Times New Roman"/>
              </a:rPr>
              <a:t> ≥ 0,85).</a:t>
            </a:r>
          </a:p>
          <a:p>
            <a:pPr algn="l"/>
            <a:r>
              <a:rPr sz="1500" dirty="0">
                <a:latin typeface="Times New Roman"/>
              </a:rPr>
              <a:t>    КССА = </a:t>
            </a:r>
            <a:r>
              <a:rPr sz="1500" dirty="0" err="1">
                <a:latin typeface="Times New Roman"/>
              </a:rPr>
              <a:t>Nбез_уточн</a:t>
            </a:r>
            <a:r>
              <a:rPr sz="1500" dirty="0">
                <a:latin typeface="Times New Roman"/>
              </a:rPr>
              <a:t> / </a:t>
            </a:r>
            <a:r>
              <a:rPr sz="1500" dirty="0" err="1">
                <a:latin typeface="Times New Roman"/>
              </a:rPr>
              <a:t>Nобщ_сообщ</a:t>
            </a:r>
            <a:endParaRPr sz="1500" dirty="0">
              <a:latin typeface="Times New Roman"/>
            </a:endParaRPr>
          </a:p>
          <a:p>
            <a:pPr algn="l"/>
            <a:endParaRPr sz="1500" dirty="0">
              <a:latin typeface="Times New Roman"/>
            </a:endParaRPr>
          </a:p>
          <a:p>
            <a:pPr algn="l"/>
            <a:r>
              <a:rPr sz="1500" dirty="0" err="1">
                <a:latin typeface="Times New Roman"/>
              </a:rPr>
              <a:t>Условие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автономного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реагирования</a:t>
            </a:r>
            <a:r>
              <a:rPr sz="1500" dirty="0">
                <a:latin typeface="Times New Roman"/>
              </a:rPr>
              <a:t>: КПК ≥ 0,7 ∧ ЗРК ≤ 500 </a:t>
            </a:r>
            <a:r>
              <a:rPr sz="1500" dirty="0" err="1">
                <a:latin typeface="Times New Roman"/>
              </a:rPr>
              <a:t>мс</a:t>
            </a:r>
            <a:r>
              <a:rPr sz="1500" dirty="0">
                <a:latin typeface="Times New Roman"/>
              </a:rPr>
              <a:t> ∧ КССА ≥ 0,85.</a:t>
            </a:r>
          </a:p>
        </p:txBody>
      </p:sp>
    </p:spTree>
    <p:extLst>
      <p:ext uri="{BB962C8B-B14F-4D97-AF65-F5344CB8AC3E}">
        <p14:creationId xmlns:p14="http://schemas.microsoft.com/office/powerpoint/2010/main" val="1694325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CBAE-FF98-0427-F6DF-8389F0C9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1A2971-C452-B7E4-99B3-0CDD228C893F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7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61AC91B-9919-AFD0-F633-F2918465657D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Трёхуровневая архитектура брокера контекста</a:t>
            </a:r>
          </a:p>
        </p:txBody>
      </p:sp>
      <p:pic>
        <p:nvPicPr>
          <p:cNvPr id="5" name="Picture 4" descr="33a439f8e6ed3da84e903abf6926c424a24979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37" y="1064530"/>
            <a:ext cx="7180118" cy="495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7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156F-D3BB-DB99-3B22-F5DA3728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4F7E4A-C53F-B4B4-42C6-EFA99464EA83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8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DDECB68-F7F8-6D40-12FD-DEA6EA38C928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Сценарий межагентного взаимодействия</a:t>
            </a:r>
          </a:p>
        </p:txBody>
      </p:sp>
      <p:pic>
        <p:nvPicPr>
          <p:cNvPr id="5" name="Picture 4" descr="d206349b38da20b2c20e59108fdff3a09c589f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78082"/>
            <a:ext cx="8686800" cy="47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5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4C3D-25D5-0CDA-27AA-3E975ADF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891421-6BEA-1C95-2D75-3FF1209C10FC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9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E13037-0340-EEA1-AD0D-0EEDB64065B6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Научная новизна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latin typeface="Times New Roman"/>
              </a:rPr>
              <a:t>1. </a:t>
            </a:r>
            <a:r>
              <a:rPr sz="1800" b="0" dirty="0" err="1">
                <a:latin typeface="Times New Roman"/>
              </a:rPr>
              <a:t>Синтез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единой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архитектурной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модели</a:t>
            </a:r>
            <a:r>
              <a:rPr sz="1800" b="0" dirty="0">
                <a:latin typeface="Times New Roman"/>
              </a:rPr>
              <a:t>, </a:t>
            </a:r>
            <a:r>
              <a:rPr sz="1800" b="0" dirty="0" err="1">
                <a:latin typeface="Times New Roman"/>
              </a:rPr>
              <a:t>объединяющей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четыре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функциональных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уровня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обмена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контекстом</a:t>
            </a:r>
            <a:r>
              <a:rPr sz="1800" b="0" dirty="0">
                <a:latin typeface="Times New Roman"/>
              </a:rPr>
              <a:t> (</a:t>
            </a:r>
            <a:r>
              <a:rPr sz="1800" b="0" dirty="0" err="1">
                <a:latin typeface="Times New Roman"/>
              </a:rPr>
              <a:t>нормализация</a:t>
            </a:r>
            <a:r>
              <a:rPr sz="1800" b="0" dirty="0">
                <a:latin typeface="Times New Roman"/>
              </a:rPr>
              <a:t>, </a:t>
            </a:r>
            <a:r>
              <a:rPr sz="1800" b="0" dirty="0" err="1">
                <a:latin typeface="Times New Roman"/>
              </a:rPr>
              <a:t>разведка</a:t>
            </a:r>
            <a:r>
              <a:rPr sz="1800" b="0" dirty="0">
                <a:latin typeface="Times New Roman"/>
              </a:rPr>
              <a:t>, </a:t>
            </a:r>
            <a:r>
              <a:rPr sz="1800" b="0" dirty="0" err="1">
                <a:latin typeface="Times New Roman"/>
              </a:rPr>
              <a:t>исполнение</a:t>
            </a:r>
            <a:r>
              <a:rPr sz="1800" b="0" dirty="0">
                <a:latin typeface="Times New Roman"/>
              </a:rPr>
              <a:t>, </a:t>
            </a:r>
            <a:r>
              <a:rPr sz="1800" b="0" dirty="0" err="1">
                <a:latin typeface="Times New Roman"/>
              </a:rPr>
              <a:t>координация</a:t>
            </a:r>
            <a:r>
              <a:rPr sz="1800" b="0" dirty="0">
                <a:latin typeface="Times New Roman"/>
              </a:rPr>
              <a:t>), </a:t>
            </a:r>
            <a:r>
              <a:rPr sz="1800" b="0" dirty="0" err="1">
                <a:latin typeface="Times New Roman"/>
              </a:rPr>
              <a:t>ранее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рассматривавшиеся</a:t>
            </a:r>
            <a:r>
              <a:rPr sz="1800" b="0" dirty="0">
                <a:latin typeface="Times New Roman"/>
              </a:rPr>
              <a:t> в </a:t>
            </a:r>
            <a:r>
              <a:rPr sz="1800" b="0" dirty="0" err="1">
                <a:latin typeface="Times New Roman"/>
              </a:rPr>
              <a:t>литературе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изолированно</a:t>
            </a:r>
            <a:r>
              <a:rPr sz="1800" b="0" dirty="0">
                <a:latin typeface="Times New Roman"/>
              </a:rPr>
              <a:t>.</a:t>
            </a:r>
          </a:p>
          <a:p>
            <a:pPr algn="l"/>
            <a:endParaRPr sz="1800" b="0" dirty="0">
              <a:latin typeface="Times New Roman"/>
            </a:endParaRPr>
          </a:p>
          <a:p>
            <a:pPr algn="l"/>
            <a:r>
              <a:rPr sz="1800" b="0" dirty="0">
                <a:latin typeface="Times New Roman"/>
              </a:rPr>
              <a:t>2. </a:t>
            </a:r>
            <a:r>
              <a:rPr sz="1800" b="0" dirty="0" err="1">
                <a:latin typeface="Times New Roman"/>
              </a:rPr>
              <a:t>Введение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количественных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метрик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межагентного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взаимодействия</a:t>
            </a:r>
            <a:r>
              <a:rPr sz="1800" b="0" dirty="0">
                <a:latin typeface="Times New Roman"/>
              </a:rPr>
              <a:t> (КПК, ЗРК, КССА), </a:t>
            </a:r>
            <a:r>
              <a:rPr sz="1800" b="0" dirty="0" err="1">
                <a:latin typeface="Times New Roman"/>
              </a:rPr>
              <a:t>формализующих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качество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обмена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контекстом</a:t>
            </a:r>
            <a:r>
              <a:rPr sz="1800" b="0" dirty="0">
                <a:latin typeface="Times New Roman"/>
              </a:rPr>
              <a:t> и </a:t>
            </a:r>
            <a:r>
              <a:rPr sz="1800" b="0" dirty="0" err="1">
                <a:latin typeface="Times New Roman"/>
              </a:rPr>
              <a:t>допускающих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экспериментальную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верификацию</a:t>
            </a:r>
            <a:r>
              <a:rPr sz="1800" b="0" dirty="0">
                <a:latin typeface="Times New Roman"/>
              </a:rPr>
              <a:t>.</a:t>
            </a:r>
          </a:p>
          <a:p>
            <a:pPr algn="l"/>
            <a:endParaRPr sz="1800" b="0" dirty="0">
              <a:latin typeface="Times New Roman"/>
            </a:endParaRPr>
          </a:p>
          <a:p>
            <a:pPr algn="l"/>
            <a:r>
              <a:rPr sz="1800" b="0" dirty="0">
                <a:latin typeface="Times New Roman"/>
              </a:rPr>
              <a:t>3. </a:t>
            </a:r>
            <a:r>
              <a:rPr sz="1800" b="0" dirty="0" err="1">
                <a:latin typeface="Times New Roman"/>
              </a:rPr>
              <a:t>Обоснование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пороговых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значений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метрик</a:t>
            </a:r>
            <a:r>
              <a:rPr sz="1800" b="0" dirty="0">
                <a:latin typeface="Times New Roman"/>
              </a:rPr>
              <a:t>, </a:t>
            </a:r>
            <a:r>
              <a:rPr sz="1800" b="0" dirty="0" err="1">
                <a:latin typeface="Times New Roman"/>
              </a:rPr>
              <a:t>при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выполнении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которых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режим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автономного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реагирования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становится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операционно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допустимым</a:t>
            </a:r>
            <a:r>
              <a:rPr sz="1800" b="0" dirty="0">
                <a:latin typeface="Times New Roman"/>
              </a:rPr>
              <a:t>; </a:t>
            </a:r>
            <a:r>
              <a:rPr sz="1800" b="0" dirty="0" err="1">
                <a:latin typeface="Times New Roman"/>
              </a:rPr>
              <a:t>разделение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режимов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снижает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риск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выполнения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деструктивного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действия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на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основе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неполных</a:t>
            </a:r>
            <a:r>
              <a:rPr sz="1800" b="0" dirty="0">
                <a:latin typeface="Times New Roman"/>
              </a:rPr>
              <a:t> </a:t>
            </a:r>
            <a:r>
              <a:rPr sz="1800" b="0" dirty="0" err="1">
                <a:latin typeface="Times New Roman"/>
              </a:rPr>
              <a:t>данных</a:t>
            </a:r>
            <a:r>
              <a:rPr sz="1800" b="0" dirty="0"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8531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13CA-DEE4-922D-56E9-22F61F4D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BA6969-5C3E-D5CF-6D17-ED80485CC3C9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10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CE72B6-DE9D-C0FD-0921-A5A887B8EF03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Ограничения и направления исследований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latin typeface="Times New Roman"/>
              </a:rPr>
              <a:t>Ограничения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предложенного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подхода</a:t>
            </a:r>
            <a:r>
              <a:rPr sz="1600" dirty="0">
                <a:latin typeface="Times New Roman"/>
              </a:rPr>
              <a:t>:</a:t>
            </a:r>
          </a:p>
          <a:p>
            <a:pPr algn="l"/>
            <a:r>
              <a:rPr sz="1600" b="0" dirty="0">
                <a:latin typeface="Times New Roman"/>
              </a:rPr>
              <a:t>  •  </a:t>
            </a:r>
            <a:r>
              <a:rPr sz="1600" b="0" dirty="0" err="1">
                <a:latin typeface="Times New Roman"/>
              </a:rPr>
              <a:t>зависимость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качества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обогащения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от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полноты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сопоставления</a:t>
            </a:r>
            <a:r>
              <a:rPr sz="1600" b="0" dirty="0">
                <a:latin typeface="Times New Roman"/>
              </a:rPr>
              <a:t> с </a:t>
            </a:r>
            <a:r>
              <a:rPr sz="1600" b="0" dirty="0" err="1">
                <a:latin typeface="Times New Roman"/>
              </a:rPr>
              <a:t>таксономией</a:t>
            </a:r>
            <a:r>
              <a:rPr sz="1600" b="0" dirty="0">
                <a:latin typeface="Times New Roman"/>
              </a:rPr>
              <a:t> MITRE ATT&amp;CK;</a:t>
            </a:r>
          </a:p>
          <a:p>
            <a:pPr algn="l"/>
            <a:r>
              <a:rPr sz="1600" b="0" dirty="0">
                <a:latin typeface="Times New Roman"/>
              </a:rPr>
              <a:t>  •  </a:t>
            </a:r>
            <a:r>
              <a:rPr sz="1600" b="0" dirty="0" err="1">
                <a:latin typeface="Times New Roman"/>
              </a:rPr>
              <a:t>централизованная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модель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брокера</a:t>
            </a:r>
            <a:r>
              <a:rPr sz="1600" b="0" dirty="0">
                <a:latin typeface="Times New Roman"/>
              </a:rPr>
              <a:t>: </a:t>
            </a:r>
            <a:r>
              <a:rPr sz="1600" b="0" dirty="0" err="1">
                <a:latin typeface="Times New Roman"/>
              </a:rPr>
              <a:t>его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компрометация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делает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уязвимой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всю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систему</a:t>
            </a:r>
            <a:r>
              <a:rPr sz="1600" b="0" dirty="0">
                <a:latin typeface="Times New Roman"/>
              </a:rPr>
              <a:t>;</a:t>
            </a:r>
          </a:p>
          <a:p>
            <a:pPr algn="l"/>
            <a:r>
              <a:rPr sz="1600" b="0" dirty="0">
                <a:latin typeface="Times New Roman"/>
              </a:rPr>
              <a:t>  •  </a:t>
            </a:r>
            <a:r>
              <a:rPr sz="1600" b="0" dirty="0" err="1">
                <a:latin typeface="Times New Roman"/>
              </a:rPr>
              <a:t>недетерминированность</a:t>
            </a:r>
            <a:r>
              <a:rPr sz="1600" b="0" dirty="0">
                <a:latin typeface="Times New Roman"/>
              </a:rPr>
              <a:t> LLM-</a:t>
            </a:r>
            <a:r>
              <a:rPr sz="1600" b="0" dirty="0" err="1">
                <a:latin typeface="Times New Roman"/>
              </a:rPr>
              <a:t>агентов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требует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жёсткой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фиксации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набора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инструментов</a:t>
            </a:r>
            <a:r>
              <a:rPr sz="1600" b="0" dirty="0">
                <a:latin typeface="Times New Roman"/>
              </a:rPr>
              <a:t> MCP.</a:t>
            </a:r>
          </a:p>
          <a:p>
            <a:pPr algn="l"/>
            <a:endParaRPr sz="1600" dirty="0">
              <a:latin typeface="Times New Roman"/>
            </a:endParaRPr>
          </a:p>
          <a:p>
            <a:pPr algn="l"/>
            <a:r>
              <a:rPr sz="1600" dirty="0" err="1">
                <a:latin typeface="Times New Roman"/>
              </a:rPr>
              <a:t>Дальнейшие</a:t>
            </a:r>
            <a:r>
              <a:rPr sz="1600" dirty="0">
                <a:latin typeface="Times New Roman"/>
              </a:rPr>
              <a:t> </a:t>
            </a:r>
            <a:r>
              <a:rPr sz="1600" dirty="0" err="1">
                <a:latin typeface="Times New Roman"/>
              </a:rPr>
              <a:t>исследования</a:t>
            </a:r>
            <a:r>
              <a:rPr sz="1600" dirty="0">
                <a:latin typeface="Times New Roman"/>
              </a:rPr>
              <a:t>:</a:t>
            </a:r>
          </a:p>
          <a:p>
            <a:pPr algn="l"/>
            <a:r>
              <a:rPr sz="1600" b="0" dirty="0">
                <a:latin typeface="Times New Roman"/>
              </a:rPr>
              <a:t>  •  </a:t>
            </a:r>
            <a:r>
              <a:rPr sz="1600" b="0" dirty="0" err="1">
                <a:latin typeface="Times New Roman"/>
              </a:rPr>
              <a:t>формализация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онтологии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контекста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безопасности</a:t>
            </a:r>
            <a:r>
              <a:rPr sz="1600" b="0" dirty="0">
                <a:latin typeface="Times New Roman"/>
              </a:rPr>
              <a:t> (OCSF + STIX 2.1 + MITRE ATT&amp;CK);</a:t>
            </a:r>
          </a:p>
          <a:p>
            <a:pPr algn="l"/>
            <a:r>
              <a:rPr sz="1600" b="0" dirty="0">
                <a:latin typeface="Times New Roman"/>
              </a:rPr>
              <a:t>  •  </a:t>
            </a:r>
            <a:r>
              <a:rPr sz="1600" b="0" dirty="0" err="1">
                <a:latin typeface="Times New Roman"/>
              </a:rPr>
              <a:t>реализация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прототипа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брокера</a:t>
            </a:r>
            <a:r>
              <a:rPr sz="1600" b="0" dirty="0">
                <a:latin typeface="Times New Roman"/>
              </a:rPr>
              <a:t> и </a:t>
            </a:r>
            <a:r>
              <a:rPr sz="1600" b="0" dirty="0" err="1">
                <a:latin typeface="Times New Roman"/>
              </a:rPr>
              <a:t>нагрузочное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тестирование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по</a:t>
            </a:r>
            <a:r>
              <a:rPr sz="1600" b="0" dirty="0">
                <a:latin typeface="Times New Roman"/>
              </a:rPr>
              <a:t> ЗРК (≥ 10 </a:t>
            </a:r>
            <a:r>
              <a:rPr sz="1600" b="0" dirty="0" err="1">
                <a:latin typeface="Times New Roman"/>
              </a:rPr>
              <a:t>тыс</a:t>
            </a:r>
            <a:r>
              <a:rPr sz="1600" b="0" dirty="0">
                <a:latin typeface="Times New Roman"/>
              </a:rPr>
              <a:t>. </a:t>
            </a:r>
            <a:r>
              <a:rPr sz="1600" b="0" dirty="0" err="1">
                <a:latin typeface="Times New Roman"/>
              </a:rPr>
              <a:t>соб</a:t>
            </a:r>
            <a:r>
              <a:rPr sz="1600" b="0" dirty="0">
                <a:latin typeface="Times New Roman"/>
              </a:rPr>
              <a:t>./с);</a:t>
            </a:r>
          </a:p>
          <a:p>
            <a:pPr algn="l"/>
            <a:r>
              <a:rPr sz="1600" b="0" dirty="0">
                <a:latin typeface="Times New Roman"/>
              </a:rPr>
              <a:t>  •  </a:t>
            </a:r>
            <a:r>
              <a:rPr sz="1600" b="0" dirty="0" err="1">
                <a:latin typeface="Times New Roman"/>
              </a:rPr>
              <a:t>верификация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порогов</a:t>
            </a:r>
            <a:r>
              <a:rPr sz="1600" b="0" dirty="0">
                <a:latin typeface="Times New Roman"/>
              </a:rPr>
              <a:t> КПК и КССА </a:t>
            </a:r>
            <a:r>
              <a:rPr sz="1600" b="0" dirty="0" err="1">
                <a:latin typeface="Times New Roman"/>
              </a:rPr>
              <a:t>на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реальных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данных</a:t>
            </a:r>
            <a:r>
              <a:rPr sz="1600" b="0" dirty="0">
                <a:latin typeface="Times New Roman"/>
              </a:rPr>
              <a:t> SOC;</a:t>
            </a:r>
          </a:p>
          <a:p>
            <a:pPr algn="l"/>
            <a:r>
              <a:rPr sz="1600" b="0" dirty="0">
                <a:latin typeface="Times New Roman"/>
              </a:rPr>
              <a:t>  •  </a:t>
            </a:r>
            <a:r>
              <a:rPr sz="1600" b="0" dirty="0" err="1">
                <a:latin typeface="Times New Roman"/>
              </a:rPr>
              <a:t>защита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брокера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от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состязательных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воздействий</a:t>
            </a:r>
            <a:r>
              <a:rPr sz="1600" b="0" dirty="0"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8629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654A-899C-7057-5A57-1820855D5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CE6E6-76DF-0F2E-F015-32A46BCD024C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11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A867F1-E3FF-6BDB-22FE-AB6022BA0F42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1"/>
              <a:t>Сопоставление с существующими SOAR-системами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latin typeface="Times New Roman"/>
              </a:rPr>
              <a:t>Динамическое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формирование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плейбука</a:t>
            </a:r>
            <a:r>
              <a:rPr sz="1500" b="0" dirty="0">
                <a:latin typeface="Times New Roman"/>
              </a:rPr>
              <a:t>. </a:t>
            </a:r>
            <a:r>
              <a:rPr sz="1500" b="0" dirty="0" err="1">
                <a:latin typeface="Times New Roman"/>
              </a:rPr>
              <a:t>Типовые</a:t>
            </a:r>
            <a:r>
              <a:rPr sz="1500" b="0" dirty="0">
                <a:latin typeface="Times New Roman"/>
              </a:rPr>
              <a:t> SOAR-</a:t>
            </a:r>
            <a:r>
              <a:rPr sz="1500" b="0" dirty="0" err="1">
                <a:latin typeface="Times New Roman"/>
              </a:rPr>
              <a:t>системы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используют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статические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плейбуки</a:t>
            </a:r>
            <a:r>
              <a:rPr sz="1500" b="0" dirty="0">
                <a:latin typeface="Times New Roman"/>
              </a:rPr>
              <a:t>, </a:t>
            </a:r>
            <a:r>
              <a:rPr sz="1500" b="0" dirty="0" err="1">
                <a:latin typeface="Times New Roman"/>
              </a:rPr>
              <a:t>привязанные</a:t>
            </a:r>
            <a:r>
              <a:rPr sz="1500" b="0" dirty="0">
                <a:latin typeface="Times New Roman"/>
              </a:rPr>
              <a:t> к </a:t>
            </a:r>
            <a:r>
              <a:rPr sz="1500" b="0" dirty="0" err="1">
                <a:latin typeface="Times New Roman"/>
              </a:rPr>
              <a:t>классам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инцидентов</a:t>
            </a:r>
            <a:r>
              <a:rPr sz="1500" b="0" dirty="0">
                <a:latin typeface="Times New Roman"/>
              </a:rPr>
              <a:t>; </a:t>
            </a:r>
            <a:r>
              <a:rPr sz="1500" b="0" dirty="0" err="1">
                <a:latin typeface="Times New Roman"/>
              </a:rPr>
              <a:t>брокер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контекста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допускает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динамическое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формирование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сценария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на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основе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текущего</a:t>
            </a:r>
            <a:r>
              <a:rPr sz="1500" b="0" dirty="0">
                <a:latin typeface="Times New Roman"/>
              </a:rPr>
              <a:t> КПК.</a:t>
            </a:r>
          </a:p>
          <a:p>
            <a:pPr algn="l"/>
            <a:endParaRPr sz="1500" b="0" dirty="0">
              <a:latin typeface="Times New Roman"/>
            </a:endParaRPr>
          </a:p>
          <a:p>
            <a:pPr algn="l"/>
            <a:r>
              <a:rPr sz="1500" b="0" dirty="0" err="1">
                <a:latin typeface="Times New Roman"/>
              </a:rPr>
              <a:t>Формализованное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семантическое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согласование</a:t>
            </a:r>
            <a:r>
              <a:rPr sz="1500" b="0" dirty="0">
                <a:latin typeface="Times New Roman"/>
              </a:rPr>
              <a:t>. В </a:t>
            </a:r>
            <a:r>
              <a:rPr sz="1500" b="0" dirty="0" err="1">
                <a:latin typeface="Times New Roman"/>
              </a:rPr>
              <a:t>коммерческих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платформах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согласование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выполняется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неявно</a:t>
            </a:r>
            <a:r>
              <a:rPr sz="1500" b="0" dirty="0">
                <a:latin typeface="Times New Roman"/>
              </a:rPr>
              <a:t> в </a:t>
            </a:r>
            <a:r>
              <a:rPr sz="1500" b="0" dirty="0" err="1">
                <a:latin typeface="Times New Roman"/>
              </a:rPr>
              <a:t>конфигурации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коннекторов</a:t>
            </a:r>
            <a:r>
              <a:rPr sz="1500" b="0" dirty="0">
                <a:latin typeface="Times New Roman"/>
              </a:rPr>
              <a:t>; в </a:t>
            </a:r>
            <a:r>
              <a:rPr sz="1500" b="0" dirty="0" err="1">
                <a:latin typeface="Times New Roman"/>
              </a:rPr>
              <a:t>предложенном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решении</a:t>
            </a:r>
            <a:r>
              <a:rPr sz="1500" b="0" dirty="0">
                <a:latin typeface="Times New Roman"/>
              </a:rPr>
              <a:t> </a:t>
            </a:r>
            <a:r>
              <a:rPr lang="ru-RU" sz="1500" b="0" dirty="0">
                <a:latin typeface="Times New Roman"/>
              </a:rPr>
              <a:t>–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через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явные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таблицы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трансляции</a:t>
            </a:r>
            <a:r>
              <a:rPr sz="1500" b="0" dirty="0">
                <a:latin typeface="Times New Roman"/>
              </a:rPr>
              <a:t> и </a:t>
            </a:r>
            <a:r>
              <a:rPr sz="1500" b="0" dirty="0" err="1">
                <a:latin typeface="Times New Roman"/>
              </a:rPr>
              <a:t>метрику</a:t>
            </a:r>
            <a:r>
              <a:rPr sz="1500" b="0" dirty="0">
                <a:latin typeface="Times New Roman"/>
              </a:rPr>
              <a:t> КССА.</a:t>
            </a:r>
          </a:p>
          <a:p>
            <a:pPr algn="l"/>
            <a:endParaRPr sz="1500" b="0" dirty="0">
              <a:latin typeface="Times New Roman"/>
            </a:endParaRPr>
          </a:p>
          <a:p>
            <a:pPr algn="l"/>
            <a:r>
              <a:rPr sz="1500" b="0" dirty="0" err="1">
                <a:latin typeface="Times New Roman"/>
              </a:rPr>
              <a:t>Интеграция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протоколов</a:t>
            </a:r>
            <a:r>
              <a:rPr sz="1500" b="0" dirty="0">
                <a:latin typeface="Times New Roman"/>
              </a:rPr>
              <a:t> LLM-</a:t>
            </a:r>
            <a:r>
              <a:rPr sz="1500" b="0" dirty="0" err="1">
                <a:latin typeface="Times New Roman"/>
              </a:rPr>
              <a:t>агентов</a:t>
            </a:r>
            <a:r>
              <a:rPr sz="1500" b="0" dirty="0">
                <a:latin typeface="Times New Roman"/>
              </a:rPr>
              <a:t> с CTI. </a:t>
            </a:r>
            <a:r>
              <a:rPr sz="1500" b="0" dirty="0" err="1">
                <a:latin typeface="Times New Roman"/>
              </a:rPr>
              <a:t>Коммерческие</a:t>
            </a:r>
            <a:r>
              <a:rPr sz="1500" b="0" dirty="0">
                <a:latin typeface="Times New Roman"/>
              </a:rPr>
              <a:t> SOAR </a:t>
            </a:r>
            <a:r>
              <a:rPr sz="1500" b="0" dirty="0" err="1">
                <a:latin typeface="Times New Roman"/>
              </a:rPr>
              <a:t>не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сочетают</a:t>
            </a:r>
            <a:r>
              <a:rPr sz="1500" b="0" dirty="0">
                <a:latin typeface="Times New Roman"/>
              </a:rPr>
              <a:t> MCP/A2A с </a:t>
            </a:r>
            <a:r>
              <a:rPr sz="1500" b="0" dirty="0" err="1">
                <a:latin typeface="Times New Roman"/>
              </a:rPr>
              <a:t>разведывательными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форматами</a:t>
            </a:r>
            <a:r>
              <a:rPr sz="1500" b="0" dirty="0">
                <a:latin typeface="Times New Roman"/>
              </a:rPr>
              <a:t>; </a:t>
            </a:r>
            <a:r>
              <a:rPr sz="1500" b="0" dirty="0" err="1">
                <a:latin typeface="Times New Roman"/>
              </a:rPr>
              <a:t>брокер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контекста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выполняет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это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через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единую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онтологию</a:t>
            </a:r>
            <a:r>
              <a:rPr sz="1500" b="0" dirty="0">
                <a:latin typeface="Times New Roman"/>
              </a:rPr>
              <a:t> MITRE ATT&amp;CK.</a:t>
            </a:r>
          </a:p>
          <a:p>
            <a:pPr algn="l"/>
            <a:endParaRPr sz="1500" b="0" dirty="0">
              <a:latin typeface="Times New Roman"/>
            </a:endParaRPr>
          </a:p>
          <a:p>
            <a:pPr algn="l"/>
            <a:r>
              <a:rPr sz="1500" b="0" dirty="0" err="1">
                <a:latin typeface="Times New Roman"/>
              </a:rPr>
              <a:t>Практическая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значимость</a:t>
            </a:r>
            <a:r>
              <a:rPr sz="1500" b="0" dirty="0">
                <a:latin typeface="Times New Roman"/>
              </a:rPr>
              <a:t>: </a:t>
            </a:r>
            <a:r>
              <a:rPr sz="1500" b="0" dirty="0" err="1">
                <a:latin typeface="Times New Roman"/>
              </a:rPr>
              <a:t>возможна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поэтапная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интеграция</a:t>
            </a:r>
            <a:r>
              <a:rPr sz="1500" b="0" dirty="0">
                <a:latin typeface="Times New Roman"/>
              </a:rPr>
              <a:t> в </a:t>
            </a:r>
            <a:r>
              <a:rPr sz="1500" b="0" dirty="0" err="1">
                <a:latin typeface="Times New Roman"/>
              </a:rPr>
              <a:t>действующие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центры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реагирования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параллельно</a:t>
            </a:r>
            <a:r>
              <a:rPr sz="1500" b="0" dirty="0">
                <a:latin typeface="Times New Roman"/>
              </a:rPr>
              <a:t> </a:t>
            </a:r>
            <a:r>
              <a:rPr sz="1500" b="0" dirty="0" err="1">
                <a:latin typeface="Times New Roman"/>
              </a:rPr>
              <a:t>существующей</a:t>
            </a:r>
            <a:r>
              <a:rPr sz="1500" b="0" dirty="0">
                <a:latin typeface="Times New Roman"/>
              </a:rPr>
              <a:t> SOAR-</a:t>
            </a:r>
            <a:r>
              <a:rPr sz="1500" b="0" dirty="0" err="1">
                <a:latin typeface="Times New Roman"/>
              </a:rPr>
              <a:t>инфраструктуре</a:t>
            </a:r>
            <a:r>
              <a:rPr sz="1500" b="0" dirty="0"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61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sz="2800" b="1"/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12</a:t>
            </a:r>
            <a:endParaRPr lang="ru-RU" sz="1200" dirty="0">
              <a:latin typeface="+mn-lt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3D5390F-A16E-C0BF-1D57-BCE08725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 wrap="square"/>
          <a:lstStyle/>
          <a:p>
            <a:pPr algn="l"/>
            <a:r>
              <a:rPr sz="1500" dirty="0" err="1">
                <a:latin typeface="Times New Roman"/>
              </a:rPr>
              <a:t>Систематизированы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шесть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протоколов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обмена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данными</a:t>
            </a:r>
            <a:r>
              <a:rPr sz="1500" dirty="0">
                <a:latin typeface="Times New Roman"/>
              </a:rPr>
              <a:t> </a:t>
            </a:r>
            <a:r>
              <a:rPr lang="ru-RU" sz="1500" dirty="0">
                <a:latin typeface="Times New Roman"/>
              </a:rPr>
              <a:t>–</a:t>
            </a:r>
            <a:r>
              <a:rPr sz="1500" dirty="0">
                <a:latin typeface="Times New Roman"/>
              </a:rPr>
              <a:t> STIX 2.1/TAXII 2.1, OCSF, CACAO 2.0, OpenC2, Model Context Protocol и Agent-to-Agent </a:t>
            </a:r>
            <a:r>
              <a:rPr lang="ru-RU" sz="1500" dirty="0">
                <a:latin typeface="Times New Roman"/>
              </a:rPr>
              <a:t>–</a:t>
            </a:r>
            <a:r>
              <a:rPr sz="1500" dirty="0">
                <a:latin typeface="Times New Roman"/>
              </a:rPr>
              <a:t> и </a:t>
            </a:r>
            <a:r>
              <a:rPr sz="1500" dirty="0" err="1">
                <a:latin typeface="Times New Roman"/>
              </a:rPr>
              <a:t>выполнен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их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сравнительный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анализ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пяти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признакам</a:t>
            </a:r>
            <a:r>
              <a:rPr sz="1500" dirty="0">
                <a:latin typeface="Times New Roman"/>
              </a:rPr>
              <a:t>.</a:t>
            </a:r>
          </a:p>
          <a:p>
            <a:pPr algn="l"/>
            <a:endParaRPr sz="1500" dirty="0">
              <a:latin typeface="Times New Roman"/>
            </a:endParaRPr>
          </a:p>
          <a:p>
            <a:pPr algn="l"/>
            <a:r>
              <a:rPr sz="1500" dirty="0" err="1">
                <a:latin typeface="Times New Roman"/>
              </a:rPr>
              <a:t>Введены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три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количественные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метрики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качества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межагентного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взаимодействия</a:t>
            </a:r>
            <a:r>
              <a:rPr sz="1500" dirty="0">
                <a:latin typeface="Times New Roman"/>
              </a:rPr>
              <a:t> (КПК, ЗРК, КССА) и </a:t>
            </a:r>
            <a:r>
              <a:rPr sz="1500" dirty="0" err="1">
                <a:latin typeface="Times New Roman"/>
              </a:rPr>
              <a:t>сформулированы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пороговые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значения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для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автономного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режима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реагирования</a:t>
            </a:r>
            <a:r>
              <a:rPr sz="1500" dirty="0">
                <a:latin typeface="Times New Roman"/>
              </a:rPr>
              <a:t> (КПК ≥ 0,7; ЗРК ≤ 500 </a:t>
            </a:r>
            <a:r>
              <a:rPr sz="1500" dirty="0" err="1">
                <a:latin typeface="Times New Roman"/>
              </a:rPr>
              <a:t>мс</a:t>
            </a:r>
            <a:r>
              <a:rPr sz="1500" dirty="0">
                <a:latin typeface="Times New Roman"/>
              </a:rPr>
              <a:t>; КССА ≥ 0,85).</a:t>
            </a:r>
          </a:p>
          <a:p>
            <a:pPr algn="l"/>
            <a:endParaRPr sz="1500" dirty="0">
              <a:latin typeface="Times New Roman"/>
            </a:endParaRPr>
          </a:p>
          <a:p>
            <a:pPr algn="l"/>
            <a:r>
              <a:rPr sz="1500" dirty="0" err="1">
                <a:latin typeface="Times New Roman"/>
              </a:rPr>
              <a:t>Предложена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трёхуровневая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концептуальная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архитектура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брокера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контекста</a:t>
            </a:r>
            <a:r>
              <a:rPr sz="1500" dirty="0">
                <a:latin typeface="Times New Roman"/>
              </a:rPr>
              <a:t> с </a:t>
            </a:r>
            <a:r>
              <a:rPr sz="1500" dirty="0" err="1">
                <a:latin typeface="Times New Roman"/>
              </a:rPr>
              <a:t>трансляцией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форматов</a:t>
            </a:r>
            <a:r>
              <a:rPr sz="1500" dirty="0">
                <a:latin typeface="Times New Roman"/>
              </a:rPr>
              <a:t>, </a:t>
            </a:r>
            <a:r>
              <a:rPr sz="1500" dirty="0" err="1">
                <a:latin typeface="Times New Roman"/>
              </a:rPr>
              <a:t>семантическим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обогащением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по</a:t>
            </a:r>
            <a:r>
              <a:rPr sz="1500" dirty="0">
                <a:latin typeface="Times New Roman"/>
              </a:rPr>
              <a:t> MITRE ATT&amp;CK и </a:t>
            </a:r>
            <a:r>
              <a:rPr sz="1500" dirty="0" err="1">
                <a:latin typeface="Times New Roman"/>
              </a:rPr>
              <a:t>иммутабельным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журналом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изменений</a:t>
            </a:r>
            <a:r>
              <a:rPr sz="1500" dirty="0">
                <a:latin typeface="Times New Roman"/>
              </a:rPr>
              <a:t>.</a:t>
            </a:r>
          </a:p>
          <a:p>
            <a:pPr algn="l"/>
            <a:endParaRPr sz="1500" dirty="0">
              <a:latin typeface="Times New Roman"/>
            </a:endParaRPr>
          </a:p>
          <a:p>
            <a:pPr algn="l"/>
            <a:r>
              <a:rPr sz="1500" dirty="0" err="1">
                <a:latin typeface="Times New Roman"/>
              </a:rPr>
              <a:t>Архитектура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обеспечивает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целостный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цикл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координации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агентов</a:t>
            </a:r>
            <a:r>
              <a:rPr sz="1500" dirty="0">
                <a:latin typeface="Times New Roman"/>
              </a:rPr>
              <a:t> и </a:t>
            </a:r>
            <a:r>
              <a:rPr sz="1500" dirty="0" err="1">
                <a:latin typeface="Times New Roman"/>
              </a:rPr>
              <a:t>допускает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поэтапную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интеграцию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параллельно</a:t>
            </a:r>
            <a:r>
              <a:rPr sz="1500" dirty="0">
                <a:latin typeface="Times New Roman"/>
              </a:rPr>
              <a:t> </a:t>
            </a:r>
            <a:r>
              <a:rPr sz="1500" dirty="0" err="1">
                <a:latin typeface="Times New Roman"/>
              </a:rPr>
              <a:t>существующей</a:t>
            </a:r>
            <a:r>
              <a:rPr sz="1500" dirty="0">
                <a:latin typeface="Times New Roman"/>
              </a:rPr>
              <a:t> SOAR-</a:t>
            </a:r>
            <a:r>
              <a:rPr sz="1500" dirty="0" err="1">
                <a:latin typeface="Times New Roman"/>
              </a:rPr>
              <a:t>инфраструктуре</a:t>
            </a:r>
            <a:r>
              <a:rPr sz="1500" dirty="0"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940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buClrTx/>
              <a:buFontTx/>
              <a:buNone/>
            </a:pPr>
            <a:r>
              <a:rPr sz="3200" b="1"/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+mn-lt"/>
              </a:rPr>
              <a:t>13</a:t>
            </a:r>
            <a:endParaRPr lang="ru-RU" sz="1200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  <a:p>
            <a:pPr algn="ctr"/>
            <a:endParaRPr/>
          </a:p>
          <a:p>
            <a:pPr algn="ctr"/>
            <a:r>
              <a:rPr sz="2000">
                <a:latin typeface="Times New Roman"/>
              </a:rPr>
              <a:t>Мухаметшин А.Р.</a:t>
            </a:r>
          </a:p>
          <a:p>
            <a:pPr algn="ctr"/>
            <a:r>
              <a:rPr sz="2000">
                <a:latin typeface="Times New Roman"/>
              </a:rPr>
              <a:t>магистрант 1 курса,</a:t>
            </a:r>
          </a:p>
          <a:p>
            <a:pPr algn="ctr"/>
            <a:r>
              <a:rPr sz="2000">
                <a:latin typeface="Times New Roman"/>
              </a:rPr>
              <a:t>Институт кибербезопасности и цифровых технологий</a:t>
            </a:r>
          </a:p>
          <a:p>
            <a:pPr algn="ctr"/>
            <a:r>
              <a:rPr sz="2000">
                <a:latin typeface="Times New Roman"/>
              </a:rPr>
              <a:t>РТУ МИРЭА</a:t>
            </a:r>
          </a:p>
          <a:p>
            <a:pPr algn="ctr"/>
            <a:endParaRPr sz="2000">
              <a:latin typeface="Times New Roman"/>
            </a:endParaRPr>
          </a:p>
          <a:p>
            <a:pPr algn="ctr"/>
            <a:r>
              <a:rPr sz="2000">
                <a:latin typeface="Times New Roman"/>
              </a:rPr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821009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CE6E6-76DF-0F2E-F015-32A46BCD024C}"/>
              </a:ext>
            </a:extLst>
          </p:cNvPr>
          <p:cNvSpPr txBox="1"/>
          <p:nvPr/>
        </p:nvSpPr>
        <p:spPr>
          <a:xfrm>
            <a:off x="8167255" y="6328065"/>
            <a:ext cx="75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400">
                <a:latin typeface="Times New Roman"/>
              </a:rPr>
              <a:t>14</a:t>
            </a:r>
          </a:p>
        </p:txBody>
      </p:sp>
      <p:sp>
        <p:nvSpPr>
          <p:cNvPr id="7" name="Прямоугольник 1">
            <a:extLst>
              <a:ext uri="{FF2B5EF4-FFF2-40B4-BE49-F238E27FC236}">
                <a16:creationId xmlns:a16="http://schemas.microsoft.com/office/drawing/2014/main" id="{AFA867F1-E3FF-6BDB-22FE-AB6022BA0F42}"/>
              </a:ext>
            </a:extLst>
          </p:cNvPr>
          <p:cNvSpPr/>
          <p:nvPr/>
        </p:nvSpPr>
        <p:spPr>
          <a:xfrm>
            <a:off x="0" y="0"/>
            <a:ext cx="8805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Times New Roman"/>
              </a:rPr>
              <a:t>Приложение 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latin typeface="Times New Roman"/>
              </a:rPr>
              <a:t>Сертификат участия в конференции</a:t>
            </a:r>
          </a:p>
        </p:txBody>
      </p:sp>
      <p:pic>
        <p:nvPicPr>
          <p:cNvPr id="6" name="Picture 5" descr="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826" y="1371600"/>
            <a:ext cx="3556347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6728</TotalTime>
  <Words>1015</Words>
  <Application>Microsoft Office PowerPoint</Application>
  <PresentationFormat>Экран (4:3)</PresentationFormat>
  <Paragraphs>130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Impact</vt:lpstr>
      <vt:lpstr>Times New Roman</vt:lpstr>
      <vt:lpstr>1_Default Design</vt:lpstr>
      <vt:lpstr>2_Default Design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>Станислав А. Кудж</Manager>
  <Company>РСА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Предложения к Концепции</dc:title>
  <dc:creator>Станислав А. Кудж</dc:creator>
  <cp:lastModifiedBy>Alexandr Slasher</cp:lastModifiedBy>
  <cp:revision>604</cp:revision>
  <cp:lastPrinted>2017-04-28T08:27:55Z</cp:lastPrinted>
  <dcterms:created xsi:type="dcterms:W3CDTF">2004-03-24T15:36:34Z</dcterms:created>
  <dcterms:modified xsi:type="dcterms:W3CDTF">2026-05-27T04:18:31Z</dcterms:modified>
</cp:coreProperties>
</file>