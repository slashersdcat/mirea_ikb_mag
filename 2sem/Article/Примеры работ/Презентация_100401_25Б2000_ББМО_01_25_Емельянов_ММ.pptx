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4673" r:id="rId2"/>
  </p:sldMasterIdLst>
  <p:notesMasterIdLst>
    <p:notesMasterId r:id="rId16"/>
  </p:notesMasterIdLst>
  <p:sldIdLst>
    <p:sldId id="290" r:id="rId3"/>
    <p:sldId id="292" r:id="rId4"/>
    <p:sldId id="304" r:id="rId5"/>
    <p:sldId id="313" r:id="rId6"/>
    <p:sldId id="305" r:id="rId7"/>
    <p:sldId id="306" r:id="rId8"/>
    <p:sldId id="308" r:id="rId9"/>
    <p:sldId id="307" r:id="rId10"/>
    <p:sldId id="310" r:id="rId11"/>
    <p:sldId id="311" r:id="rId12"/>
    <p:sldId id="312" r:id="rId13"/>
    <p:sldId id="301" r:id="rId14"/>
    <p:sldId id="309" r:id="rId15"/>
  </p:sldIdLst>
  <p:sldSz cx="9144000" cy="6858000" type="screen4x3"/>
  <p:notesSz cx="6797675" cy="992822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рина Красноперова" initials="ИК" lastIdx="1" clrIdx="0">
    <p:extLst>
      <p:ext uri="{19B8F6BF-5375-455C-9EA6-DF929625EA0E}">
        <p15:presenceInfo xmlns:p15="http://schemas.microsoft.com/office/powerpoint/2012/main" userId="1e389190c458cc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66"/>
    <a:srgbClr val="97CBFF"/>
    <a:srgbClr val="B3D9FF"/>
    <a:srgbClr val="990000"/>
    <a:srgbClr val="CBCFDB"/>
    <a:srgbClr val="FFE4C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7" autoAdjust="0"/>
    <p:restoredTop sz="85068" autoAdjust="0"/>
  </p:normalViewPr>
  <p:slideViewPr>
    <p:cSldViewPr snapToGrid="0">
      <p:cViewPr>
        <p:scale>
          <a:sx n="105" d="100"/>
          <a:sy n="105" d="100"/>
        </p:scale>
        <p:origin x="1512" y="200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"/>
    </p:cViewPr>
  </p:sorterViewPr>
  <p:notesViewPr>
    <p:cSldViewPr snapToGrid="0">
      <p:cViewPr varScale="1">
        <p:scale>
          <a:sx n="64" d="100"/>
          <a:sy n="64" d="100"/>
        </p:scale>
        <p:origin x="-3444" y="-114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6144"/>
            <a:ext cx="5438140" cy="446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055D563B-D296-4A85-9EE8-8990DC6445B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734280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5538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0820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EAC5-980B-67BD-6A99-A37E25E5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85C6FC-DF71-9C74-B550-CD85DD8AA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282DD5C-3890-D40D-5BCA-73D57230A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CA9564-C3C2-8741-68B5-3810DDF03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16402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38212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CC34-7E36-BC6B-631D-6825FACB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F9FE03-792A-1DAC-FFC9-892873E40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782FD1-6599-67C5-6738-5001B3E1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842129-497E-0650-2A1E-5E1E820C6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50663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B145-AFD7-5D42-1D62-C6C5CCF5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5B03B8-FCAD-1DEA-1953-32EAF84CB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51719C-4763-DC91-89FE-A1CC15C70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05A610-7FFF-AD4D-6C00-0CAE77868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39972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502E-F721-01D5-3382-F43A30B7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9A64D7-595B-A025-1900-531F38D58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0D7664-5DC8-8F05-1E84-E45E00992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54AF56-7446-BD75-6E15-5D23E8720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81492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24AB-EF78-81EC-5F51-7C9715B18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C0D5C2-14BC-C9DA-673E-6D9BD03D2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E8DC92-C8BB-1595-5DDF-936E6331F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58E3B2-F388-7095-CEBC-C76B430A8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98884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203D-B447-AA80-A425-CBBD5FF1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19F14BF-13B3-2760-E71F-6F03F922E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575B5EB-8EAD-8160-1EBE-C2E2E9527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338AB7-B7D4-8CDC-219C-580A787E5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13426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6407-A6B4-73B0-DA5C-1CCFA897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48EA03-263C-83A3-AFC3-E330208BC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384644-2759-2457-EBE1-DA9EB45DA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FEB5BB-EB40-843A-0838-B627ADD52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02071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39291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7564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6" r:id="rId1"/>
    <p:sldLayoutId id="2147484697" r:id="rId2"/>
    <p:sldLayoutId id="2147484698" r:id="rId3"/>
    <p:sldLayoutId id="2147484699" r:id="rId4"/>
    <p:sldLayoutId id="2147484700" r:id="rId5"/>
    <p:sldLayoutId id="2147484701" r:id="rId6"/>
    <p:sldLayoutId id="2147484702" r:id="rId7"/>
    <p:sldLayoutId id="2147484703" r:id="rId8"/>
    <p:sldLayoutId id="2147484704" r:id="rId9"/>
    <p:sldLayoutId id="2147484705" r:id="rId10"/>
    <p:sldLayoutId id="214748470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7" r:id="rId1"/>
    <p:sldLayoutId id="2147484708" r:id="rId2"/>
    <p:sldLayoutId id="2147484709" r:id="rId3"/>
    <p:sldLayoutId id="2147484710" r:id="rId4"/>
    <p:sldLayoutId id="2147484711" r:id="rId5"/>
    <p:sldLayoutId id="2147484712" r:id="rId6"/>
    <p:sldLayoutId id="2147484713" r:id="rId7"/>
    <p:sldLayoutId id="2147484714" r:id="rId8"/>
    <p:sldLayoutId id="2147484715" r:id="rId9"/>
    <p:sldLayoutId id="2147484716" r:id="rId10"/>
    <p:sldLayoutId id="214748471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https://miro.medium.com/v2/1*zUYwSHCA2wFF8BW8E7D92w.png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file:////Users/matvei/Library/Group%20Containers/UBF8T346G9.ms/WebArchiveCopyPasteTempFiles/com.microsoft.Word/1764945815024-webp.8108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file:////Users/matvei/Library/Group%20Containers/UBF8T346G9.ms/WebArchiveCopyPasteTempFiles/com.microsoft.Word/1764945690051-webp.81084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file:////Users/matvei/Library/Group%20Containers/UBF8T346G9.ms/WebArchiveCopyPasteTempFiles/com.microsoft.Word/1590175805763-png.41036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268389"/>
            <a:ext cx="914399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научно-исследовательской работы</a:t>
            </a:r>
          </a:p>
          <a:p>
            <a:pPr algn="ctr"/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«Исследование механизмов изоляции и защиты ресурсов разделяемого ядра в средах </a:t>
            </a:r>
            <a:r>
              <a:rPr lang="ru-RU" alt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оркестрации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контейнеров»</a:t>
            </a:r>
            <a:b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alt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Емельянов 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			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Руководитель:Матюхина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Е.Н. 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81797"/>
              </p:ext>
            </p:extLst>
          </p:nvPr>
        </p:nvGraphicFramePr>
        <p:xfrm>
          <a:off x="0" y="987197"/>
          <a:ext cx="9144000" cy="1744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МИНОБРНАУКИ РОССИИ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Федеральное государственное бюджетное образовательное учреждение 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высшего образования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«МИРЭА – Российский технологический университет»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РТУ МИРЭА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Институт кибербезопасности и цифровых технологий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Кафедра КБ-4 «Интеллектуальные системы информационной безопасности»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 г.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69" y="2114550"/>
            <a:ext cx="7185660" cy="9184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26"/>
            <a:ext cx="9144000" cy="17482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5" y="21393"/>
            <a:ext cx="890270" cy="100901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865" y="2888766"/>
            <a:ext cx="890270" cy="988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2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0BECB8-FB9B-4089-B794-06AFF573ED37}"/>
              </a:ext>
            </a:extLst>
          </p:cNvPr>
          <p:cNvSpPr/>
          <p:nvPr/>
        </p:nvSpPr>
        <p:spPr>
          <a:xfrm>
            <a:off x="120316" y="0"/>
            <a:ext cx="88054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задачи 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57B338-B5E5-7C58-3DC0-7F8ABF987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53" y="784654"/>
            <a:ext cx="8229600" cy="5543411"/>
          </a:xfrm>
        </p:spPr>
        <p:txBody>
          <a:bodyPr/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Контейнеризация доминирует в корпоративных инфраструктурах. Крупные компании мигрируют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оркестраторы.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Разделяемое ядро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 риски безопасности. Большинство образов содержат критические уязвимости,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escape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exploits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стал стандартной атакой.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изоляции (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namespaces,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cgroups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seccomp)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защищают от атак на ядро. Оркестраторы уязвимы к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шумных соседей.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ФСТЭК требует защиты контейнеров, импортозамещение создает потребность анализа отечественных решений.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 анализ изоляции на стыке ядра,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защиты и оркестраторов с учетом требований РФ.</a:t>
            </a:r>
          </a:p>
        </p:txBody>
      </p:sp>
    </p:spTree>
    <p:extLst>
      <p:ext uri="{BB962C8B-B14F-4D97-AF65-F5344CB8AC3E}">
        <p14:creationId xmlns:p14="http://schemas.microsoft.com/office/powerpoint/2010/main" val="247626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0BECB8-FB9B-4089-B794-06AFF573ED37}"/>
              </a:ext>
            </a:extLst>
          </p:cNvPr>
          <p:cNvSpPr/>
          <p:nvPr/>
        </p:nvSpPr>
        <p:spPr>
          <a:xfrm>
            <a:off x="0" y="0"/>
            <a:ext cx="8805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DF0F4-9A52-0032-C232-9489381E9883}"/>
              </a:ext>
            </a:extLst>
          </p:cNvPr>
          <p:cNvSpPr txBox="1"/>
          <p:nvPr/>
        </p:nvSpPr>
        <p:spPr>
          <a:xfrm>
            <a:off x="279852" y="1871371"/>
            <a:ext cx="82666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системный анализ механизмов изоляции и защиты ресурсов разделяемого ядра </a:t>
            </a:r>
            <a:r>
              <a:rPr lang="e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средах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оркестрации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контейнеров (</a:t>
            </a:r>
            <a:r>
              <a:rPr lang="e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Kubernetes, Docker Swarm, Nomad), 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ограничения существующих технологий (</a:t>
            </a:r>
            <a:r>
              <a:rPr lang="e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namespaces, </a:t>
            </a:r>
            <a:r>
              <a:rPr lang="e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cgroups</a:t>
            </a:r>
            <a:r>
              <a:rPr lang="e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seccomp) 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средств защиты (</a:t>
            </a:r>
            <a:r>
              <a:rPr lang="e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KCS, PT Container Security), 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их эффективность против </a:t>
            </a:r>
            <a:r>
              <a:rPr lang="e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escape 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DoS-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атак, сформировать рекомендации по повышению безопасности с учетом требований ФСТЭК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3954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1952-81F3-EF3C-976D-EEA6E82B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1A1DDC-985F-8FEA-E2A4-C84808034CD9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4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40251BA-BC3E-A109-3681-BDAFF88643E8}"/>
              </a:ext>
            </a:extLst>
          </p:cNvPr>
          <p:cNvSpPr/>
          <p:nvPr/>
        </p:nvSpPr>
        <p:spPr>
          <a:xfrm>
            <a:off x="0" y="0"/>
            <a:ext cx="88054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3D2192-2231-F4FF-4CB1-FFD409AB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462" y="24164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74E31-99A8-AB97-FF0E-EC530F809555}"/>
              </a:ext>
            </a:extLst>
          </p:cNvPr>
          <p:cNvSpPr txBox="1"/>
          <p:nvPr/>
        </p:nvSpPr>
        <p:spPr>
          <a:xfrm>
            <a:off x="473993" y="1551223"/>
            <a:ext cx="81212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архитектур контейнеризации: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LXC и их механизмов изоляции (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namespaces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cgroups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seccomp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Систематизация уязвимостей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оркестраторах (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Swarm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OpenShift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Nomad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оценка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runtime-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KCS, PT Container Security, 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Sysdig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Secure, Aqua Security.</a:t>
            </a:r>
            <a:endParaRPr lang="ru-RU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19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0BECB8-FB9B-4089-B794-06AFF573ED37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Отличие контейнеров от виртуальных машин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1B825D-B154-24BB-2C50-1A9204FED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460" y="1230721"/>
            <a:ext cx="5323190" cy="203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871A2CBE-F605-2540-6166-AA722EF0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462" y="24164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51" name="Рисунок 1">
            <a:extLst>
              <a:ext uri="{FF2B5EF4-FFF2-40B4-BE49-F238E27FC236}">
                <a16:creationId xmlns:a16="http://schemas.microsoft.com/office/drawing/2014/main" id="{78DE699F-7607-B26D-15EC-509848B1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460" y="3267458"/>
            <a:ext cx="4811799" cy="339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000E70-56DA-9740-AC3D-6A67858DBE5A}"/>
              </a:ext>
            </a:extLst>
          </p:cNvPr>
          <p:cNvSpPr txBox="1"/>
          <p:nvPr/>
        </p:nvSpPr>
        <p:spPr>
          <a:xfrm>
            <a:off x="169262" y="1636567"/>
            <a:ext cx="32449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изолированный процесс с полным файловым окружением приложения (библиотеки, зависимости, конфигурация), использующий ядро хоста через 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namespaces</a:t>
            </a:r>
            <a:r>
              <a:rPr lang="e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процессы, сеть, файлы) и </a:t>
            </a:r>
            <a:r>
              <a:rPr lang="e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cgroups</a:t>
            </a:r>
            <a:r>
              <a:rPr lang="e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 </a:t>
            </a:r>
            <a:r>
              <a:rPr lang="e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CPU/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памяти).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10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B9789-64F6-3FAC-261B-DA5EAD33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E9A248-155F-08BB-9E79-7C58D857EE08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B5264FB-6611-90FF-219E-8A9B5EB7CD3C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архитектур контейнеров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E0845A-B7F6-D624-F6C9-5EDF6C7F8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755" y="674688"/>
            <a:ext cx="6921500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25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CBAE-FF98-0427-F6DF-8389F0C9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1A2971-C452-B7E4-99B3-0CDD228C893F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7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61AC91B-9919-AFD0-F633-F2918465657D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атак на контейнеры 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75E284-0432-DBD8-F351-65C695CBB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38" y="1041266"/>
            <a:ext cx="8229600" cy="268953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40C8340-3098-733B-424D-74307232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68" y="379004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097" name="Рисунок 7" descr="1764945690051.webp">
            <a:extLst>
              <a:ext uri="{FF2B5EF4-FFF2-40B4-BE49-F238E27FC236}">
                <a16:creationId xmlns:a16="http://schemas.microsoft.com/office/drawing/2014/main" id="{F724BC09-3FF9-3708-F594-672EE94D1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53955"/>
            <a:ext cx="5715000" cy="1564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432ADAB8-D343-2523-4667-A7657AF50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099" name="Рисунок 8" descr="1764945815024.webp">
            <a:extLst>
              <a:ext uri="{FF2B5EF4-FFF2-40B4-BE49-F238E27FC236}">
                <a16:creationId xmlns:a16="http://schemas.microsoft.com/office/drawing/2014/main" id="{3F3E6A39-36D7-2B03-86B1-967831DD9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886" y="3298865"/>
            <a:ext cx="5511114" cy="211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37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156F-D3BB-DB99-3B22-F5DA3728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4F7E4A-C53F-B4B4-42C6-EFA99464EA83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8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DDECB68-F7F8-6D40-12FD-DEA6EA38C928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Оркестраторы контейнеров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Системы оркестрации контейнеров: что такое и лучше для вашего проекта">
            <a:extLst>
              <a:ext uri="{FF2B5EF4-FFF2-40B4-BE49-F238E27FC236}">
                <a16:creationId xmlns:a16="http://schemas.microsoft.com/office/drawing/2014/main" id="{6134C9FB-BAF1-CCCE-A38B-87421C0E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98" y="2821994"/>
            <a:ext cx="6301946" cy="384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7367DF-5F4C-DA5F-4130-7BC6E81B8F8F}"/>
              </a:ext>
            </a:extLst>
          </p:cNvPr>
          <p:cNvSpPr txBox="1"/>
          <p:nvPr/>
        </p:nvSpPr>
        <p:spPr>
          <a:xfrm>
            <a:off x="101175" y="1379495"/>
            <a:ext cx="7636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Оркестратор контейнеров — это программа, которая управляет запуском и работой контейнеров. Она помогает автоматически распределять контейнеры по серверам, следит, чтобы они были доступны, перезапускает их при сбоях и управляет нагрузкой.</a:t>
            </a:r>
          </a:p>
        </p:txBody>
      </p:sp>
    </p:spTree>
    <p:extLst>
      <p:ext uri="{BB962C8B-B14F-4D97-AF65-F5344CB8AC3E}">
        <p14:creationId xmlns:p14="http://schemas.microsoft.com/office/powerpoint/2010/main" val="306105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4C3D-25D5-0CDA-27AA-3E975ADF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891421-6BEA-1C95-2D75-3FF1209C10FC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9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E13037-0340-EEA1-AD0D-0EEDB64065B6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разных оркестраторов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15B9A8-C00F-C6E6-7715-DC51298E3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539" y="1275890"/>
            <a:ext cx="5556720" cy="516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31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13CA-DEE4-922D-56E9-22F61F4D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BA6969-5C3E-D5CF-6D17-ED80485CC3C9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10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CE72B6-DE9D-C0FD-0921-A5A887B8EF03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атак на оркестраторов контейнеров 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E9279-1C61-3664-D6CB-5D50B116D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26" y="2400638"/>
            <a:ext cx="1130643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145" name="Рисунок 11">
            <a:extLst>
              <a:ext uri="{FF2B5EF4-FFF2-40B4-BE49-F238E27FC236}">
                <a16:creationId xmlns:a16="http://schemas.microsoft.com/office/drawing/2014/main" id="{9AC8F3F5-4DFA-3D7B-586B-43F8EBD50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63" y="1239103"/>
            <a:ext cx="7616147" cy="406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629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654A-899C-7057-5A57-1820855D5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CE6E6-76DF-0F2E-F015-32A46BCD024C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A867F1-E3FF-6BDB-22FE-AB6022BA0F42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архитектур защит контейнеров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B297A2-A40E-1656-E757-9D981355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901" y="755936"/>
            <a:ext cx="4177058" cy="527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12</a:t>
            </a:r>
            <a:endParaRPr lang="ru-RU" sz="1200" dirty="0">
              <a:latin typeface="+mn-lt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3D5390F-A16E-C0BF-1D57-BCE08725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210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исследования проведен системный анализ механизмов изоляции и защиты ресурсов разделяемого ядра в средах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оркестрации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контейнеров. Установлено, что эксплуатация единого ядра хост-системы формирует критический вектор уязвимостей, где вероятность успешной компрометации напрямую коррелирует со сложностью архитектуры распределенного кластера. Базовые технологии виртуализации уровня операционной системы, включая пространства имен, контрольные группы и фильтрацию системных вызовов, требуют строгой алгоритмизации контроля. Дефолтные конфигурации демонстрируют высокую подверженность рискам повышения привилегий и эксплуатации уязвимостей среды выполнения в рамках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breakout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-сценариев.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0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13</a:t>
            </a:r>
            <a:endParaRPr lang="ru-RU" sz="1200" dirty="0">
              <a:latin typeface="+mn-lt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3D5390F-A16E-C0BF-1D57-BCE08725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23" y="710514"/>
            <a:ext cx="8229600" cy="4525963"/>
          </a:xfrm>
        </p:spPr>
        <p:txBody>
          <a:bodyPr/>
          <a:lstStyle/>
          <a:p>
            <a:r>
              <a:rPr lang="ru-RU" dirty="0"/>
              <a:t>Сертификат: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9FDECF-ED02-EFBC-5985-E979953B8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50" y="1307576"/>
            <a:ext cx="5306626" cy="370926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9416D-17EB-F432-0BBC-54952E916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686" y="710514"/>
            <a:ext cx="3682314" cy="524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09259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6725</TotalTime>
  <Words>508</Words>
  <Application>Microsoft Macintosh PowerPoint</Application>
  <PresentationFormat>Экран (4:3)</PresentationFormat>
  <Paragraphs>77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Impact</vt:lpstr>
      <vt:lpstr>Times New Roman</vt:lpstr>
      <vt:lpstr>1_Default Design</vt:lpstr>
      <vt:lpstr>2_Default Design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>Станислав А. Кудж</Manager>
  <Company>РСА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Предложения к Концепции</dc:title>
  <dc:creator>Станислав А. Кудж</dc:creator>
  <cp:lastModifiedBy>Matvei</cp:lastModifiedBy>
  <cp:revision>603</cp:revision>
  <cp:lastPrinted>2017-04-28T08:27:55Z</cp:lastPrinted>
  <dcterms:created xsi:type="dcterms:W3CDTF">2004-03-24T15:36:34Z</dcterms:created>
  <dcterms:modified xsi:type="dcterms:W3CDTF">2026-05-06T21:32:00Z</dcterms:modified>
</cp:coreProperties>
</file>