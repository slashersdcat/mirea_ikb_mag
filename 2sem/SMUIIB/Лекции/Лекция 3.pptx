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5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42"/>
    <p:restoredTop sz="96405"/>
  </p:normalViewPr>
  <p:slideViewPr>
    <p:cSldViewPr snapToGrid="0" snapToObjects="1">
      <p:cViewPr varScale="1">
        <p:scale>
          <a:sx n="76" d="100"/>
          <a:sy n="76" d="100"/>
        </p:scale>
        <p:origin x="36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790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372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1570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095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269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85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036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3933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26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384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74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709C4-275D-4945-9F69-EE5B6789626F}" type="datetimeFigureOut">
              <a:rPr lang="ru-RU" smtClean="0"/>
              <a:t>01.03.2025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CD71F3-BC6A-0344-9417-03252F7407B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3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42F06E3-0D9F-EA45-9280-0CBFA80D44E3}"/>
              </a:ext>
            </a:extLst>
          </p:cNvPr>
          <p:cNvSpPr txBox="1">
            <a:spLocks/>
          </p:cNvSpPr>
          <p:nvPr/>
        </p:nvSpPr>
        <p:spPr>
          <a:xfrm>
            <a:off x="628650" y="1070641"/>
            <a:ext cx="7886700" cy="28387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мониторинга и управления инцидентами информационной безопасности</a:t>
            </a:r>
            <a:r>
              <a:rPr lang="ru-RU" sz="6000" dirty="0">
                <a:effectLst/>
              </a:rPr>
              <a:t> </a:t>
            </a:r>
            <a:endParaRPr lang="ru-RU" sz="6000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id="{B445934B-1834-C044-94F7-A43917EA8140}"/>
              </a:ext>
            </a:extLst>
          </p:cNvPr>
          <p:cNvSpPr txBox="1">
            <a:spLocks/>
          </p:cNvSpPr>
          <p:nvPr/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к.т.н. </a:t>
            </a:r>
            <a:r>
              <a:rPr lang="ru-RU" dirty="0" err="1"/>
              <a:t>Урасков</a:t>
            </a:r>
            <a:r>
              <a:rPr lang="ru-RU" dirty="0"/>
              <a:t> Юрий Леонидович</a:t>
            </a:r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48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A1650597-734D-874D-BB59-2D0F032B12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8714" y="2162199"/>
            <a:ext cx="8346571" cy="2111645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Классификации уязвимостей. Распределенные системы обнаружения вторжений 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  <a:r>
              <a:rPr lang="ru-RU" dirty="0">
                <a:solidFill>
                  <a:srgbClr val="000000"/>
                </a:solidFill>
                <a:latin typeface="Times New Roman" panose="02020603050405020304" pitchFamily="18" charset="0"/>
              </a:rPr>
              <a:t>IDS. SIEM-системы.</a:t>
            </a:r>
            <a:b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</a:rPr>
            </a:br>
            <a:endParaRPr lang="ru-RU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" name="Подзаголовок 2">
            <a:extLst>
              <a:ext uri="{FF2B5EF4-FFF2-40B4-BE49-F238E27FC236}">
                <a16:creationId xmlns:a16="http://schemas.microsoft.com/office/drawing/2014/main" id="{E3A38E90-03B7-DE47-9122-D1B9DB69627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67895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Лекция </a:t>
            </a:r>
            <a:r>
              <a:rPr lang="en-US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4372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3372109" y="1138504"/>
            <a:ext cx="20004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spcBef>
                <a:spcPts val="200"/>
              </a:spcBef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Определение</a:t>
            </a:r>
            <a:endParaRPr lang="en-GB" sz="1800" b="1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5883D-E711-F9FF-A7F2-BA103F21C896}"/>
              </a:ext>
            </a:extLst>
          </p:cNvPr>
          <p:cNvSpPr txBox="1"/>
          <p:nvPr/>
        </p:nvSpPr>
        <p:spPr>
          <a:xfrm>
            <a:off x="213299" y="1617302"/>
            <a:ext cx="8717965" cy="3957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Уязвимость (</a:t>
            </a:r>
            <a:r>
              <a:rPr lang="ru-RU" sz="20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vulnerability</a:t>
            </a: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– любая характеристика информационной системы, использование которой нарушителем может привести к реализации угрозы. При этом неважно, целенаправленно используется уязвимость или это происходит ненамеренно.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 </a:t>
            </a: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дефектом безопасности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(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weakness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bug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будем понимать недостаток создания ПО, потенциально влияющий на степень безопасности информации. В таком случае эксплуатируемый дефект безопасности представляет собой </a:t>
            </a: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уязвимость 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vulnerability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реализация которой составляет угрозу ИБ.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 реализации уязвимости необходимо наличие </a:t>
            </a:r>
            <a:r>
              <a:rPr lang="ru-RU" sz="20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субъекта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воздействующего на информационную систему и способного эксплуатировать уязвимость.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86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F4660A-BBBA-0DF9-2A8B-B000E1C22899}"/>
              </a:ext>
            </a:extLst>
          </p:cNvPr>
          <p:cNvSpPr txBox="1"/>
          <p:nvPr/>
        </p:nvSpPr>
        <p:spPr>
          <a:xfrm>
            <a:off x="314587" y="1533480"/>
            <a:ext cx="8514825" cy="1978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настоящее время можно встретить ряд как простых, так и сложных иерархических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классификаций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в области программной безопасности, которые можно разделить на следующие: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 угроз и атак;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 вредоносных программ;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 и реестры уязвимостей. 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1708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1763523" y="885431"/>
            <a:ext cx="4803687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Классификации и реестры уязвимостей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405D90C8-9672-2789-6C5E-498C2B81D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02883"/>
              </p:ext>
            </p:extLst>
          </p:nvPr>
        </p:nvGraphicFramePr>
        <p:xfrm>
          <a:off x="124076" y="1258251"/>
          <a:ext cx="8783950" cy="55262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2722">
                  <a:extLst>
                    <a:ext uri="{9D8B030D-6E8A-4147-A177-3AD203B41FA5}">
                      <a16:colId xmlns:a16="http://schemas.microsoft.com/office/drawing/2014/main" val="2286873481"/>
                    </a:ext>
                  </a:extLst>
                </a:gridCol>
                <a:gridCol w="3850547">
                  <a:extLst>
                    <a:ext uri="{9D8B030D-6E8A-4147-A177-3AD203B41FA5}">
                      <a16:colId xmlns:a16="http://schemas.microsoft.com/office/drawing/2014/main" val="3998665524"/>
                    </a:ext>
                  </a:extLst>
                </a:gridCol>
                <a:gridCol w="3600681">
                  <a:extLst>
                    <a:ext uri="{9D8B030D-6E8A-4147-A177-3AD203B41FA5}">
                      <a16:colId xmlns:a16="http://schemas.microsoft.com/office/drawing/2014/main" val="448649658"/>
                    </a:ext>
                  </a:extLst>
                </a:gridCol>
              </a:tblGrid>
              <a:tr h="141235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Вид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</a:pPr>
                      <a:r>
                        <a:rPr lang="ru-RU" sz="1200" dirty="0">
                          <a:effectLst/>
                        </a:rPr>
                        <a:t>Примеры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</a:pPr>
                      <a:r>
                        <a:rPr lang="ru-RU" sz="1200" dirty="0">
                          <a:effectLst/>
                        </a:rPr>
                        <a:t>Особенности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3539608748"/>
                  </a:ext>
                </a:extLst>
              </a:tr>
              <a:tr h="566980"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Классификации вредоносного программного обеспечения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Mitre MAEC (Malware Attribute Enumeration and Characterization) – перечень и характеристики признаков вредоносного ПО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Язык для описания вредоносного ПО, учитывающий признаки поведения, тип атаки и т. п.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2555930425"/>
                  </a:ext>
                </a:extLst>
              </a:tr>
              <a:tr h="41492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Kaspersky Classification – классификация Лаборатории Касперского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Классификация вредоносного ПО по способам воздействия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407312058"/>
                  </a:ext>
                </a:extLst>
              </a:tr>
              <a:tr h="32369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>
                          <a:effectLst/>
                        </a:rPr>
                        <a:t>Symantec Classification – </a:t>
                      </a:r>
                      <a:r>
                        <a:rPr lang="ru-RU" sz="1200">
                          <a:effectLst/>
                        </a:rPr>
                        <a:t>классификация фирмы</a:t>
                      </a:r>
                      <a:r>
                        <a:rPr lang="en-US" sz="1200">
                          <a:effectLst/>
                        </a:rPr>
                        <a:t> Symantec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Классификация обнаруженного вредоносного ПО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770955467"/>
                  </a:ext>
                </a:extLst>
              </a:tr>
              <a:tr h="262877">
                <a:tc rowSpan="4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Реестры и классификации уязвимостей программных систем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>
                          <a:effectLst/>
                        </a:rPr>
                        <a:t>MITRE CVE (Common Vulnerabilities and Exposures) – </a:t>
                      </a:r>
                      <a:r>
                        <a:rPr lang="ru-RU" sz="1200">
                          <a:effectLst/>
                        </a:rPr>
                        <a:t>общие уязвимости и</a:t>
                      </a:r>
                      <a:r>
                        <a:rPr lang="en-US" sz="1200">
                          <a:effectLst/>
                        </a:rPr>
                        <a:t> «</a:t>
                      </a:r>
                      <a:r>
                        <a:rPr lang="ru-RU" sz="1200">
                          <a:effectLst/>
                        </a:rPr>
                        <a:t>незащищенности</a:t>
                      </a:r>
                      <a:r>
                        <a:rPr lang="en-US" sz="1200">
                          <a:effectLst/>
                        </a:rPr>
                        <a:t>»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База данных известных уязвимостей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3236549406"/>
                  </a:ext>
                </a:extLst>
              </a:tr>
              <a:tr h="38451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NVD (National Vulnerability Database) – национальная база уязвимостей США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База уязвимостей, использующая идентификаторы CVE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2083996111"/>
                  </a:ext>
                </a:extLst>
              </a:tr>
              <a:tr h="414928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>
                          <a:effectLst/>
                        </a:rPr>
                        <a:t>CERT Vulnerability Notes Database – </a:t>
                      </a:r>
                      <a:r>
                        <a:rPr lang="ru-RU" sz="1200">
                          <a:effectLst/>
                        </a:rPr>
                        <a:t>база уязвимостей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Описание найденных уязвимостей и способов их обнаружения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2303811497"/>
                  </a:ext>
                </a:extLst>
              </a:tr>
              <a:tr h="232466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Бюллетени разработчиков:</a:t>
                      </a:r>
                      <a:endParaRPr lang="en-GB" sz="12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·   Microsoft Bulletin ID</a:t>
                      </a:r>
                      <a:endParaRPr lang="en-GB" sz="12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·   Exploit-DB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Сводки найденных уязвимостей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2765936934"/>
                  </a:ext>
                </a:extLst>
              </a:tr>
              <a:tr h="749442">
                <a:tc rowSpan="3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Классификации угроз безопасности и компьютерных атак на ресурсы системы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OWASP Top Ten – 10 самых распространенных угроз для веб-приложений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Десять наиболее актуальных классов угроз, связанных с уязвимостями web-приложений за последний год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1981619600"/>
                  </a:ext>
                </a:extLst>
              </a:tr>
              <a:tr h="262877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US" sz="1200">
                          <a:effectLst/>
                        </a:rPr>
                        <a:t>MITRE CAPEC (Common Attack Pattern Enumeration and Classification) – </a:t>
                      </a:r>
                      <a:r>
                        <a:rPr lang="ru-RU" sz="1200">
                          <a:effectLst/>
                        </a:rPr>
                        <a:t>перечень и классификация распространенных типов атак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>
                          <a:effectLst/>
                        </a:rPr>
                        <a:t>Всесторонняя классификация типов атак</a:t>
                      </a:r>
                      <a:endParaRPr lang="en-GB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2140827150"/>
                  </a:ext>
                </a:extLst>
              </a:tr>
              <a:tr h="59739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 dirty="0">
                          <a:effectLst/>
                        </a:rPr>
                        <a:t>WASC </a:t>
                      </a:r>
                      <a:r>
                        <a:rPr lang="ru-RU" sz="1200" dirty="0" err="1">
                          <a:effectLst/>
                        </a:rPr>
                        <a:t>Threat</a:t>
                      </a:r>
                      <a:r>
                        <a:rPr lang="ru-RU" sz="1200" dirty="0">
                          <a:effectLst/>
                        </a:rPr>
                        <a:t> </a:t>
                      </a:r>
                      <a:r>
                        <a:rPr lang="ru-RU" sz="1200" dirty="0" err="1">
                          <a:effectLst/>
                        </a:rPr>
                        <a:t>Classification</a:t>
                      </a:r>
                      <a:r>
                        <a:rPr lang="ru-RU" sz="1200" dirty="0">
                          <a:effectLst/>
                        </a:rPr>
                        <a:t> 2.0 – классификация угроз Консорциума безопасности </a:t>
                      </a:r>
                      <a:r>
                        <a:rPr lang="ru-RU" sz="1200" dirty="0" err="1">
                          <a:effectLst/>
                        </a:rPr>
                        <a:t>web</a:t>
                      </a:r>
                      <a:r>
                        <a:rPr lang="ru-RU" sz="1200" dirty="0">
                          <a:effectLst/>
                        </a:rPr>
                        <a:t>-приложений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ru-RU" sz="1200" dirty="0">
                          <a:effectLst/>
                        </a:rPr>
                        <a:t>Классификация изъянов, угроз </a:t>
                      </a:r>
                      <a:r>
                        <a:rPr lang="ru-RU" sz="1200" dirty="0" err="1">
                          <a:effectLst/>
                        </a:rPr>
                        <a:t>web</a:t>
                      </a:r>
                      <a:r>
                        <a:rPr lang="ru-RU" sz="1200" dirty="0">
                          <a:effectLst/>
                        </a:rPr>
                        <a:t>-безопасности, нацеленная на практическое применение</a:t>
                      </a:r>
                      <a:endParaRPr lang="en-GB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22036" marR="22036" marT="11018" marB="11018" anchor="ctr"/>
                </a:tc>
                <a:extLst>
                  <a:ext uri="{0D108BD9-81ED-4DB2-BD59-A6C34878D82A}">
                    <a16:rowId xmlns:a16="http://schemas.microsoft.com/office/drawing/2014/main" val="3436513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90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240503" y="990295"/>
            <a:ext cx="8526117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обнаружения вторжений (атак). (IDS - </a:t>
            </a:r>
            <a:r>
              <a:rPr lang="ru-RU" sz="18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Intrusion</a:t>
            </a: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Detection</a:t>
            </a: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Systems)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D8E12-3305-216D-B2B9-31057F9F3A33}"/>
              </a:ext>
            </a:extLst>
          </p:cNvPr>
          <p:cNvSpPr txBox="1"/>
          <p:nvPr/>
        </p:nvSpPr>
        <p:spPr>
          <a:xfrm>
            <a:off x="45376" y="1390765"/>
            <a:ext cx="8916369" cy="5196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Атака на информационную систему 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событие или совокупность событий, которые применительно к каждому отдельно взятому объекту должны рассматриваться в качестве попыток совершения информационного воздействия противоправного или деструктивного характера.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ru-RU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Обнаружение атак 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это процесс оценки подозрительных действий в защищаемой сети, который реализуется либо посредством анализа журналов регистрации операционной системы и приложений либо сетевого трафика.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15000"/>
              </a:lnSpc>
            </a:pPr>
            <a:r>
              <a:rPr lang="ru-RU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 обнаружения атак 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- выявить признаки атак либо во время их, либо постфактум. В качестве таких признаков могут выступать: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повтор определенных событий;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неправильные или несоответствующие текущей ситуации команды;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использование уязвимостей;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несоответствующие параметры сетевого трафика;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непредвиденные атрибуты;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необъяснимые проблемы;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дополнительные знания о нарушениях.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0745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1AC5B14-9FBF-1C4C-B540-EA95B355CFAF}"/>
              </a:ext>
            </a:extLst>
          </p:cNvPr>
          <p:cNvSpPr/>
          <p:nvPr/>
        </p:nvSpPr>
        <p:spPr>
          <a:xfrm>
            <a:off x="504816" y="1138504"/>
            <a:ext cx="7735003" cy="3853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50215" algn="ctr">
              <a:lnSpc>
                <a:spcPct val="115000"/>
              </a:lnSpc>
            </a:pP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Классификация систем обнаружения атак по принципу реализации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C2130F1-9967-D9C8-5F81-54CD8D8549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153" y="1851576"/>
            <a:ext cx="7614009" cy="23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510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D7A1AFF-6758-C840-AC0D-AD2973ABC3B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2677AE-2E40-024F-80A4-2E8961067E2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9344CB2-2321-1643-86C1-7660A0F31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FD430A8-1087-B648-BC83-27A12FB6D8BA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40B9653E-4546-4947-8F4D-A1A5FF7A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61309F0-EB2B-B64E-9E89-06992EA4A09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89409AD1-56A3-FD41-9A1F-6FF7215FC9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054608E2-806A-104C-BDAD-DBDC389EA11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C80E24-099A-B48C-B3BE-81AA23B7C564}"/>
              </a:ext>
            </a:extLst>
          </p:cNvPr>
          <p:cNvSpPr txBox="1"/>
          <p:nvPr/>
        </p:nvSpPr>
        <p:spPr>
          <a:xfrm>
            <a:off x="0" y="943231"/>
            <a:ext cx="7996804" cy="385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Существует два подхода к обнаружению атак: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73094B-28FA-3B51-08C2-6A1922EF1155}"/>
              </a:ext>
            </a:extLst>
          </p:cNvPr>
          <p:cNvSpPr txBox="1"/>
          <p:nvPr/>
        </p:nvSpPr>
        <p:spPr>
          <a:xfrm>
            <a:off x="0" y="1911995"/>
            <a:ext cx="4357820" cy="134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Обнаружение злоупотреблений – 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подходе СОА осуществляют поиск шаблонов известных атак в сетевом трафике или высокоуровневых данных.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FF9E1D-C31D-6848-AE08-D9117C7C96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820" y="1416205"/>
            <a:ext cx="4618733" cy="22714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7087943-9F9A-37F4-13D3-AE564EE54B0A}"/>
              </a:ext>
            </a:extLst>
          </p:cNvPr>
          <p:cNvSpPr txBox="1"/>
          <p:nvPr/>
        </p:nvSpPr>
        <p:spPr>
          <a:xfrm>
            <a:off x="123009" y="4687864"/>
            <a:ext cx="42790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Обнаружение аномалий – 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данном подходе СОА обладают профилем нормальной активности системы и детектируют отклонения от него</a:t>
            </a:r>
            <a:endParaRPr lang="en-GB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DAC038A-929C-7494-037E-D00DEA3908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035" y="3900940"/>
            <a:ext cx="4530304" cy="220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30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F8C8C-C88A-F7AD-638C-977A414BF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4C91A552-D0BF-106A-D2CA-D4FE346D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24F5B0D-C538-973F-F45C-866EEEE5B3FA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2BA8B95-659E-587E-C577-ED774945C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D490C16-07D9-C310-1664-9CEFD4310958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86E53B92-D082-30DE-5F8A-B97ED1AE1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156A3A8-7A62-8A8E-91F9-E254C9F99DA3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DDEFF229-A3CF-DF5F-DE83-CD0EF22BCF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AE268CD9-032E-A768-DA5B-E6D5CD0FB5A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28C839-24F6-5EB2-40E6-1CC0BDB5BEA8}"/>
              </a:ext>
            </a:extLst>
          </p:cNvPr>
          <p:cNvSpPr txBox="1"/>
          <p:nvPr/>
        </p:nvSpPr>
        <p:spPr>
          <a:xfrm>
            <a:off x="0" y="943231"/>
            <a:ext cx="7996804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ctr">
              <a:lnSpc>
                <a:spcPct val="115000"/>
              </a:lnSpc>
            </a:pPr>
            <a:r>
              <a:rPr lang="ru-RU" sz="1800" b="1" dirty="0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Общая схема функционирования </a:t>
            </a:r>
            <a:r>
              <a:rPr lang="ru-RU" sz="1800" b="1" dirty="0" err="1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dIDS</a:t>
            </a:r>
            <a:endParaRPr lang="en-GB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38D06A6-29F8-D2A2-B33D-95EA2F2279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939" y="1372850"/>
            <a:ext cx="5940061" cy="498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0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09092-3C9F-8A38-3FDA-9ED0D2695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E8D4627F-E315-E7A5-BAA8-722560EACE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58126B-3821-2F2E-60B8-A9A350E59516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7059B27-D95F-1AD4-0704-DEBAAB147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88F69C9-0EFF-F94C-CC0C-57227FF7579F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082143A8-8F88-A266-E4DC-547DE37A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D27DFB7-5299-1428-A224-333EE4AC24A8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10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4DC07A1-23F2-5987-8B79-79889083EA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3F738193-46A1-8F13-509C-A97EE3630E9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CA392-C398-1D9D-1F2E-DD2735AC55C0}"/>
              </a:ext>
            </a:extLst>
          </p:cNvPr>
          <p:cNvSpPr txBox="1"/>
          <p:nvPr/>
        </p:nvSpPr>
        <p:spPr>
          <a:xfrm>
            <a:off x="0" y="943231"/>
            <a:ext cx="7996804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</a:t>
            </a:r>
            <a:r>
              <a:rPr lang="en-US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Security Information and Event Management (SIEM)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7C6E3D-4D33-22B7-4CA0-ECBB9C80B3D3}"/>
              </a:ext>
            </a:extLst>
          </p:cNvPr>
          <p:cNvSpPr txBox="1"/>
          <p:nvPr/>
        </p:nvSpPr>
        <p:spPr>
          <a:xfrm>
            <a:off x="426267" y="1310484"/>
            <a:ext cx="80890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b="1">
                <a:solidFill>
                  <a:srgbClr val="333333"/>
                </a:solidFill>
                <a:effectLst/>
                <a:ea typeface="Times New Roman" panose="02020603050405020304" pitchFamily="18" charset="0"/>
              </a:rPr>
              <a:t>Security Information and Event Management (SIEM) - </a:t>
            </a:r>
            <a:r>
              <a:rPr lang="ru-RU" sz="180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решения для сбора и анализа событий, генерируемых различными типами СЗИ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45ED38-E134-3618-648B-C0F867B41774}"/>
              </a:ext>
            </a:extLst>
          </p:cNvPr>
          <p:cNvSpPr txBox="1"/>
          <p:nvPr/>
        </p:nvSpPr>
        <p:spPr>
          <a:xfrm>
            <a:off x="143741" y="1930179"/>
            <a:ext cx="8856518" cy="1864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 систем SIEM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Консолидация и хранение журналов событий от различных источников — сетевых устройств, приложений, журналов ОС, средств защиты. 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Предоставление инструментов для анализа событий и разбора инцидентов. </a:t>
            </a: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Корреляция и обработка по правилам. </a:t>
            </a:r>
            <a:endParaRPr lang="ru-RU" sz="1800" i="1" dirty="0">
              <a:solidFill>
                <a:srgbClr val="33333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+mj-lt"/>
              <a:buAutoNum type="arabicPeriod"/>
            </a:pP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9D852-13EA-89E2-7F43-9008787BDF78}"/>
              </a:ext>
            </a:extLst>
          </p:cNvPr>
          <p:cNvSpPr txBox="1"/>
          <p:nvPr/>
        </p:nvSpPr>
        <p:spPr>
          <a:xfrm>
            <a:off x="172132" y="3530015"/>
            <a:ext cx="8856518" cy="293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SIEM способна выявлять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сетевые атаки во внутреннем и внешнем периметрах;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вирусные эпидемии или отдельные вирусные заражения, 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 удаленные вирусы, бэкдоры и трояны;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попытки несанкционированного доступа к конфиденциальной информации;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фрод и мошенничество;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ошибки и сбои в работе информационных систем;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уязвимости;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15000"/>
              </a:lnSpc>
              <a:buFont typeface="Symbol" panose="05050102010706020507" pitchFamily="18" charset="2"/>
              <a:buChar char="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ошибки конфигураций в средствах защиты и информационных системах.</a:t>
            </a:r>
            <a:endParaRPr lang="en-GB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2883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84B5-45CE-D701-2062-6C1A62E1A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3" descr="head.png">
            <a:extLst>
              <a:ext uri="{FF2B5EF4-FFF2-40B4-BE49-F238E27FC236}">
                <a16:creationId xmlns:a16="http://schemas.microsoft.com/office/drawing/2014/main" id="{64CD7476-8FFB-F6D7-4308-5855061640F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330"/>
            <a:ext cx="9144000" cy="9954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F019BA5-72CA-7AC8-5C98-509AF3CCC9D5}"/>
              </a:ext>
            </a:extLst>
          </p:cNvPr>
          <p:cNvSpPr txBox="1"/>
          <p:nvPr/>
        </p:nvSpPr>
        <p:spPr>
          <a:xfrm>
            <a:off x="7523999" y="6419000"/>
            <a:ext cx="14762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  <a:latin typeface="PT Sans"/>
              </a:rPr>
              <a:t>online.mirea.ru</a:t>
            </a:r>
            <a:endParaRPr lang="ru-RU" sz="1400" b="1" dirty="0">
              <a:solidFill>
                <a:srgbClr val="00B0F0"/>
              </a:solidFill>
              <a:latin typeface="PT Sans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2885103-C792-D471-BE0E-669191AC28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502307" cy="968764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300DEEA-F224-9595-6809-A1596C7C36B6}"/>
              </a:ext>
            </a:extLst>
          </p:cNvPr>
          <p:cNvSpPr/>
          <p:nvPr/>
        </p:nvSpPr>
        <p:spPr>
          <a:xfrm>
            <a:off x="6518787" y="167148"/>
            <a:ext cx="2408903" cy="344129"/>
          </a:xfrm>
          <a:prstGeom prst="rect">
            <a:avLst/>
          </a:prstGeom>
          <a:solidFill>
            <a:srgbClr val="CAC9C9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Номер слайда 5">
            <a:extLst>
              <a:ext uri="{FF2B5EF4-FFF2-40B4-BE49-F238E27FC236}">
                <a16:creationId xmlns:a16="http://schemas.microsoft.com/office/drawing/2014/main" id="{CBF862B7-27DF-A8B5-D4FA-1E42BDE4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4229522-8289-1E71-B08B-0C366D49CBC4}"/>
              </a:ext>
            </a:extLst>
          </p:cNvPr>
          <p:cNvSpPr/>
          <p:nvPr/>
        </p:nvSpPr>
        <p:spPr>
          <a:xfrm>
            <a:off x="7620000" y="6459794"/>
            <a:ext cx="1288026" cy="261681"/>
          </a:xfrm>
          <a:prstGeom prst="rect">
            <a:avLst/>
          </a:prstGeom>
          <a:solidFill>
            <a:srgbClr val="C2C1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10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D1BF708-ED3B-5A28-8518-D48747F005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240" y="0"/>
            <a:ext cx="754760" cy="662184"/>
          </a:xfrm>
          <a:prstGeom prst="rect">
            <a:avLst/>
          </a:prstGeom>
        </p:spPr>
      </p:pic>
      <p:sp>
        <p:nvSpPr>
          <p:cNvPr id="22" name="Rectangle 2">
            <a:extLst>
              <a:ext uri="{FF2B5EF4-FFF2-40B4-BE49-F238E27FC236}">
                <a16:creationId xmlns:a16="http://schemas.microsoft.com/office/drawing/2014/main" id="{ABC6B1E6-6185-4189-E979-BC06F094063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256157" y="5745915"/>
            <a:ext cx="594006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B20236-1BDA-6A0C-F142-D545146539E1}"/>
              </a:ext>
            </a:extLst>
          </p:cNvPr>
          <p:cNvSpPr txBox="1"/>
          <p:nvPr/>
        </p:nvSpPr>
        <p:spPr>
          <a:xfrm>
            <a:off x="2357306" y="968764"/>
            <a:ext cx="7996804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215" algn="just">
              <a:lnSpc>
                <a:spcPct val="115000"/>
              </a:lnSpc>
            </a:pPr>
            <a:r>
              <a:rPr lang="ru-RU" sz="1800" b="1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источники SIEM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648566-9A70-AC60-042D-5506AACC340C}"/>
              </a:ext>
            </a:extLst>
          </p:cNvPr>
          <p:cNvSpPr txBox="1"/>
          <p:nvPr/>
        </p:nvSpPr>
        <p:spPr>
          <a:xfrm>
            <a:off x="101232" y="1596130"/>
            <a:ext cx="8941536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Access Control,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Authentication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Журналы событий серверов и рабочих станций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Сетевое активное оборудование 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IDS\IPS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Антивирусная защита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Сканеры уязвимостей</a:t>
            </a:r>
            <a:endParaRPr lang="ru-RU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GRC-системы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Прочие системы защиты и контроля политик ИБ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Системы инвентаризации и 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asset-management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Netflow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и системы учета трафика</a:t>
            </a:r>
            <a:endParaRPr lang="en-GB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02510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595</TotalTime>
  <Words>783</Words>
  <Application>Microsoft Office PowerPoint</Application>
  <PresentationFormat>Экран (4:3)</PresentationFormat>
  <Paragraphs>115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PT Sans</vt:lpstr>
      <vt:lpstr>Symbol</vt:lpstr>
      <vt:lpstr>Times New Roman</vt:lpstr>
      <vt:lpstr>Тема Office</vt:lpstr>
      <vt:lpstr>Презентация PowerPoint</vt:lpstr>
      <vt:lpstr>Классификации уязвимостей. Распределенные системы обнаружения вторжений dIDS. SIEM-системы.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1</cp:lastModifiedBy>
  <cp:revision>18</cp:revision>
  <dcterms:created xsi:type="dcterms:W3CDTF">2020-09-01T07:45:21Z</dcterms:created>
  <dcterms:modified xsi:type="dcterms:W3CDTF">2025-03-01T15:45:20Z</dcterms:modified>
</cp:coreProperties>
</file>