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67" r:id="rId4"/>
    <p:sldId id="268" r:id="rId5"/>
    <p:sldId id="269" r:id="rId6"/>
    <p:sldId id="271" r:id="rId7"/>
    <p:sldId id="272" r:id="rId8"/>
    <p:sldId id="270" r:id="rId9"/>
    <p:sldId id="273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342"/>
    <p:restoredTop sz="96405"/>
  </p:normalViewPr>
  <p:slideViewPr>
    <p:cSldViewPr snapToGrid="0" snapToObjects="1">
      <p:cViewPr varScale="1">
        <p:scale>
          <a:sx n="113" d="100"/>
          <a:sy n="113" d="100"/>
        </p:scale>
        <p:origin x="1164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709C4-275D-4945-9F69-EE5B6789626F}" type="datetimeFigureOut">
              <a:rPr lang="ru-RU" smtClean="0"/>
              <a:t>19.03.2025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D71F3-BC6A-0344-9417-03252F7407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779097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709C4-275D-4945-9F69-EE5B6789626F}" type="datetimeFigureOut">
              <a:rPr lang="ru-RU" smtClean="0"/>
              <a:t>19.03.2025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D71F3-BC6A-0344-9417-03252F7407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03724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709C4-275D-4945-9F69-EE5B6789626F}" type="datetimeFigureOut">
              <a:rPr lang="ru-RU" smtClean="0"/>
              <a:t>19.03.2025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D71F3-BC6A-0344-9417-03252F7407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115709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709C4-275D-4945-9F69-EE5B6789626F}" type="datetimeFigureOut">
              <a:rPr lang="ru-RU" smtClean="0"/>
              <a:t>19.03.2025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D71F3-BC6A-0344-9417-03252F7407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850954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709C4-275D-4945-9F69-EE5B6789626F}" type="datetimeFigureOut">
              <a:rPr lang="ru-RU" smtClean="0"/>
              <a:t>19.03.2025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D71F3-BC6A-0344-9417-03252F7407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152698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709C4-275D-4945-9F69-EE5B6789626F}" type="datetimeFigureOut">
              <a:rPr lang="ru-RU" smtClean="0"/>
              <a:t>19.03.2025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D71F3-BC6A-0344-9417-03252F7407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408511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709C4-275D-4945-9F69-EE5B6789626F}" type="datetimeFigureOut">
              <a:rPr lang="ru-RU" smtClean="0"/>
              <a:t>19.03.2025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D71F3-BC6A-0344-9417-03252F7407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900362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709C4-275D-4945-9F69-EE5B6789626F}" type="datetimeFigureOut">
              <a:rPr lang="ru-RU" smtClean="0"/>
              <a:t>19.03.2025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D71F3-BC6A-0344-9417-03252F7407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839337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709C4-275D-4945-9F69-EE5B6789626F}" type="datetimeFigureOut">
              <a:rPr lang="ru-RU" smtClean="0"/>
              <a:t>19.03.2025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D71F3-BC6A-0344-9417-03252F7407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392635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709C4-275D-4945-9F69-EE5B6789626F}" type="datetimeFigureOut">
              <a:rPr lang="ru-RU" smtClean="0"/>
              <a:t>19.03.2025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D71F3-BC6A-0344-9417-03252F7407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538490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709C4-275D-4945-9F69-EE5B6789626F}" type="datetimeFigureOut">
              <a:rPr lang="ru-RU" smtClean="0"/>
              <a:t>19.03.2025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D71F3-BC6A-0344-9417-03252F7407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767469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C709C4-275D-4945-9F69-EE5B6789626F}" type="datetimeFigureOut">
              <a:rPr lang="ru-RU" smtClean="0"/>
              <a:t>19.03.2025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CD71F3-BC6A-0344-9417-03252F7407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955357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jpe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3" descr="head.png">
            <a:extLst>
              <a:ext uri="{FF2B5EF4-FFF2-40B4-BE49-F238E27FC236}">
                <a16:creationId xmlns:a16="http://schemas.microsoft.com/office/drawing/2014/main" id="{4D7A1AFF-6758-C840-AC0D-AD2973ABC3B8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3330"/>
            <a:ext cx="9144000" cy="99542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B2677AE-2E40-024F-80A4-2E8961067E25}"/>
              </a:ext>
            </a:extLst>
          </p:cNvPr>
          <p:cNvSpPr txBox="1"/>
          <p:nvPr/>
        </p:nvSpPr>
        <p:spPr>
          <a:xfrm>
            <a:off x="7523999" y="6419000"/>
            <a:ext cx="14762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0B0F0"/>
                </a:solidFill>
                <a:latin typeface="PT Sans"/>
              </a:rPr>
              <a:t>online.mirea.ru</a:t>
            </a:r>
            <a:endParaRPr lang="ru-RU" sz="1400" b="1" dirty="0">
              <a:solidFill>
                <a:srgbClr val="00B0F0"/>
              </a:solidFill>
              <a:latin typeface="PT Sans"/>
            </a:endParaRP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D9344CB2-2321-1643-86C1-7660A0F315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502307" cy="968764"/>
          </a:xfrm>
          <a:prstGeom prst="rect">
            <a:avLst/>
          </a:prstGeom>
        </p:spPr>
      </p:pic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9FD430A8-1087-B648-BC83-27A12FB6D8BA}"/>
              </a:ext>
            </a:extLst>
          </p:cNvPr>
          <p:cNvSpPr/>
          <p:nvPr/>
        </p:nvSpPr>
        <p:spPr>
          <a:xfrm>
            <a:off x="6518787" y="167148"/>
            <a:ext cx="2408903" cy="344129"/>
          </a:xfrm>
          <a:prstGeom prst="rect">
            <a:avLst/>
          </a:prstGeom>
          <a:solidFill>
            <a:srgbClr val="CAC9C9"/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Заголовок 1">
            <a:extLst>
              <a:ext uri="{FF2B5EF4-FFF2-40B4-BE49-F238E27FC236}">
                <a16:creationId xmlns:a16="http://schemas.microsoft.com/office/drawing/2014/main" id="{842F06E3-0D9F-EA45-9280-0CBFA80D44E3}"/>
              </a:ext>
            </a:extLst>
          </p:cNvPr>
          <p:cNvSpPr txBox="1">
            <a:spLocks/>
          </p:cNvSpPr>
          <p:nvPr/>
        </p:nvSpPr>
        <p:spPr>
          <a:xfrm>
            <a:off x="628650" y="1070641"/>
            <a:ext cx="7886700" cy="283874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ru-RU" sz="32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Системы мониторинга и управления инцидентами информационной безопасности</a:t>
            </a:r>
            <a:r>
              <a:rPr lang="ru-RU" sz="6000" dirty="0">
                <a:effectLst/>
              </a:rPr>
              <a:t> </a:t>
            </a:r>
            <a:endParaRPr lang="ru-RU" sz="6000" dirty="0"/>
          </a:p>
        </p:txBody>
      </p:sp>
      <p:sp>
        <p:nvSpPr>
          <p:cNvPr id="16" name="Текст 2">
            <a:extLst>
              <a:ext uri="{FF2B5EF4-FFF2-40B4-BE49-F238E27FC236}">
                <a16:creationId xmlns:a16="http://schemas.microsoft.com/office/drawing/2014/main" id="{B445934B-1834-C044-94F7-A43917EA8140}"/>
              </a:ext>
            </a:extLst>
          </p:cNvPr>
          <p:cNvSpPr txBox="1">
            <a:spLocks/>
          </p:cNvSpPr>
          <p:nvPr/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dirty="0"/>
              <a:t>к.т.н. </a:t>
            </a:r>
            <a:r>
              <a:rPr lang="ru-RU" dirty="0" err="1"/>
              <a:t>Урасков</a:t>
            </a:r>
            <a:r>
              <a:rPr lang="ru-RU" dirty="0"/>
              <a:t> Юрий Леонидович</a:t>
            </a:r>
          </a:p>
        </p:txBody>
      </p:sp>
      <p:sp>
        <p:nvSpPr>
          <p:cNvPr id="19" name="Номер слайда 5">
            <a:extLst>
              <a:ext uri="{FF2B5EF4-FFF2-40B4-BE49-F238E27FC236}">
                <a16:creationId xmlns:a16="http://schemas.microsoft.com/office/drawing/2014/main" id="{40B9653E-4546-4947-8F4D-A1A5FF7AC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2259990-D040-4A93-9573-D8805257596F}" type="slidenum">
              <a:rPr lang="ru-RU" smtClean="0"/>
              <a:pPr/>
              <a:t>1</a:t>
            </a:fld>
            <a:endParaRPr lang="ru-RU" dirty="0"/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161309F0-EB2B-B64E-9E89-06992EA4A093}"/>
              </a:ext>
            </a:extLst>
          </p:cNvPr>
          <p:cNvSpPr/>
          <p:nvPr/>
        </p:nvSpPr>
        <p:spPr>
          <a:xfrm>
            <a:off x="7620000" y="6459794"/>
            <a:ext cx="1288026" cy="261681"/>
          </a:xfrm>
          <a:prstGeom prst="rect">
            <a:avLst/>
          </a:prstGeom>
          <a:solidFill>
            <a:srgbClr val="C2C1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1</a:t>
            </a:r>
          </a:p>
        </p:txBody>
      </p:sp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89409AD1-56A3-FD41-9A1F-6FF7215FC93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9240" y="0"/>
            <a:ext cx="754760" cy="662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18486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3" descr="head.png">
            <a:extLst>
              <a:ext uri="{FF2B5EF4-FFF2-40B4-BE49-F238E27FC236}">
                <a16:creationId xmlns:a16="http://schemas.microsoft.com/office/drawing/2014/main" id="{4D7A1AFF-6758-C840-AC0D-AD2973ABC3B8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3330"/>
            <a:ext cx="9144000" cy="99542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B2677AE-2E40-024F-80A4-2E8961067E25}"/>
              </a:ext>
            </a:extLst>
          </p:cNvPr>
          <p:cNvSpPr txBox="1"/>
          <p:nvPr/>
        </p:nvSpPr>
        <p:spPr>
          <a:xfrm>
            <a:off x="7523999" y="6419000"/>
            <a:ext cx="14762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0B0F0"/>
                </a:solidFill>
                <a:latin typeface="PT Sans"/>
              </a:rPr>
              <a:t>online.mirea.ru</a:t>
            </a:r>
            <a:endParaRPr lang="ru-RU" sz="1400" b="1" dirty="0">
              <a:solidFill>
                <a:srgbClr val="00B0F0"/>
              </a:solidFill>
              <a:latin typeface="PT Sans"/>
            </a:endParaRP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D9344CB2-2321-1643-86C1-7660A0F315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502307" cy="968764"/>
          </a:xfrm>
          <a:prstGeom prst="rect">
            <a:avLst/>
          </a:prstGeom>
        </p:spPr>
      </p:pic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9FD430A8-1087-B648-BC83-27A12FB6D8BA}"/>
              </a:ext>
            </a:extLst>
          </p:cNvPr>
          <p:cNvSpPr/>
          <p:nvPr/>
        </p:nvSpPr>
        <p:spPr>
          <a:xfrm>
            <a:off x="6518787" y="167148"/>
            <a:ext cx="2408903" cy="344129"/>
          </a:xfrm>
          <a:prstGeom prst="rect">
            <a:avLst/>
          </a:prstGeom>
          <a:solidFill>
            <a:srgbClr val="CAC9C9"/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Номер слайда 5">
            <a:extLst>
              <a:ext uri="{FF2B5EF4-FFF2-40B4-BE49-F238E27FC236}">
                <a16:creationId xmlns:a16="http://schemas.microsoft.com/office/drawing/2014/main" id="{40B9653E-4546-4947-8F4D-A1A5FF7AC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2259990-D040-4A93-9573-D8805257596F}" type="slidenum">
              <a:rPr lang="ru-RU" smtClean="0"/>
              <a:pPr/>
              <a:t>2</a:t>
            </a:fld>
            <a:endParaRPr lang="ru-RU" dirty="0"/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161309F0-EB2B-B64E-9E89-06992EA4A093}"/>
              </a:ext>
            </a:extLst>
          </p:cNvPr>
          <p:cNvSpPr/>
          <p:nvPr/>
        </p:nvSpPr>
        <p:spPr>
          <a:xfrm>
            <a:off x="7620000" y="6459794"/>
            <a:ext cx="1288026" cy="261681"/>
          </a:xfrm>
          <a:prstGeom prst="rect">
            <a:avLst/>
          </a:prstGeom>
          <a:solidFill>
            <a:srgbClr val="C2C1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2</a:t>
            </a:r>
          </a:p>
        </p:txBody>
      </p:sp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89409AD1-56A3-FD41-9A1F-6FF7215FC93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9240" y="0"/>
            <a:ext cx="754760" cy="662184"/>
          </a:xfrm>
          <a:prstGeom prst="rect">
            <a:avLst/>
          </a:prstGeom>
        </p:spPr>
      </p:pic>
      <p:sp>
        <p:nvSpPr>
          <p:cNvPr id="18" name="Заголовок 1">
            <a:extLst>
              <a:ext uri="{FF2B5EF4-FFF2-40B4-BE49-F238E27FC236}">
                <a16:creationId xmlns:a16="http://schemas.microsoft.com/office/drawing/2014/main" id="{A1650597-734D-874D-BB59-2D0F032B12E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98714" y="1704712"/>
            <a:ext cx="8346571" cy="2111645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36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</a:rPr>
              <a:t>Анализ 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XDR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</a:rPr>
              <a:t>-систем</a:t>
            </a:r>
          </a:p>
        </p:txBody>
      </p:sp>
      <p:sp>
        <p:nvSpPr>
          <p:cNvPr id="22" name="Подзаголовок 2">
            <a:extLst>
              <a:ext uri="{FF2B5EF4-FFF2-40B4-BE49-F238E27FC236}">
                <a16:creationId xmlns:a16="http://schemas.microsoft.com/office/drawing/2014/main" id="{E3A38E90-03B7-DE47-9122-D1B9DB69627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3000" y="1178878"/>
            <a:ext cx="6858000" cy="678956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Лекция </a:t>
            </a:r>
            <a:r>
              <a:rPr lang="en-US" dirty="0"/>
              <a:t>5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243728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3" descr="head.png">
            <a:extLst>
              <a:ext uri="{FF2B5EF4-FFF2-40B4-BE49-F238E27FC236}">
                <a16:creationId xmlns:a16="http://schemas.microsoft.com/office/drawing/2014/main" id="{4D7A1AFF-6758-C840-AC0D-AD2973ABC3B8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3330"/>
            <a:ext cx="9144000" cy="99542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B2677AE-2E40-024F-80A4-2E8961067E25}"/>
              </a:ext>
            </a:extLst>
          </p:cNvPr>
          <p:cNvSpPr txBox="1"/>
          <p:nvPr/>
        </p:nvSpPr>
        <p:spPr>
          <a:xfrm>
            <a:off x="7523999" y="6419000"/>
            <a:ext cx="14762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0B0F0"/>
                </a:solidFill>
                <a:latin typeface="PT Sans"/>
              </a:rPr>
              <a:t>online.mirea.ru</a:t>
            </a:r>
            <a:endParaRPr lang="ru-RU" sz="1400" b="1" dirty="0">
              <a:solidFill>
                <a:srgbClr val="00B0F0"/>
              </a:solidFill>
              <a:latin typeface="PT Sans"/>
            </a:endParaRP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D9344CB2-2321-1643-86C1-7660A0F315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502307" cy="968764"/>
          </a:xfrm>
          <a:prstGeom prst="rect">
            <a:avLst/>
          </a:prstGeom>
        </p:spPr>
      </p:pic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9FD430A8-1087-B648-BC83-27A12FB6D8BA}"/>
              </a:ext>
            </a:extLst>
          </p:cNvPr>
          <p:cNvSpPr/>
          <p:nvPr/>
        </p:nvSpPr>
        <p:spPr>
          <a:xfrm>
            <a:off x="6518787" y="167148"/>
            <a:ext cx="2408903" cy="344129"/>
          </a:xfrm>
          <a:prstGeom prst="rect">
            <a:avLst/>
          </a:prstGeom>
          <a:solidFill>
            <a:srgbClr val="CAC9C9"/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Номер слайда 5">
            <a:extLst>
              <a:ext uri="{FF2B5EF4-FFF2-40B4-BE49-F238E27FC236}">
                <a16:creationId xmlns:a16="http://schemas.microsoft.com/office/drawing/2014/main" id="{40B9653E-4546-4947-8F4D-A1A5FF7AC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2259990-D040-4A93-9573-D8805257596F}" type="slidenum">
              <a:rPr lang="ru-RU" smtClean="0"/>
              <a:pPr/>
              <a:t>3</a:t>
            </a:fld>
            <a:endParaRPr lang="ru-RU" dirty="0"/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161309F0-EB2B-B64E-9E89-06992EA4A093}"/>
              </a:ext>
            </a:extLst>
          </p:cNvPr>
          <p:cNvSpPr/>
          <p:nvPr/>
        </p:nvSpPr>
        <p:spPr>
          <a:xfrm>
            <a:off x="7620000" y="6459794"/>
            <a:ext cx="1288026" cy="261681"/>
          </a:xfrm>
          <a:prstGeom prst="rect">
            <a:avLst/>
          </a:prstGeom>
          <a:solidFill>
            <a:srgbClr val="C2C1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3</a:t>
            </a:r>
          </a:p>
        </p:txBody>
      </p:sp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89409AD1-56A3-FD41-9A1F-6FF7215FC93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9240" y="0"/>
            <a:ext cx="754760" cy="662184"/>
          </a:xfrm>
          <a:prstGeom prst="rect">
            <a:avLst/>
          </a:prstGeom>
        </p:spPr>
      </p:pic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C1AC5B14-9FBF-1C4C-B540-EA95B355CFAF}"/>
              </a:ext>
            </a:extLst>
          </p:cNvPr>
          <p:cNvSpPr/>
          <p:nvPr/>
        </p:nvSpPr>
        <p:spPr>
          <a:xfrm>
            <a:off x="3263052" y="1033015"/>
            <a:ext cx="2558264" cy="45807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450215">
              <a:lnSpc>
                <a:spcPct val="150000"/>
              </a:lnSpc>
            </a:pPr>
            <a:r>
              <a:rPr lang="ru-RU" sz="1800" b="1" dirty="0">
                <a:solidFill>
                  <a:srgbClr val="2A2A2A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Определение </a:t>
            </a:r>
            <a:r>
              <a:rPr lang="en-GB" sz="1800" b="1" dirty="0">
                <a:solidFill>
                  <a:srgbClr val="2A2A2A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XDR</a:t>
            </a:r>
            <a:endParaRPr lang="en-GB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2" name="Rectangle 2">
            <a:extLst>
              <a:ext uri="{FF2B5EF4-FFF2-40B4-BE49-F238E27FC236}">
                <a16:creationId xmlns:a16="http://schemas.microsoft.com/office/drawing/2014/main" id="{054608E2-806A-104C-BDAD-DBDC389EA112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5256157" y="5745915"/>
            <a:ext cx="5940061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B0A178D-E9EF-3348-66D1-FD8A8DBC0B35}"/>
              </a:ext>
            </a:extLst>
          </p:cNvPr>
          <p:cNvSpPr txBox="1"/>
          <p:nvPr/>
        </p:nvSpPr>
        <p:spPr>
          <a:xfrm>
            <a:off x="292487" y="1572980"/>
            <a:ext cx="8707772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215" algn="just"/>
            <a:r>
              <a:rPr lang="ru-RU" sz="2000" b="1" dirty="0">
                <a:solidFill>
                  <a:srgbClr val="2A2A2A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XDR (от англ. </a:t>
            </a:r>
            <a:r>
              <a:rPr lang="ru-RU" sz="2000" b="1" dirty="0" err="1">
                <a:solidFill>
                  <a:srgbClr val="2A2A2A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Extended</a:t>
            </a:r>
            <a:r>
              <a:rPr lang="ru-RU" sz="2000" b="1" dirty="0">
                <a:solidFill>
                  <a:srgbClr val="2A2A2A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000" b="1" dirty="0" err="1">
                <a:solidFill>
                  <a:srgbClr val="2A2A2A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Detection</a:t>
            </a:r>
            <a:r>
              <a:rPr lang="ru-RU" sz="2000" b="1" dirty="0">
                <a:solidFill>
                  <a:srgbClr val="2A2A2A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000" b="1" dirty="0" err="1">
                <a:solidFill>
                  <a:srgbClr val="2A2A2A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and</a:t>
            </a:r>
            <a:r>
              <a:rPr lang="ru-RU" sz="2000" b="1" dirty="0">
                <a:solidFill>
                  <a:srgbClr val="2A2A2A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Response, «расширенные обнаружение и реагирование») – </a:t>
            </a:r>
            <a:r>
              <a:rPr lang="ru-RU" sz="2000" dirty="0">
                <a:solidFill>
                  <a:srgbClr val="2A2A2A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класс систем информационной безопасности, предназначенных для автоматического проактивного выявления угроз на разных уровнях инфраструктуры, реагирования на них и противодействия сложным атакам. Это следующий шаг в развитии технологии </a:t>
            </a:r>
            <a:r>
              <a:rPr lang="ru-RU" sz="2000" b="1" dirty="0">
                <a:solidFill>
                  <a:srgbClr val="2A2A2A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EDR (</a:t>
            </a:r>
            <a:r>
              <a:rPr lang="ru-RU" sz="2000" b="1" dirty="0" err="1">
                <a:solidFill>
                  <a:srgbClr val="2A2A2A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Endpoint</a:t>
            </a:r>
            <a:r>
              <a:rPr lang="ru-RU" sz="2000" b="1" dirty="0">
                <a:solidFill>
                  <a:srgbClr val="2A2A2A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000" b="1" dirty="0" err="1">
                <a:solidFill>
                  <a:srgbClr val="2A2A2A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Detection</a:t>
            </a:r>
            <a:r>
              <a:rPr lang="ru-RU" sz="2000" b="1" dirty="0">
                <a:solidFill>
                  <a:srgbClr val="2A2A2A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000" b="1" dirty="0" err="1">
                <a:solidFill>
                  <a:srgbClr val="2A2A2A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and</a:t>
            </a:r>
            <a:r>
              <a:rPr lang="ru-RU" sz="2000" b="1" dirty="0">
                <a:solidFill>
                  <a:srgbClr val="2A2A2A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Response)</a:t>
            </a:r>
            <a:r>
              <a:rPr lang="ru-RU" sz="2000" dirty="0">
                <a:solidFill>
                  <a:srgbClr val="2A2A2A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которая отвечает за обнаружение сложных угроз и реагирование на них на уровне конечных точек. 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33248630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3" descr="head.png">
            <a:extLst>
              <a:ext uri="{FF2B5EF4-FFF2-40B4-BE49-F238E27FC236}">
                <a16:creationId xmlns:a16="http://schemas.microsoft.com/office/drawing/2014/main" id="{4D7A1AFF-6758-C840-AC0D-AD2973ABC3B8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3330"/>
            <a:ext cx="9144000" cy="99542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B2677AE-2E40-024F-80A4-2E8961067E25}"/>
              </a:ext>
            </a:extLst>
          </p:cNvPr>
          <p:cNvSpPr txBox="1"/>
          <p:nvPr/>
        </p:nvSpPr>
        <p:spPr>
          <a:xfrm>
            <a:off x="7523999" y="6419000"/>
            <a:ext cx="14762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0B0F0"/>
                </a:solidFill>
                <a:latin typeface="PT Sans"/>
              </a:rPr>
              <a:t>online.mirea.ru</a:t>
            </a:r>
            <a:endParaRPr lang="ru-RU" sz="1400" b="1" dirty="0">
              <a:solidFill>
                <a:srgbClr val="00B0F0"/>
              </a:solidFill>
              <a:latin typeface="PT Sans"/>
            </a:endParaRP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D9344CB2-2321-1643-86C1-7660A0F315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502307" cy="968764"/>
          </a:xfrm>
          <a:prstGeom prst="rect">
            <a:avLst/>
          </a:prstGeom>
        </p:spPr>
      </p:pic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9FD430A8-1087-B648-BC83-27A12FB6D8BA}"/>
              </a:ext>
            </a:extLst>
          </p:cNvPr>
          <p:cNvSpPr/>
          <p:nvPr/>
        </p:nvSpPr>
        <p:spPr>
          <a:xfrm>
            <a:off x="6518787" y="167148"/>
            <a:ext cx="2408903" cy="344129"/>
          </a:xfrm>
          <a:prstGeom prst="rect">
            <a:avLst/>
          </a:prstGeom>
          <a:solidFill>
            <a:srgbClr val="CAC9C9"/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Номер слайда 5">
            <a:extLst>
              <a:ext uri="{FF2B5EF4-FFF2-40B4-BE49-F238E27FC236}">
                <a16:creationId xmlns:a16="http://schemas.microsoft.com/office/drawing/2014/main" id="{40B9653E-4546-4947-8F4D-A1A5FF7AC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2259990-D040-4A93-9573-D8805257596F}" type="slidenum">
              <a:rPr lang="ru-RU" smtClean="0"/>
              <a:pPr/>
              <a:t>4</a:t>
            </a:fld>
            <a:endParaRPr lang="ru-RU" dirty="0"/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161309F0-EB2B-B64E-9E89-06992EA4A093}"/>
              </a:ext>
            </a:extLst>
          </p:cNvPr>
          <p:cNvSpPr/>
          <p:nvPr/>
        </p:nvSpPr>
        <p:spPr>
          <a:xfrm>
            <a:off x="7620000" y="6459794"/>
            <a:ext cx="1288026" cy="261681"/>
          </a:xfrm>
          <a:prstGeom prst="rect">
            <a:avLst/>
          </a:prstGeom>
          <a:solidFill>
            <a:srgbClr val="C2C1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4</a:t>
            </a:r>
          </a:p>
        </p:txBody>
      </p:sp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89409AD1-56A3-FD41-9A1F-6FF7215FC93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9240" y="0"/>
            <a:ext cx="754760" cy="662184"/>
          </a:xfrm>
          <a:prstGeom prst="rect">
            <a:avLst/>
          </a:prstGeom>
        </p:spPr>
      </p:pic>
      <p:sp>
        <p:nvSpPr>
          <p:cNvPr id="22" name="Rectangle 2">
            <a:extLst>
              <a:ext uri="{FF2B5EF4-FFF2-40B4-BE49-F238E27FC236}">
                <a16:creationId xmlns:a16="http://schemas.microsoft.com/office/drawing/2014/main" id="{054608E2-806A-104C-BDAD-DBDC389EA112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5256157" y="5745915"/>
            <a:ext cx="5940061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C622468-7AD6-E718-5209-B1736744A3AC}"/>
              </a:ext>
            </a:extLst>
          </p:cNvPr>
          <p:cNvSpPr txBox="1"/>
          <p:nvPr/>
        </p:nvSpPr>
        <p:spPr>
          <a:xfrm>
            <a:off x="375691" y="920204"/>
            <a:ext cx="8491731" cy="8735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215" algn="just">
              <a:lnSpc>
                <a:spcPct val="150000"/>
              </a:lnSpc>
            </a:pPr>
            <a:r>
              <a:rPr lang="ru-RU" b="1" dirty="0">
                <a:solidFill>
                  <a:srgbClr val="2A2A2A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Ф</a:t>
            </a:r>
            <a:r>
              <a:rPr lang="ru-RU" sz="1800" b="1" dirty="0">
                <a:solidFill>
                  <a:srgbClr val="2A2A2A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акторы успеха, способствующие повышению эффективности процесса обнаружения и реагирования </a:t>
            </a:r>
            <a:endParaRPr lang="en-GB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219EB0A9-38C4-C173-770D-85F9052ED0D6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82" b="17894"/>
          <a:stretch/>
        </p:blipFill>
        <p:spPr bwMode="auto">
          <a:xfrm>
            <a:off x="374003" y="1888968"/>
            <a:ext cx="8392617" cy="3930487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2051708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3" descr="head.png">
            <a:extLst>
              <a:ext uri="{FF2B5EF4-FFF2-40B4-BE49-F238E27FC236}">
                <a16:creationId xmlns:a16="http://schemas.microsoft.com/office/drawing/2014/main" id="{4D7A1AFF-6758-C840-AC0D-AD2973ABC3B8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3330"/>
            <a:ext cx="9144000" cy="99542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B2677AE-2E40-024F-80A4-2E8961067E25}"/>
              </a:ext>
            </a:extLst>
          </p:cNvPr>
          <p:cNvSpPr txBox="1"/>
          <p:nvPr/>
        </p:nvSpPr>
        <p:spPr>
          <a:xfrm>
            <a:off x="7523999" y="6419000"/>
            <a:ext cx="14762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0B0F0"/>
                </a:solidFill>
                <a:latin typeface="PT Sans"/>
              </a:rPr>
              <a:t>online.mirea.ru</a:t>
            </a:r>
            <a:endParaRPr lang="ru-RU" sz="1400" b="1" dirty="0">
              <a:solidFill>
                <a:srgbClr val="00B0F0"/>
              </a:solidFill>
              <a:latin typeface="PT Sans"/>
            </a:endParaRP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D9344CB2-2321-1643-86C1-7660A0F315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502307" cy="968764"/>
          </a:xfrm>
          <a:prstGeom prst="rect">
            <a:avLst/>
          </a:prstGeom>
        </p:spPr>
      </p:pic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9FD430A8-1087-B648-BC83-27A12FB6D8BA}"/>
              </a:ext>
            </a:extLst>
          </p:cNvPr>
          <p:cNvSpPr/>
          <p:nvPr/>
        </p:nvSpPr>
        <p:spPr>
          <a:xfrm>
            <a:off x="6518787" y="167148"/>
            <a:ext cx="2408903" cy="344129"/>
          </a:xfrm>
          <a:prstGeom prst="rect">
            <a:avLst/>
          </a:prstGeom>
          <a:solidFill>
            <a:srgbClr val="CAC9C9"/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Номер слайда 5">
            <a:extLst>
              <a:ext uri="{FF2B5EF4-FFF2-40B4-BE49-F238E27FC236}">
                <a16:creationId xmlns:a16="http://schemas.microsoft.com/office/drawing/2014/main" id="{40B9653E-4546-4947-8F4D-A1A5FF7AC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2259990-D040-4A93-9573-D8805257596F}" type="slidenum">
              <a:rPr lang="ru-RU" smtClean="0"/>
              <a:pPr/>
              <a:t>5</a:t>
            </a:fld>
            <a:endParaRPr lang="ru-RU" dirty="0"/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161309F0-EB2B-B64E-9E89-06992EA4A093}"/>
              </a:ext>
            </a:extLst>
          </p:cNvPr>
          <p:cNvSpPr/>
          <p:nvPr/>
        </p:nvSpPr>
        <p:spPr>
          <a:xfrm>
            <a:off x="7620000" y="6459794"/>
            <a:ext cx="1288026" cy="261681"/>
          </a:xfrm>
          <a:prstGeom prst="rect">
            <a:avLst/>
          </a:prstGeom>
          <a:solidFill>
            <a:srgbClr val="C2C1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5</a:t>
            </a:r>
          </a:p>
        </p:txBody>
      </p:sp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89409AD1-56A3-FD41-9A1F-6FF7215FC93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9240" y="0"/>
            <a:ext cx="754760" cy="662184"/>
          </a:xfrm>
          <a:prstGeom prst="rect">
            <a:avLst/>
          </a:prstGeom>
        </p:spPr>
      </p:pic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C1AC5B14-9FBF-1C4C-B540-EA95B355CFAF}"/>
              </a:ext>
            </a:extLst>
          </p:cNvPr>
          <p:cNvSpPr/>
          <p:nvPr/>
        </p:nvSpPr>
        <p:spPr>
          <a:xfrm>
            <a:off x="1992004" y="1049382"/>
            <a:ext cx="54946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450215"/>
            <a:r>
              <a:rPr lang="ru-RU" sz="1800" b="1" dirty="0">
                <a:solidFill>
                  <a:srgbClr val="2A2A2A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Состав и функциональные возможности XDR </a:t>
            </a:r>
            <a:endParaRPr lang="en-GB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2" name="Rectangle 2">
            <a:extLst>
              <a:ext uri="{FF2B5EF4-FFF2-40B4-BE49-F238E27FC236}">
                <a16:creationId xmlns:a16="http://schemas.microsoft.com/office/drawing/2014/main" id="{054608E2-806A-104C-BDAD-DBDC389EA112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5256157" y="5745915"/>
            <a:ext cx="5940061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E2E92B5-D685-B5DC-880C-6ABC644A0C4A}"/>
              </a:ext>
            </a:extLst>
          </p:cNvPr>
          <p:cNvSpPr txBox="1"/>
          <p:nvPr/>
        </p:nvSpPr>
        <p:spPr>
          <a:xfrm>
            <a:off x="289688" y="1533480"/>
            <a:ext cx="8854312" cy="50285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50000"/>
              </a:lnSpc>
              <a:buFont typeface="Symbol" panose="05050102010706020507" pitchFamily="18" charset="2"/>
              <a:buChar char=""/>
            </a:pP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единый центр сбора, нормализации, анализа и корреляции данных, </a:t>
            </a:r>
            <a:endParaRPr lang="en-GB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Symbol" panose="05050102010706020507" pitchFamily="18" charset="2"/>
              <a:buChar char=""/>
            </a:pP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облачное «озеро данных» (</a:t>
            </a:r>
            <a:r>
              <a:rPr lang="ru-RU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data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lake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 или локальная база данных, </a:t>
            </a:r>
            <a:endParaRPr lang="en-GB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Symbol" panose="05050102010706020507" pitchFamily="18" charset="2"/>
              <a:buChar char=""/>
            </a:pP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единая консоль, </a:t>
            </a:r>
            <a:endParaRPr lang="en-GB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Symbol" panose="05050102010706020507" pitchFamily="18" charset="2"/>
              <a:buChar char=""/>
            </a:pP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повышенный уровень автоматизации, </a:t>
            </a:r>
            <a:endParaRPr lang="en-GB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Symbol" panose="05050102010706020507" pitchFamily="18" charset="2"/>
              <a:buChar char=""/>
            </a:pP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един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ая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точка видимости того, что происходит в инфраструктуре, </a:t>
            </a:r>
            <a:endParaRPr lang="en-GB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Symbol" panose="05050102010706020507" pitchFamily="18" charset="2"/>
              <a:buChar char=""/>
            </a:pP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единый инструментарий по анализу первопричин и проактивный поиск угроз, </a:t>
            </a:r>
            <a:endParaRPr lang="en-GB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Symbol" panose="05050102010706020507" pitchFamily="18" charset="2"/>
              <a:buChar char=""/>
            </a:pP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единый улучшенный процесс приоритизации инцидентов, </a:t>
            </a:r>
            <a:endParaRPr lang="en-GB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Symbol" panose="05050102010706020507" pitchFamily="18" charset="2"/>
              <a:buChar char=""/>
            </a:pP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автоматическое формирование из ряда оповещений одного инцидента, который действительно требует внимания аналитиков, </a:t>
            </a:r>
            <a:endParaRPr lang="en-GB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Symbol" panose="05050102010706020507" pitchFamily="18" charset="2"/>
              <a:buChar char=""/>
            </a:pP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одна точка взаимодействия с </a:t>
            </a:r>
            <a:r>
              <a:rPr lang="ru-RU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Threat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Intelligence и матрицей MITRE ATT&amp;CK, </a:t>
            </a:r>
            <a:endParaRPr lang="en-GB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Symbol" panose="05050102010706020507" pitchFamily="18" charset="2"/>
              <a:buChar char=""/>
            </a:pP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централизованное реагирование, в том числе с применением сценариев реагирования (</a:t>
            </a:r>
            <a:r>
              <a:rPr lang="ru-RU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плейбуков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 и пр.</a:t>
            </a:r>
            <a:endParaRPr lang="en-GB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29073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C6560D-7027-7E35-1D25-5FE630EC02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3" descr="head.png">
            <a:extLst>
              <a:ext uri="{FF2B5EF4-FFF2-40B4-BE49-F238E27FC236}">
                <a16:creationId xmlns:a16="http://schemas.microsoft.com/office/drawing/2014/main" id="{DA99BAFE-6090-468E-6F39-8FA3F35ED17F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3330"/>
            <a:ext cx="9144000" cy="99542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21050B6-1E61-66EA-9C01-3312D5DAACEC}"/>
              </a:ext>
            </a:extLst>
          </p:cNvPr>
          <p:cNvSpPr txBox="1"/>
          <p:nvPr/>
        </p:nvSpPr>
        <p:spPr>
          <a:xfrm>
            <a:off x="7523999" y="6419000"/>
            <a:ext cx="14762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0B0F0"/>
                </a:solidFill>
                <a:latin typeface="PT Sans"/>
              </a:rPr>
              <a:t>online.mirea.ru</a:t>
            </a:r>
            <a:endParaRPr lang="ru-RU" sz="1400" b="1" dirty="0">
              <a:solidFill>
                <a:srgbClr val="00B0F0"/>
              </a:solidFill>
              <a:latin typeface="PT Sans"/>
            </a:endParaRP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5A0D700F-F124-5D0A-FEAC-9F2AF7B796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502307" cy="968764"/>
          </a:xfrm>
          <a:prstGeom prst="rect">
            <a:avLst/>
          </a:prstGeom>
        </p:spPr>
      </p:pic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EB692575-7A76-DAEF-AAA5-675A500CB21E}"/>
              </a:ext>
            </a:extLst>
          </p:cNvPr>
          <p:cNvSpPr/>
          <p:nvPr/>
        </p:nvSpPr>
        <p:spPr>
          <a:xfrm>
            <a:off x="6518787" y="167148"/>
            <a:ext cx="2408903" cy="344129"/>
          </a:xfrm>
          <a:prstGeom prst="rect">
            <a:avLst/>
          </a:prstGeom>
          <a:solidFill>
            <a:srgbClr val="CAC9C9"/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Номер слайда 5">
            <a:extLst>
              <a:ext uri="{FF2B5EF4-FFF2-40B4-BE49-F238E27FC236}">
                <a16:creationId xmlns:a16="http://schemas.microsoft.com/office/drawing/2014/main" id="{3EF921C5-AB6F-1655-8FEB-D1C7AA024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2259990-D040-4A93-9573-D8805257596F}" type="slidenum">
              <a:rPr lang="ru-RU" smtClean="0"/>
              <a:pPr/>
              <a:t>6</a:t>
            </a:fld>
            <a:endParaRPr lang="ru-RU" dirty="0"/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968D56A5-66CD-C8F0-78BD-71400D0AF736}"/>
              </a:ext>
            </a:extLst>
          </p:cNvPr>
          <p:cNvSpPr/>
          <p:nvPr/>
        </p:nvSpPr>
        <p:spPr>
          <a:xfrm>
            <a:off x="7620000" y="6459794"/>
            <a:ext cx="1288026" cy="261681"/>
          </a:xfrm>
          <a:prstGeom prst="rect">
            <a:avLst/>
          </a:prstGeom>
          <a:solidFill>
            <a:srgbClr val="C2C1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6</a:t>
            </a:r>
          </a:p>
        </p:txBody>
      </p:sp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1916AF4D-D0D3-FD21-B1E5-7B8E9055614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9240" y="0"/>
            <a:ext cx="754760" cy="662184"/>
          </a:xfrm>
          <a:prstGeom prst="rect">
            <a:avLst/>
          </a:prstGeom>
        </p:spPr>
      </p:pic>
      <p:sp>
        <p:nvSpPr>
          <p:cNvPr id="22" name="Rectangle 2">
            <a:extLst>
              <a:ext uri="{FF2B5EF4-FFF2-40B4-BE49-F238E27FC236}">
                <a16:creationId xmlns:a16="http://schemas.microsoft.com/office/drawing/2014/main" id="{06D2714F-BB76-4000-ADDE-28C8004E3BDD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5256157" y="5745915"/>
            <a:ext cx="5940061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9DEB4E9F-926A-920E-DD4E-BF85C82DFAE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076" y="1070562"/>
            <a:ext cx="7839667" cy="5280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92481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276B41-B913-69DD-5529-A34FFAE0DD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3" descr="head.png">
            <a:extLst>
              <a:ext uri="{FF2B5EF4-FFF2-40B4-BE49-F238E27FC236}">
                <a16:creationId xmlns:a16="http://schemas.microsoft.com/office/drawing/2014/main" id="{2C79253B-1699-6B7D-E879-DC5F8DD93230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3330"/>
            <a:ext cx="9144000" cy="99542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DB222BE-30F9-D7A3-AE8B-25F66DE9D408}"/>
              </a:ext>
            </a:extLst>
          </p:cNvPr>
          <p:cNvSpPr txBox="1"/>
          <p:nvPr/>
        </p:nvSpPr>
        <p:spPr>
          <a:xfrm>
            <a:off x="7523999" y="6419000"/>
            <a:ext cx="14762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0B0F0"/>
                </a:solidFill>
                <a:latin typeface="PT Sans"/>
              </a:rPr>
              <a:t>online.mirea.ru</a:t>
            </a:r>
            <a:endParaRPr lang="ru-RU" sz="1400" b="1" dirty="0">
              <a:solidFill>
                <a:srgbClr val="00B0F0"/>
              </a:solidFill>
              <a:latin typeface="PT Sans"/>
            </a:endParaRP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358DD91F-D4B4-78E2-0DCF-4F7FFD5986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502307" cy="968764"/>
          </a:xfrm>
          <a:prstGeom prst="rect">
            <a:avLst/>
          </a:prstGeom>
        </p:spPr>
      </p:pic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9EE7456E-D2B2-F6BE-71D1-548B9AA2392D}"/>
              </a:ext>
            </a:extLst>
          </p:cNvPr>
          <p:cNvSpPr/>
          <p:nvPr/>
        </p:nvSpPr>
        <p:spPr>
          <a:xfrm>
            <a:off x="6518787" y="167148"/>
            <a:ext cx="2408903" cy="344129"/>
          </a:xfrm>
          <a:prstGeom prst="rect">
            <a:avLst/>
          </a:prstGeom>
          <a:solidFill>
            <a:srgbClr val="CAC9C9"/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Номер слайда 5">
            <a:extLst>
              <a:ext uri="{FF2B5EF4-FFF2-40B4-BE49-F238E27FC236}">
                <a16:creationId xmlns:a16="http://schemas.microsoft.com/office/drawing/2014/main" id="{EF43CBCF-5AAC-B911-2CE5-02BC88DF9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2259990-D040-4A93-9573-D8805257596F}" type="slidenum">
              <a:rPr lang="ru-RU" smtClean="0"/>
              <a:pPr/>
              <a:t>7</a:t>
            </a:fld>
            <a:endParaRPr lang="ru-RU" dirty="0"/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5438EA9E-FAAB-3DF1-3766-A9EBF5E6E31D}"/>
              </a:ext>
            </a:extLst>
          </p:cNvPr>
          <p:cNvSpPr/>
          <p:nvPr/>
        </p:nvSpPr>
        <p:spPr>
          <a:xfrm>
            <a:off x="7620000" y="6459794"/>
            <a:ext cx="1288026" cy="261681"/>
          </a:xfrm>
          <a:prstGeom prst="rect">
            <a:avLst/>
          </a:prstGeom>
          <a:solidFill>
            <a:srgbClr val="C2C1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7</a:t>
            </a:r>
          </a:p>
        </p:txBody>
      </p:sp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BB492C5A-7D0E-BD95-F1AC-33700C07B26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9240" y="0"/>
            <a:ext cx="754760" cy="662184"/>
          </a:xfrm>
          <a:prstGeom prst="rect">
            <a:avLst/>
          </a:prstGeom>
        </p:spPr>
      </p:pic>
      <p:sp>
        <p:nvSpPr>
          <p:cNvPr id="22" name="Rectangle 2">
            <a:extLst>
              <a:ext uri="{FF2B5EF4-FFF2-40B4-BE49-F238E27FC236}">
                <a16:creationId xmlns:a16="http://schemas.microsoft.com/office/drawing/2014/main" id="{6D309337-F0E6-84F0-94E4-056FA00B7455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5256157" y="5745915"/>
            <a:ext cx="5940061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B64C0A-1DCE-43B0-5359-A768EE542FD5}"/>
              </a:ext>
            </a:extLst>
          </p:cNvPr>
          <p:cNvSpPr txBox="1"/>
          <p:nvPr/>
        </p:nvSpPr>
        <p:spPr>
          <a:xfrm>
            <a:off x="2291645" y="1022887"/>
            <a:ext cx="5599288" cy="4580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215" algn="just">
              <a:lnSpc>
                <a:spcPct val="150000"/>
              </a:lnSpc>
              <a:tabLst>
                <a:tab pos="450215" algn="l"/>
              </a:tabLst>
            </a:pPr>
            <a:r>
              <a:rPr lang="ru-RU" sz="1800" b="1" dirty="0">
                <a:solidFill>
                  <a:srgbClr val="2A2A2A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Типы XDR и варианты поставки </a:t>
            </a:r>
            <a:endParaRPr lang="en-GB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2523D03-EF3E-AEB5-D755-A760F62C506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467" y="1512124"/>
            <a:ext cx="6841066" cy="4823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47506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3" descr="head.png">
            <a:extLst>
              <a:ext uri="{FF2B5EF4-FFF2-40B4-BE49-F238E27FC236}">
                <a16:creationId xmlns:a16="http://schemas.microsoft.com/office/drawing/2014/main" id="{4D7A1AFF-6758-C840-AC0D-AD2973ABC3B8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3330"/>
            <a:ext cx="9144000" cy="99542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B2677AE-2E40-024F-80A4-2E8961067E25}"/>
              </a:ext>
            </a:extLst>
          </p:cNvPr>
          <p:cNvSpPr txBox="1"/>
          <p:nvPr/>
        </p:nvSpPr>
        <p:spPr>
          <a:xfrm>
            <a:off x="7523999" y="6419000"/>
            <a:ext cx="14762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0B0F0"/>
                </a:solidFill>
                <a:latin typeface="PT Sans"/>
              </a:rPr>
              <a:t>online.mirea.ru</a:t>
            </a:r>
            <a:endParaRPr lang="ru-RU" sz="1400" b="1" dirty="0">
              <a:solidFill>
                <a:srgbClr val="00B0F0"/>
              </a:solidFill>
              <a:latin typeface="PT Sans"/>
            </a:endParaRP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D9344CB2-2321-1643-86C1-7660A0F315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502307" cy="968764"/>
          </a:xfrm>
          <a:prstGeom prst="rect">
            <a:avLst/>
          </a:prstGeom>
        </p:spPr>
      </p:pic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9FD430A8-1087-B648-BC83-27A12FB6D8BA}"/>
              </a:ext>
            </a:extLst>
          </p:cNvPr>
          <p:cNvSpPr/>
          <p:nvPr/>
        </p:nvSpPr>
        <p:spPr>
          <a:xfrm>
            <a:off x="6518787" y="167148"/>
            <a:ext cx="2408903" cy="344129"/>
          </a:xfrm>
          <a:prstGeom prst="rect">
            <a:avLst/>
          </a:prstGeom>
          <a:solidFill>
            <a:srgbClr val="CAC9C9"/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Номер слайда 5">
            <a:extLst>
              <a:ext uri="{FF2B5EF4-FFF2-40B4-BE49-F238E27FC236}">
                <a16:creationId xmlns:a16="http://schemas.microsoft.com/office/drawing/2014/main" id="{40B9653E-4546-4947-8F4D-A1A5FF7AC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2259990-D040-4A93-9573-D8805257596F}" type="slidenum">
              <a:rPr lang="ru-RU" smtClean="0"/>
              <a:pPr/>
              <a:t>8</a:t>
            </a:fld>
            <a:endParaRPr lang="ru-RU" dirty="0"/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161309F0-EB2B-B64E-9E89-06992EA4A093}"/>
              </a:ext>
            </a:extLst>
          </p:cNvPr>
          <p:cNvSpPr/>
          <p:nvPr/>
        </p:nvSpPr>
        <p:spPr>
          <a:xfrm>
            <a:off x="7620000" y="6459794"/>
            <a:ext cx="1288026" cy="261681"/>
          </a:xfrm>
          <a:prstGeom prst="rect">
            <a:avLst/>
          </a:prstGeom>
          <a:solidFill>
            <a:srgbClr val="C2C1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8</a:t>
            </a:r>
          </a:p>
        </p:txBody>
      </p:sp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89409AD1-56A3-FD41-9A1F-6FF7215FC93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9240" y="0"/>
            <a:ext cx="754760" cy="662184"/>
          </a:xfrm>
          <a:prstGeom prst="rect">
            <a:avLst/>
          </a:prstGeom>
        </p:spPr>
      </p:pic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C1AC5B14-9FBF-1C4C-B540-EA95B355CFAF}"/>
              </a:ext>
            </a:extLst>
          </p:cNvPr>
          <p:cNvSpPr/>
          <p:nvPr/>
        </p:nvSpPr>
        <p:spPr>
          <a:xfrm>
            <a:off x="1036731" y="1017426"/>
            <a:ext cx="72769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450215"/>
            <a:r>
              <a:rPr lang="ru-RU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Отличия XDR от других систем информационной безопасности</a:t>
            </a:r>
            <a:endParaRPr lang="en-GB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2" name="Rectangle 2">
            <a:extLst>
              <a:ext uri="{FF2B5EF4-FFF2-40B4-BE49-F238E27FC236}">
                <a16:creationId xmlns:a16="http://schemas.microsoft.com/office/drawing/2014/main" id="{054608E2-806A-104C-BDAD-DBDC389EA112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5256157" y="5745915"/>
            <a:ext cx="5940061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41EA7D7-0E7A-F458-5756-74444E40015C}"/>
              </a:ext>
            </a:extLst>
          </p:cNvPr>
          <p:cNvSpPr txBox="1"/>
          <p:nvPr/>
        </p:nvSpPr>
        <p:spPr>
          <a:xfrm>
            <a:off x="50203" y="1213613"/>
            <a:ext cx="8783949" cy="5444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215" algn="just">
              <a:lnSpc>
                <a:spcPct val="150000"/>
              </a:lnSpc>
              <a:buNone/>
            </a:pP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Некоторые инструменты киберзащиты схожи с XDR, но из-за более узкой специализации в них, как правило, меньше функций. Например:</a:t>
            </a:r>
            <a:endParaRPr lang="en-GB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EDR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обеспечивают защиту только на уровне конечных точек, без сетевых и облачных служб.</a:t>
            </a:r>
            <a:endParaRPr lang="en-GB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SIEM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осуществляют только сбор и анализ информации во внутренней сети, без реагирования.</a:t>
            </a:r>
            <a:endParaRPr lang="en-GB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UEBA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анализируют только поведение пользователей, устройств и приложений, без реагирования на аномалии.</a:t>
            </a:r>
            <a:endParaRPr lang="en-GB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SOAR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охватывают большую часть инфраструктуры, но работают в основном по сигнатурам и типовым сценариям реагирования, не обеспечивая проактивную защиту. Кроме того, у решений типа SOAR более низкий уровень совместимости с решениями и приложениями, служащими источниками данных.</a:t>
            </a:r>
            <a:endParaRPr lang="en-GB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07455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C89443-BD89-E640-3AAC-F607CC41DE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3" descr="head.png">
            <a:extLst>
              <a:ext uri="{FF2B5EF4-FFF2-40B4-BE49-F238E27FC236}">
                <a16:creationId xmlns:a16="http://schemas.microsoft.com/office/drawing/2014/main" id="{60E3E13E-FA15-4897-E381-15BB33AE6268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3330"/>
            <a:ext cx="9144000" cy="99542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A324AF2-6404-7E80-474F-BF78A228E41B}"/>
              </a:ext>
            </a:extLst>
          </p:cNvPr>
          <p:cNvSpPr txBox="1"/>
          <p:nvPr/>
        </p:nvSpPr>
        <p:spPr>
          <a:xfrm>
            <a:off x="7523999" y="6419000"/>
            <a:ext cx="14762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0B0F0"/>
                </a:solidFill>
                <a:latin typeface="PT Sans"/>
              </a:rPr>
              <a:t>online.mirea.ru</a:t>
            </a:r>
            <a:endParaRPr lang="ru-RU" sz="1400" b="1" dirty="0">
              <a:solidFill>
                <a:srgbClr val="00B0F0"/>
              </a:solidFill>
              <a:latin typeface="PT Sans"/>
            </a:endParaRP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C5FC79D6-9AFD-EE5E-AD8F-0F2AA756A6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502307" cy="968764"/>
          </a:xfrm>
          <a:prstGeom prst="rect">
            <a:avLst/>
          </a:prstGeom>
        </p:spPr>
      </p:pic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162C1354-F82F-485A-8444-DC46429C2D07}"/>
              </a:ext>
            </a:extLst>
          </p:cNvPr>
          <p:cNvSpPr/>
          <p:nvPr/>
        </p:nvSpPr>
        <p:spPr>
          <a:xfrm>
            <a:off x="6518787" y="167148"/>
            <a:ext cx="2408903" cy="344129"/>
          </a:xfrm>
          <a:prstGeom prst="rect">
            <a:avLst/>
          </a:prstGeom>
          <a:solidFill>
            <a:srgbClr val="CAC9C9"/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Номер слайда 5">
            <a:extLst>
              <a:ext uri="{FF2B5EF4-FFF2-40B4-BE49-F238E27FC236}">
                <a16:creationId xmlns:a16="http://schemas.microsoft.com/office/drawing/2014/main" id="{D0DE036F-0F50-0C9C-95A2-8E3BD30F5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2259990-D040-4A93-9573-D8805257596F}" type="slidenum">
              <a:rPr lang="ru-RU" smtClean="0"/>
              <a:pPr/>
              <a:t>9</a:t>
            </a:fld>
            <a:endParaRPr lang="ru-RU" dirty="0"/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B3AF6168-2C4B-08FC-BEB8-5BBB3C64EEC6}"/>
              </a:ext>
            </a:extLst>
          </p:cNvPr>
          <p:cNvSpPr/>
          <p:nvPr/>
        </p:nvSpPr>
        <p:spPr>
          <a:xfrm>
            <a:off x="7620000" y="6459794"/>
            <a:ext cx="1288026" cy="261681"/>
          </a:xfrm>
          <a:prstGeom prst="rect">
            <a:avLst/>
          </a:prstGeom>
          <a:solidFill>
            <a:srgbClr val="C2C1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9</a:t>
            </a:r>
          </a:p>
        </p:txBody>
      </p:sp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A55B66D9-B881-90A3-892E-E7FCFF07C76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9240" y="0"/>
            <a:ext cx="754760" cy="662184"/>
          </a:xfrm>
          <a:prstGeom prst="rect">
            <a:avLst/>
          </a:prstGeom>
        </p:spPr>
      </p:pic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EC6C14E3-4C05-172F-B531-B984AA87066A}"/>
              </a:ext>
            </a:extLst>
          </p:cNvPr>
          <p:cNvSpPr/>
          <p:nvPr/>
        </p:nvSpPr>
        <p:spPr>
          <a:xfrm>
            <a:off x="2097887" y="996274"/>
            <a:ext cx="50679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450215"/>
            <a:r>
              <a:rPr lang="ru-RU" sz="1800" b="1" dirty="0">
                <a:solidFill>
                  <a:srgbClr val="2A2A2A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Наиболее известные решения класса XDR</a:t>
            </a:r>
            <a:endParaRPr lang="en-GB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2" name="Rectangle 2">
            <a:extLst>
              <a:ext uri="{FF2B5EF4-FFF2-40B4-BE49-F238E27FC236}">
                <a16:creationId xmlns:a16="http://schemas.microsoft.com/office/drawing/2014/main" id="{87C3499F-BD05-E7B7-3FC1-5DD79D0B5AEF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5256157" y="5745915"/>
            <a:ext cx="5940061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AB2A26C-E885-BA87-6644-70807422070C}"/>
              </a:ext>
            </a:extLst>
          </p:cNvPr>
          <p:cNvSpPr txBox="1"/>
          <p:nvPr/>
        </p:nvSpPr>
        <p:spPr>
          <a:xfrm>
            <a:off x="581379" y="1513201"/>
            <a:ext cx="5599288" cy="2951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50000"/>
              </a:lnSpc>
              <a:buFont typeface="Symbol" panose="05050102010706020507" pitchFamily="18" charset="2"/>
              <a:buChar char=""/>
            </a:pPr>
            <a:r>
              <a:rPr lang="en-US" sz="1800" dirty="0">
                <a:solidFill>
                  <a:srgbClr val="2A2A2A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Palo Alto Networks Cortex XDR, </a:t>
            </a:r>
            <a:endParaRPr lang="en-GB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Symbol" panose="05050102010706020507" pitchFamily="18" charset="2"/>
              <a:buChar char=""/>
            </a:pPr>
            <a:r>
              <a:rPr lang="en-US" sz="1800" dirty="0">
                <a:solidFill>
                  <a:srgbClr val="2A2A2A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Fortinet </a:t>
            </a:r>
            <a:r>
              <a:rPr lang="en-US" sz="1800" dirty="0" err="1">
                <a:solidFill>
                  <a:srgbClr val="2A2A2A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FortiXDR</a:t>
            </a:r>
            <a:r>
              <a:rPr lang="en-US" sz="1800" dirty="0">
                <a:solidFill>
                  <a:srgbClr val="2A2A2A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endParaRPr lang="en-GB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Symbol" panose="05050102010706020507" pitchFamily="18" charset="2"/>
              <a:buChar char=""/>
            </a:pPr>
            <a:r>
              <a:rPr lang="en-US" sz="1800" dirty="0">
                <a:solidFill>
                  <a:srgbClr val="2A2A2A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Kaspersky Anti Targeted Attack, </a:t>
            </a:r>
            <a:endParaRPr lang="en-GB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Symbol" panose="05050102010706020507" pitchFamily="18" charset="2"/>
              <a:buChar char=""/>
            </a:pPr>
            <a:r>
              <a:rPr lang="en-US" sz="1800" dirty="0">
                <a:solidFill>
                  <a:srgbClr val="2A2A2A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Microsoft Defender, </a:t>
            </a:r>
            <a:endParaRPr lang="en-GB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Symbol" panose="05050102010706020507" pitchFamily="18" charset="2"/>
              <a:buChar char=""/>
            </a:pPr>
            <a:r>
              <a:rPr lang="en-US" sz="1800" dirty="0">
                <a:solidFill>
                  <a:srgbClr val="2A2A2A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McAfee MVISION XDR, </a:t>
            </a:r>
            <a:endParaRPr lang="en-GB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Symbol" panose="05050102010706020507" pitchFamily="18" charset="2"/>
              <a:buChar char=""/>
            </a:pPr>
            <a:r>
              <a:rPr lang="en-US" sz="1800" dirty="0" err="1">
                <a:solidFill>
                  <a:srgbClr val="2A2A2A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SentinelOne</a:t>
            </a:r>
            <a:r>
              <a:rPr lang="en-US" sz="1800" dirty="0">
                <a:solidFill>
                  <a:srgbClr val="2A2A2A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Singularity, </a:t>
            </a:r>
            <a:endParaRPr lang="en-GB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Symbol" panose="05050102010706020507" pitchFamily="18" charset="2"/>
              <a:buChar char=""/>
            </a:pPr>
            <a:r>
              <a:rPr lang="en-US" sz="1800" dirty="0">
                <a:solidFill>
                  <a:srgbClr val="2A2A2A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Trend Micro Vision One. </a:t>
            </a:r>
            <a:endParaRPr lang="en-GB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24006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615</TotalTime>
  <Words>426</Words>
  <Application>Microsoft Office PowerPoint</Application>
  <PresentationFormat>Экран (4:3)</PresentationFormat>
  <Paragraphs>60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6" baseType="lpstr">
      <vt:lpstr>Arial</vt:lpstr>
      <vt:lpstr>Calibri</vt:lpstr>
      <vt:lpstr>Calibri Light</vt:lpstr>
      <vt:lpstr>PT Sans</vt:lpstr>
      <vt:lpstr>Symbol</vt:lpstr>
      <vt:lpstr>Times New Roman</vt:lpstr>
      <vt:lpstr>Тема Office</vt:lpstr>
      <vt:lpstr>Презентация PowerPoint</vt:lpstr>
      <vt:lpstr>Анализ XDR-систем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Microsoft Office User</dc:creator>
  <cp:lastModifiedBy>1</cp:lastModifiedBy>
  <cp:revision>23</cp:revision>
  <dcterms:created xsi:type="dcterms:W3CDTF">2020-09-01T07:45:21Z</dcterms:created>
  <dcterms:modified xsi:type="dcterms:W3CDTF">2025-03-19T19:41:26Z</dcterms:modified>
</cp:coreProperties>
</file>