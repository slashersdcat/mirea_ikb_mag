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67" r:id="rId4"/>
    <p:sldId id="268" r:id="rId5"/>
    <p:sldId id="269" r:id="rId6"/>
    <p:sldId id="270" r:id="rId7"/>
    <p:sldId id="271" r:id="rId8"/>
    <p:sldId id="272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342"/>
    <p:restoredTop sz="96405"/>
  </p:normalViewPr>
  <p:slideViewPr>
    <p:cSldViewPr snapToGrid="0" snapToObjects="1">
      <p:cViewPr varScale="1">
        <p:scale>
          <a:sx n="76" d="100"/>
          <a:sy n="76" d="100"/>
        </p:scale>
        <p:origin x="36" y="8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709C4-275D-4945-9F69-EE5B6789626F}" type="datetimeFigureOut">
              <a:rPr lang="ru-RU" smtClean="0"/>
              <a:t>15.02.2025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D71F3-BC6A-0344-9417-03252F7407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7909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709C4-275D-4945-9F69-EE5B6789626F}" type="datetimeFigureOut">
              <a:rPr lang="ru-RU" smtClean="0"/>
              <a:t>15.02.2025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D71F3-BC6A-0344-9417-03252F7407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3724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709C4-275D-4945-9F69-EE5B6789626F}" type="datetimeFigureOut">
              <a:rPr lang="ru-RU" smtClean="0"/>
              <a:t>15.02.2025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D71F3-BC6A-0344-9417-03252F7407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1570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709C4-275D-4945-9F69-EE5B6789626F}" type="datetimeFigureOut">
              <a:rPr lang="ru-RU" smtClean="0"/>
              <a:t>15.02.2025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D71F3-BC6A-0344-9417-03252F7407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5095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709C4-275D-4945-9F69-EE5B6789626F}" type="datetimeFigureOut">
              <a:rPr lang="ru-RU" smtClean="0"/>
              <a:t>15.02.2025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D71F3-BC6A-0344-9417-03252F7407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5269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709C4-275D-4945-9F69-EE5B6789626F}" type="datetimeFigureOut">
              <a:rPr lang="ru-RU" smtClean="0"/>
              <a:t>15.02.2025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D71F3-BC6A-0344-9417-03252F7407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0851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709C4-275D-4945-9F69-EE5B6789626F}" type="datetimeFigureOut">
              <a:rPr lang="ru-RU" smtClean="0"/>
              <a:t>15.02.2025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D71F3-BC6A-0344-9417-03252F7407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0036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709C4-275D-4945-9F69-EE5B6789626F}" type="datetimeFigureOut">
              <a:rPr lang="ru-RU" smtClean="0"/>
              <a:t>15.02.2025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D71F3-BC6A-0344-9417-03252F7407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3933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709C4-275D-4945-9F69-EE5B6789626F}" type="datetimeFigureOut">
              <a:rPr lang="ru-RU" smtClean="0"/>
              <a:t>15.02.2025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D71F3-BC6A-0344-9417-03252F7407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9263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709C4-275D-4945-9F69-EE5B6789626F}" type="datetimeFigureOut">
              <a:rPr lang="ru-RU" smtClean="0"/>
              <a:t>15.02.2025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D71F3-BC6A-0344-9417-03252F7407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3849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709C4-275D-4945-9F69-EE5B6789626F}" type="datetimeFigureOut">
              <a:rPr lang="ru-RU" smtClean="0"/>
              <a:t>15.02.2025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D71F3-BC6A-0344-9417-03252F7407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6746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C709C4-275D-4945-9F69-EE5B6789626F}" type="datetimeFigureOut">
              <a:rPr lang="ru-RU" smtClean="0"/>
              <a:t>15.02.2025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CD71F3-BC6A-0344-9417-03252F7407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5535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 descr="head.png">
            <a:extLst>
              <a:ext uri="{FF2B5EF4-FFF2-40B4-BE49-F238E27FC236}">
                <a16:creationId xmlns:a16="http://schemas.microsoft.com/office/drawing/2014/main" id="{4D7A1AFF-6758-C840-AC0D-AD2973ABC3B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330"/>
            <a:ext cx="9144000" cy="99542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B2677AE-2E40-024F-80A4-2E8961067E25}"/>
              </a:ext>
            </a:extLst>
          </p:cNvPr>
          <p:cNvSpPr txBox="1"/>
          <p:nvPr/>
        </p:nvSpPr>
        <p:spPr>
          <a:xfrm>
            <a:off x="7523999" y="6419000"/>
            <a:ext cx="1476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B0F0"/>
                </a:solidFill>
                <a:latin typeface="PT Sans"/>
              </a:rPr>
              <a:t>online.mirea.ru</a:t>
            </a:r>
            <a:endParaRPr lang="ru-RU" sz="1400" b="1" dirty="0">
              <a:solidFill>
                <a:srgbClr val="00B0F0"/>
              </a:solidFill>
              <a:latin typeface="PT Sans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9344CB2-2321-1643-86C1-7660A0F31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502307" cy="968764"/>
          </a:xfrm>
          <a:prstGeom prst="rect">
            <a:avLst/>
          </a:prstGeom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FD430A8-1087-B648-BC83-27A12FB6D8BA}"/>
              </a:ext>
            </a:extLst>
          </p:cNvPr>
          <p:cNvSpPr/>
          <p:nvPr/>
        </p:nvSpPr>
        <p:spPr>
          <a:xfrm>
            <a:off x="6518787" y="167148"/>
            <a:ext cx="2408903" cy="344129"/>
          </a:xfrm>
          <a:prstGeom prst="rect">
            <a:avLst/>
          </a:prstGeom>
          <a:solidFill>
            <a:srgbClr val="CAC9C9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842F06E3-0D9F-EA45-9280-0CBFA80D44E3}"/>
              </a:ext>
            </a:extLst>
          </p:cNvPr>
          <p:cNvSpPr txBox="1">
            <a:spLocks/>
          </p:cNvSpPr>
          <p:nvPr/>
        </p:nvSpPr>
        <p:spPr>
          <a:xfrm>
            <a:off x="628650" y="1070641"/>
            <a:ext cx="7886700" cy="28387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ru-RU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Системы мониторинга и управления инцидентами информационной безопасности</a:t>
            </a:r>
            <a:r>
              <a:rPr lang="ru-RU" sz="6000" dirty="0">
                <a:effectLst/>
              </a:rPr>
              <a:t> </a:t>
            </a:r>
            <a:endParaRPr lang="ru-RU" sz="6000" dirty="0"/>
          </a:p>
        </p:txBody>
      </p:sp>
      <p:sp>
        <p:nvSpPr>
          <p:cNvPr id="16" name="Текст 2">
            <a:extLst>
              <a:ext uri="{FF2B5EF4-FFF2-40B4-BE49-F238E27FC236}">
                <a16:creationId xmlns:a16="http://schemas.microsoft.com/office/drawing/2014/main" id="{B445934B-1834-C044-94F7-A43917EA8140}"/>
              </a:ext>
            </a:extLst>
          </p:cNvPr>
          <p:cNvSpPr txBox="1">
            <a:spLocks/>
          </p:cNvSpPr>
          <p:nvPr/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dirty="0"/>
              <a:t>к.т.н. </a:t>
            </a:r>
            <a:r>
              <a:rPr lang="ru-RU" dirty="0" err="1"/>
              <a:t>Урасков</a:t>
            </a:r>
            <a:r>
              <a:rPr lang="ru-RU" dirty="0"/>
              <a:t> Юрий Леонидович</a:t>
            </a:r>
          </a:p>
        </p:txBody>
      </p:sp>
      <p:sp>
        <p:nvSpPr>
          <p:cNvPr id="19" name="Номер слайда 5">
            <a:extLst>
              <a:ext uri="{FF2B5EF4-FFF2-40B4-BE49-F238E27FC236}">
                <a16:creationId xmlns:a16="http://schemas.microsoft.com/office/drawing/2014/main" id="{40B9653E-4546-4947-8F4D-A1A5FF7AC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259990-D040-4A93-9573-D8805257596F}" type="slidenum">
              <a:rPr lang="ru-RU" smtClean="0"/>
              <a:pPr/>
              <a:t>1</a:t>
            </a:fld>
            <a:endParaRPr lang="ru-RU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161309F0-EB2B-B64E-9E89-06992EA4A093}"/>
              </a:ext>
            </a:extLst>
          </p:cNvPr>
          <p:cNvSpPr/>
          <p:nvPr/>
        </p:nvSpPr>
        <p:spPr>
          <a:xfrm>
            <a:off x="7620000" y="6459794"/>
            <a:ext cx="1288026" cy="261681"/>
          </a:xfrm>
          <a:prstGeom prst="rect">
            <a:avLst/>
          </a:prstGeom>
          <a:solidFill>
            <a:srgbClr val="C2C1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1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89409AD1-56A3-FD41-9A1F-6FF7215FC9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9240" y="0"/>
            <a:ext cx="754760" cy="662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8486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 descr="head.png">
            <a:extLst>
              <a:ext uri="{FF2B5EF4-FFF2-40B4-BE49-F238E27FC236}">
                <a16:creationId xmlns:a16="http://schemas.microsoft.com/office/drawing/2014/main" id="{4D7A1AFF-6758-C840-AC0D-AD2973ABC3B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330"/>
            <a:ext cx="9144000" cy="99542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B2677AE-2E40-024F-80A4-2E8961067E25}"/>
              </a:ext>
            </a:extLst>
          </p:cNvPr>
          <p:cNvSpPr txBox="1"/>
          <p:nvPr/>
        </p:nvSpPr>
        <p:spPr>
          <a:xfrm>
            <a:off x="7523999" y="6419000"/>
            <a:ext cx="1476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B0F0"/>
                </a:solidFill>
                <a:latin typeface="PT Sans"/>
              </a:rPr>
              <a:t>online.mirea.ru</a:t>
            </a:r>
            <a:endParaRPr lang="ru-RU" sz="1400" b="1" dirty="0">
              <a:solidFill>
                <a:srgbClr val="00B0F0"/>
              </a:solidFill>
              <a:latin typeface="PT Sans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9344CB2-2321-1643-86C1-7660A0F31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502307" cy="968764"/>
          </a:xfrm>
          <a:prstGeom prst="rect">
            <a:avLst/>
          </a:prstGeom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FD430A8-1087-B648-BC83-27A12FB6D8BA}"/>
              </a:ext>
            </a:extLst>
          </p:cNvPr>
          <p:cNvSpPr/>
          <p:nvPr/>
        </p:nvSpPr>
        <p:spPr>
          <a:xfrm>
            <a:off x="6518787" y="167148"/>
            <a:ext cx="2408903" cy="344129"/>
          </a:xfrm>
          <a:prstGeom prst="rect">
            <a:avLst/>
          </a:prstGeom>
          <a:solidFill>
            <a:srgbClr val="CAC9C9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Номер слайда 5">
            <a:extLst>
              <a:ext uri="{FF2B5EF4-FFF2-40B4-BE49-F238E27FC236}">
                <a16:creationId xmlns:a16="http://schemas.microsoft.com/office/drawing/2014/main" id="{40B9653E-4546-4947-8F4D-A1A5FF7AC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259990-D040-4A93-9573-D8805257596F}" type="slidenum">
              <a:rPr lang="ru-RU" smtClean="0"/>
              <a:pPr/>
              <a:t>2</a:t>
            </a:fld>
            <a:endParaRPr lang="ru-RU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161309F0-EB2B-B64E-9E89-06992EA4A093}"/>
              </a:ext>
            </a:extLst>
          </p:cNvPr>
          <p:cNvSpPr/>
          <p:nvPr/>
        </p:nvSpPr>
        <p:spPr>
          <a:xfrm>
            <a:off x="7620000" y="6459794"/>
            <a:ext cx="1288026" cy="261681"/>
          </a:xfrm>
          <a:prstGeom prst="rect">
            <a:avLst/>
          </a:prstGeom>
          <a:solidFill>
            <a:srgbClr val="C2C1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2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89409AD1-56A3-FD41-9A1F-6FF7215FC9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9240" y="0"/>
            <a:ext cx="754760" cy="662184"/>
          </a:xfrm>
          <a:prstGeom prst="rect">
            <a:avLst/>
          </a:prstGeom>
        </p:spPr>
      </p:pic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A1650597-734D-874D-BB59-2D0F032B12E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8714" y="2162199"/>
            <a:ext cx="8346571" cy="2111645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6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Межсетевые экраны и системы обнаружения вторжений</a:t>
            </a:r>
            <a:endParaRPr lang="ru-RU" dirty="0"/>
          </a:p>
        </p:txBody>
      </p:sp>
      <p:sp>
        <p:nvSpPr>
          <p:cNvPr id="22" name="Подзаголовок 2">
            <a:extLst>
              <a:ext uri="{FF2B5EF4-FFF2-40B4-BE49-F238E27FC236}">
                <a16:creationId xmlns:a16="http://schemas.microsoft.com/office/drawing/2014/main" id="{E3A38E90-03B7-DE47-9122-D1B9DB69627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3000" y="1178878"/>
            <a:ext cx="6858000" cy="67895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Лекция 2</a:t>
            </a:r>
          </a:p>
        </p:txBody>
      </p:sp>
    </p:spTree>
    <p:extLst>
      <p:ext uri="{BB962C8B-B14F-4D97-AF65-F5344CB8AC3E}">
        <p14:creationId xmlns:p14="http://schemas.microsoft.com/office/powerpoint/2010/main" val="3524372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 descr="head.png">
            <a:extLst>
              <a:ext uri="{FF2B5EF4-FFF2-40B4-BE49-F238E27FC236}">
                <a16:creationId xmlns:a16="http://schemas.microsoft.com/office/drawing/2014/main" id="{4D7A1AFF-6758-C840-AC0D-AD2973ABC3B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330"/>
            <a:ext cx="9144000" cy="99542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B2677AE-2E40-024F-80A4-2E8961067E25}"/>
              </a:ext>
            </a:extLst>
          </p:cNvPr>
          <p:cNvSpPr txBox="1"/>
          <p:nvPr/>
        </p:nvSpPr>
        <p:spPr>
          <a:xfrm>
            <a:off x="7523999" y="6419000"/>
            <a:ext cx="1476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B0F0"/>
                </a:solidFill>
                <a:latin typeface="PT Sans"/>
              </a:rPr>
              <a:t>online.mirea.ru</a:t>
            </a:r>
            <a:endParaRPr lang="ru-RU" sz="1400" b="1" dirty="0">
              <a:solidFill>
                <a:srgbClr val="00B0F0"/>
              </a:solidFill>
              <a:latin typeface="PT Sans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9344CB2-2321-1643-86C1-7660A0F31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502307" cy="968764"/>
          </a:xfrm>
          <a:prstGeom prst="rect">
            <a:avLst/>
          </a:prstGeom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FD430A8-1087-B648-BC83-27A12FB6D8BA}"/>
              </a:ext>
            </a:extLst>
          </p:cNvPr>
          <p:cNvSpPr/>
          <p:nvPr/>
        </p:nvSpPr>
        <p:spPr>
          <a:xfrm>
            <a:off x="6518787" y="167148"/>
            <a:ext cx="2408903" cy="344129"/>
          </a:xfrm>
          <a:prstGeom prst="rect">
            <a:avLst/>
          </a:prstGeom>
          <a:solidFill>
            <a:srgbClr val="CAC9C9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Номер слайда 5">
            <a:extLst>
              <a:ext uri="{FF2B5EF4-FFF2-40B4-BE49-F238E27FC236}">
                <a16:creationId xmlns:a16="http://schemas.microsoft.com/office/drawing/2014/main" id="{40B9653E-4546-4947-8F4D-A1A5FF7AC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259990-D040-4A93-9573-D8805257596F}" type="slidenum">
              <a:rPr lang="ru-RU" smtClean="0"/>
              <a:pPr/>
              <a:t>3</a:t>
            </a:fld>
            <a:endParaRPr lang="ru-RU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161309F0-EB2B-B64E-9E89-06992EA4A093}"/>
              </a:ext>
            </a:extLst>
          </p:cNvPr>
          <p:cNvSpPr/>
          <p:nvPr/>
        </p:nvSpPr>
        <p:spPr>
          <a:xfrm>
            <a:off x="7620000" y="6459794"/>
            <a:ext cx="1288026" cy="261681"/>
          </a:xfrm>
          <a:prstGeom prst="rect">
            <a:avLst/>
          </a:prstGeom>
          <a:solidFill>
            <a:srgbClr val="C2C1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7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89409AD1-56A3-FD41-9A1F-6FF7215FC9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9240" y="0"/>
            <a:ext cx="754760" cy="662184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1AC5B14-9FBF-1C4C-B540-EA95B355CFAF}"/>
              </a:ext>
            </a:extLst>
          </p:cNvPr>
          <p:cNvSpPr/>
          <p:nvPr/>
        </p:nvSpPr>
        <p:spPr>
          <a:xfrm>
            <a:off x="3081034" y="1138504"/>
            <a:ext cx="2582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spcBef>
                <a:spcPts val="200"/>
              </a:spcBef>
            </a:pPr>
            <a:r>
              <a:rPr lang="ru-RU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Межсетевой экран</a:t>
            </a:r>
            <a:endParaRPr lang="en-GB" sz="1800" b="1" dirty="0">
              <a:solidFill>
                <a:srgbClr val="2E74B5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8168DCE8-7858-D049-B69C-E64367076408}"/>
              </a:ext>
            </a:extLst>
          </p:cNvPr>
          <p:cNvSpPr/>
          <p:nvPr/>
        </p:nvSpPr>
        <p:spPr>
          <a:xfrm>
            <a:off x="614532" y="1588361"/>
            <a:ext cx="791493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/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Межсетевой экран (МЭ, он же брандмауэр или 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firewall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— программный или программно-аппаратный комплекс, предназначенный для фильтрации исходящего и входящего сетевого трафика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2" name="Rectangle 2">
            <a:extLst>
              <a:ext uri="{FF2B5EF4-FFF2-40B4-BE49-F238E27FC236}">
                <a16:creationId xmlns:a16="http://schemas.microsoft.com/office/drawing/2014/main" id="{054608E2-806A-104C-BDAD-DBDC389EA112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256157" y="5745915"/>
            <a:ext cx="594006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2" name="Рисунок 1" descr="Принцип работы межсетевого экрана">
            <a:extLst>
              <a:ext uri="{FF2B5EF4-FFF2-40B4-BE49-F238E27FC236}">
                <a16:creationId xmlns:a16="http://schemas.microsoft.com/office/drawing/2014/main" id="{18C8718C-B5D4-D4E9-28BE-EB4047B5C85B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54"/>
          <a:stretch/>
        </p:blipFill>
        <p:spPr bwMode="auto">
          <a:xfrm>
            <a:off x="1081151" y="2582986"/>
            <a:ext cx="7180978" cy="380733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3248630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 descr="head.png">
            <a:extLst>
              <a:ext uri="{FF2B5EF4-FFF2-40B4-BE49-F238E27FC236}">
                <a16:creationId xmlns:a16="http://schemas.microsoft.com/office/drawing/2014/main" id="{4D7A1AFF-6758-C840-AC0D-AD2973ABC3B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330"/>
            <a:ext cx="9144000" cy="99542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B2677AE-2E40-024F-80A4-2E8961067E25}"/>
              </a:ext>
            </a:extLst>
          </p:cNvPr>
          <p:cNvSpPr txBox="1"/>
          <p:nvPr/>
        </p:nvSpPr>
        <p:spPr>
          <a:xfrm>
            <a:off x="7523999" y="6419000"/>
            <a:ext cx="1476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B0F0"/>
                </a:solidFill>
                <a:latin typeface="PT Sans"/>
              </a:rPr>
              <a:t>online.mirea.ru</a:t>
            </a:r>
            <a:endParaRPr lang="ru-RU" sz="1400" b="1" dirty="0">
              <a:solidFill>
                <a:srgbClr val="00B0F0"/>
              </a:solidFill>
              <a:latin typeface="PT Sans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9344CB2-2321-1643-86C1-7660A0F31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502307" cy="968764"/>
          </a:xfrm>
          <a:prstGeom prst="rect">
            <a:avLst/>
          </a:prstGeom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FD430A8-1087-B648-BC83-27A12FB6D8BA}"/>
              </a:ext>
            </a:extLst>
          </p:cNvPr>
          <p:cNvSpPr/>
          <p:nvPr/>
        </p:nvSpPr>
        <p:spPr>
          <a:xfrm>
            <a:off x="6518787" y="167148"/>
            <a:ext cx="2408903" cy="344129"/>
          </a:xfrm>
          <a:prstGeom prst="rect">
            <a:avLst/>
          </a:prstGeom>
          <a:solidFill>
            <a:srgbClr val="CAC9C9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Номер слайда 5">
            <a:extLst>
              <a:ext uri="{FF2B5EF4-FFF2-40B4-BE49-F238E27FC236}">
                <a16:creationId xmlns:a16="http://schemas.microsoft.com/office/drawing/2014/main" id="{40B9653E-4546-4947-8F4D-A1A5FF7AC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259990-D040-4A93-9573-D8805257596F}" type="slidenum">
              <a:rPr lang="ru-RU" smtClean="0"/>
              <a:pPr/>
              <a:t>4</a:t>
            </a:fld>
            <a:endParaRPr lang="ru-RU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161309F0-EB2B-B64E-9E89-06992EA4A093}"/>
              </a:ext>
            </a:extLst>
          </p:cNvPr>
          <p:cNvSpPr/>
          <p:nvPr/>
        </p:nvSpPr>
        <p:spPr>
          <a:xfrm>
            <a:off x="7620000" y="6459794"/>
            <a:ext cx="1288026" cy="261681"/>
          </a:xfrm>
          <a:prstGeom prst="rect">
            <a:avLst/>
          </a:prstGeom>
          <a:solidFill>
            <a:srgbClr val="C2C1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7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89409AD1-56A3-FD41-9A1F-6FF7215FC9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9240" y="0"/>
            <a:ext cx="754760" cy="662184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1AC5B14-9FBF-1C4C-B540-EA95B355CFAF}"/>
              </a:ext>
            </a:extLst>
          </p:cNvPr>
          <p:cNvSpPr/>
          <p:nvPr/>
        </p:nvSpPr>
        <p:spPr>
          <a:xfrm>
            <a:off x="1021816" y="1138504"/>
            <a:ext cx="6701002" cy="3853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15000"/>
              </a:lnSpc>
            </a:pPr>
            <a:r>
              <a:rPr lang="ru-RU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Требования к сертифицированным межсетевым экранам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2" name="Rectangle 2">
            <a:extLst>
              <a:ext uri="{FF2B5EF4-FFF2-40B4-BE49-F238E27FC236}">
                <a16:creationId xmlns:a16="http://schemas.microsoft.com/office/drawing/2014/main" id="{054608E2-806A-104C-BDAD-DBDC389EA112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256157" y="5745915"/>
            <a:ext cx="594006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0049CE2-5A37-8EB4-13D1-D1641164846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525" y="1546809"/>
            <a:ext cx="8485587" cy="3186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170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 descr="head.png">
            <a:extLst>
              <a:ext uri="{FF2B5EF4-FFF2-40B4-BE49-F238E27FC236}">
                <a16:creationId xmlns:a16="http://schemas.microsoft.com/office/drawing/2014/main" id="{4D7A1AFF-6758-C840-AC0D-AD2973ABC3B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330"/>
            <a:ext cx="9144000" cy="99542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B2677AE-2E40-024F-80A4-2E8961067E25}"/>
              </a:ext>
            </a:extLst>
          </p:cNvPr>
          <p:cNvSpPr txBox="1"/>
          <p:nvPr/>
        </p:nvSpPr>
        <p:spPr>
          <a:xfrm>
            <a:off x="7523999" y="6419000"/>
            <a:ext cx="1476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B0F0"/>
                </a:solidFill>
                <a:latin typeface="PT Sans"/>
              </a:rPr>
              <a:t>online.mirea.ru</a:t>
            </a:r>
            <a:endParaRPr lang="ru-RU" sz="1400" b="1" dirty="0">
              <a:solidFill>
                <a:srgbClr val="00B0F0"/>
              </a:solidFill>
              <a:latin typeface="PT Sans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9344CB2-2321-1643-86C1-7660A0F31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502307" cy="968764"/>
          </a:xfrm>
          <a:prstGeom prst="rect">
            <a:avLst/>
          </a:prstGeom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FD430A8-1087-B648-BC83-27A12FB6D8BA}"/>
              </a:ext>
            </a:extLst>
          </p:cNvPr>
          <p:cNvSpPr/>
          <p:nvPr/>
        </p:nvSpPr>
        <p:spPr>
          <a:xfrm>
            <a:off x="6518787" y="167148"/>
            <a:ext cx="2408903" cy="344129"/>
          </a:xfrm>
          <a:prstGeom prst="rect">
            <a:avLst/>
          </a:prstGeom>
          <a:solidFill>
            <a:srgbClr val="CAC9C9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Номер слайда 5">
            <a:extLst>
              <a:ext uri="{FF2B5EF4-FFF2-40B4-BE49-F238E27FC236}">
                <a16:creationId xmlns:a16="http://schemas.microsoft.com/office/drawing/2014/main" id="{40B9653E-4546-4947-8F4D-A1A5FF7AC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259990-D040-4A93-9573-D8805257596F}" type="slidenum">
              <a:rPr lang="ru-RU" smtClean="0"/>
              <a:pPr/>
              <a:t>5</a:t>
            </a:fld>
            <a:endParaRPr lang="ru-RU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161309F0-EB2B-B64E-9E89-06992EA4A093}"/>
              </a:ext>
            </a:extLst>
          </p:cNvPr>
          <p:cNvSpPr/>
          <p:nvPr/>
        </p:nvSpPr>
        <p:spPr>
          <a:xfrm>
            <a:off x="7620000" y="6459794"/>
            <a:ext cx="1288026" cy="261681"/>
          </a:xfrm>
          <a:prstGeom prst="rect">
            <a:avLst/>
          </a:prstGeom>
          <a:solidFill>
            <a:srgbClr val="C2C1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7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89409AD1-56A3-FD41-9A1F-6FF7215FC9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9240" y="0"/>
            <a:ext cx="754760" cy="662184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1AC5B14-9FBF-1C4C-B540-EA95B355CFAF}"/>
              </a:ext>
            </a:extLst>
          </p:cNvPr>
          <p:cNvSpPr/>
          <p:nvPr/>
        </p:nvSpPr>
        <p:spPr>
          <a:xfrm>
            <a:off x="810527" y="1010288"/>
            <a:ext cx="6676123" cy="3853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15000"/>
              </a:lnSpc>
            </a:pPr>
            <a:r>
              <a:rPr lang="ru-RU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Анализ рынка сертифицированных межсетевых экранов 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2" name="Rectangle 2">
            <a:extLst>
              <a:ext uri="{FF2B5EF4-FFF2-40B4-BE49-F238E27FC236}">
                <a16:creationId xmlns:a16="http://schemas.microsoft.com/office/drawing/2014/main" id="{054608E2-806A-104C-BDAD-DBDC389EA112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256157" y="5745915"/>
            <a:ext cx="594006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6BFD88C-240A-7703-813E-271AC591B9F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741" y="1423845"/>
            <a:ext cx="3458386" cy="5268251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BBE1C35-DE9A-0FFE-0FAF-025C8233C28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4748" y="1395650"/>
            <a:ext cx="3667252" cy="5268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907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 descr="head.png">
            <a:extLst>
              <a:ext uri="{FF2B5EF4-FFF2-40B4-BE49-F238E27FC236}">
                <a16:creationId xmlns:a16="http://schemas.microsoft.com/office/drawing/2014/main" id="{4D7A1AFF-6758-C840-AC0D-AD2973ABC3B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330"/>
            <a:ext cx="9144000" cy="99542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B2677AE-2E40-024F-80A4-2E8961067E25}"/>
              </a:ext>
            </a:extLst>
          </p:cNvPr>
          <p:cNvSpPr txBox="1"/>
          <p:nvPr/>
        </p:nvSpPr>
        <p:spPr>
          <a:xfrm>
            <a:off x="7523999" y="6419000"/>
            <a:ext cx="1476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B0F0"/>
                </a:solidFill>
                <a:latin typeface="PT Sans"/>
              </a:rPr>
              <a:t>online.mirea.ru</a:t>
            </a:r>
            <a:endParaRPr lang="ru-RU" sz="1400" b="1" dirty="0">
              <a:solidFill>
                <a:srgbClr val="00B0F0"/>
              </a:solidFill>
              <a:latin typeface="PT Sans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9344CB2-2321-1643-86C1-7660A0F31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502307" cy="968764"/>
          </a:xfrm>
          <a:prstGeom prst="rect">
            <a:avLst/>
          </a:prstGeom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FD430A8-1087-B648-BC83-27A12FB6D8BA}"/>
              </a:ext>
            </a:extLst>
          </p:cNvPr>
          <p:cNvSpPr/>
          <p:nvPr/>
        </p:nvSpPr>
        <p:spPr>
          <a:xfrm>
            <a:off x="6518787" y="167148"/>
            <a:ext cx="2408903" cy="344129"/>
          </a:xfrm>
          <a:prstGeom prst="rect">
            <a:avLst/>
          </a:prstGeom>
          <a:solidFill>
            <a:srgbClr val="CAC9C9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Номер слайда 5">
            <a:extLst>
              <a:ext uri="{FF2B5EF4-FFF2-40B4-BE49-F238E27FC236}">
                <a16:creationId xmlns:a16="http://schemas.microsoft.com/office/drawing/2014/main" id="{40B9653E-4546-4947-8F4D-A1A5FF7AC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259990-D040-4A93-9573-D8805257596F}" type="slidenum">
              <a:rPr lang="ru-RU" smtClean="0"/>
              <a:pPr/>
              <a:t>6</a:t>
            </a:fld>
            <a:endParaRPr lang="ru-RU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161309F0-EB2B-B64E-9E89-06992EA4A093}"/>
              </a:ext>
            </a:extLst>
          </p:cNvPr>
          <p:cNvSpPr/>
          <p:nvPr/>
        </p:nvSpPr>
        <p:spPr>
          <a:xfrm>
            <a:off x="7620000" y="6459794"/>
            <a:ext cx="1288026" cy="261681"/>
          </a:xfrm>
          <a:prstGeom prst="rect">
            <a:avLst/>
          </a:prstGeom>
          <a:solidFill>
            <a:srgbClr val="C2C1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7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89409AD1-56A3-FD41-9A1F-6FF7215FC9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9240" y="0"/>
            <a:ext cx="754760" cy="662184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1AC5B14-9FBF-1C4C-B540-EA95B355CFAF}"/>
              </a:ext>
            </a:extLst>
          </p:cNvPr>
          <p:cNvSpPr/>
          <p:nvPr/>
        </p:nvSpPr>
        <p:spPr>
          <a:xfrm>
            <a:off x="2260521" y="1138504"/>
            <a:ext cx="4223592" cy="39068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ctr">
              <a:lnSpc>
                <a:spcPct val="115000"/>
              </a:lnSpc>
              <a:spcBef>
                <a:spcPts val="200"/>
              </a:spcBef>
            </a:pPr>
            <a:r>
              <a:rPr lang="ru-RU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Системы обнаружения вторжений</a:t>
            </a:r>
            <a:endParaRPr lang="en-GB" sz="1800" b="1" dirty="0">
              <a:solidFill>
                <a:srgbClr val="2E74B5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2">
            <a:extLst>
              <a:ext uri="{FF2B5EF4-FFF2-40B4-BE49-F238E27FC236}">
                <a16:creationId xmlns:a16="http://schemas.microsoft.com/office/drawing/2014/main" id="{054608E2-806A-104C-BDAD-DBDC389EA112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256157" y="5745915"/>
            <a:ext cx="594006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622CA0-126C-DD48-856E-69AE489837C1}"/>
              </a:ext>
            </a:extLst>
          </p:cNvPr>
          <p:cNvSpPr txBox="1"/>
          <p:nvPr/>
        </p:nvSpPr>
        <p:spPr>
          <a:xfrm>
            <a:off x="919745" y="1605164"/>
            <a:ext cx="7720672" cy="1518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15000"/>
              </a:lnSpc>
              <a:spcBef>
                <a:spcPts val="200"/>
              </a:spcBef>
            </a:pPr>
            <a:r>
              <a:rPr lang="ru-RU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IDS-система</a:t>
            </a:r>
            <a:endParaRPr lang="en-GB" sz="1800" b="1" dirty="0">
              <a:solidFill>
                <a:srgbClr val="2E74B5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IDS (</a:t>
            </a:r>
            <a:r>
              <a:rPr lang="ru-RU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Intrusion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Detection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System, система обнаружения вторжений) — программная или аппаратно-программная система сетевой безопасности, предназначенная для выявления сетевых атак и аномалий. Инструменты IDS могут использоваться отдельно или же в составе межсетевых экранов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ACFF26-CFCC-5200-1CE4-95851B19C3D0}"/>
              </a:ext>
            </a:extLst>
          </p:cNvPr>
          <p:cNvSpPr txBox="1"/>
          <p:nvPr/>
        </p:nvSpPr>
        <p:spPr>
          <a:xfrm>
            <a:off x="810300" y="3352376"/>
            <a:ext cx="8014918" cy="1978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15000"/>
              </a:lnSpc>
              <a:spcBef>
                <a:spcPts val="200"/>
              </a:spcBef>
            </a:pPr>
            <a:r>
              <a:rPr lang="ru-RU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IPS-система</a:t>
            </a:r>
            <a:endParaRPr lang="en-GB" sz="1800" b="1" dirty="0">
              <a:solidFill>
                <a:srgbClr val="2E74B5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15000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IPS (</a:t>
            </a:r>
            <a:r>
              <a:rPr lang="ru-RU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Intrusion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Prevention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System, система предотвращения вторжений) — программная или аппаратная система сетевой безопасности, предназначенная для обнаружения несанкционированных действий и атак, а также автоматизированного противодействия им. Фактически IPS выступает вторым рубежом защиты, располагающимся за </a:t>
            </a:r>
            <a:r>
              <a:rPr lang="ru-RU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фаерволом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или входящим в его состав.</a:t>
            </a:r>
            <a:endParaRPr lang="en-GB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0745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 descr="head.png">
            <a:extLst>
              <a:ext uri="{FF2B5EF4-FFF2-40B4-BE49-F238E27FC236}">
                <a16:creationId xmlns:a16="http://schemas.microsoft.com/office/drawing/2014/main" id="{4D7A1AFF-6758-C840-AC0D-AD2973ABC3B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330"/>
            <a:ext cx="9144000" cy="99542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B2677AE-2E40-024F-80A4-2E8961067E25}"/>
              </a:ext>
            </a:extLst>
          </p:cNvPr>
          <p:cNvSpPr txBox="1"/>
          <p:nvPr/>
        </p:nvSpPr>
        <p:spPr>
          <a:xfrm>
            <a:off x="7523999" y="6419000"/>
            <a:ext cx="1476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B0F0"/>
                </a:solidFill>
                <a:latin typeface="PT Sans"/>
              </a:rPr>
              <a:t>online.mirea.ru</a:t>
            </a:r>
            <a:endParaRPr lang="ru-RU" sz="1400" b="1" dirty="0">
              <a:solidFill>
                <a:srgbClr val="00B0F0"/>
              </a:solidFill>
              <a:latin typeface="PT Sans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9344CB2-2321-1643-86C1-7660A0F31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502307" cy="968764"/>
          </a:xfrm>
          <a:prstGeom prst="rect">
            <a:avLst/>
          </a:prstGeom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FD430A8-1087-B648-BC83-27A12FB6D8BA}"/>
              </a:ext>
            </a:extLst>
          </p:cNvPr>
          <p:cNvSpPr/>
          <p:nvPr/>
        </p:nvSpPr>
        <p:spPr>
          <a:xfrm>
            <a:off x="6518787" y="167148"/>
            <a:ext cx="2408903" cy="344129"/>
          </a:xfrm>
          <a:prstGeom prst="rect">
            <a:avLst/>
          </a:prstGeom>
          <a:solidFill>
            <a:srgbClr val="CAC9C9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Номер слайда 5">
            <a:extLst>
              <a:ext uri="{FF2B5EF4-FFF2-40B4-BE49-F238E27FC236}">
                <a16:creationId xmlns:a16="http://schemas.microsoft.com/office/drawing/2014/main" id="{40B9653E-4546-4947-8F4D-A1A5FF7AC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259990-D040-4A93-9573-D8805257596F}" type="slidenum">
              <a:rPr lang="ru-RU" smtClean="0"/>
              <a:pPr/>
              <a:t>7</a:t>
            </a:fld>
            <a:endParaRPr lang="ru-RU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161309F0-EB2B-B64E-9E89-06992EA4A093}"/>
              </a:ext>
            </a:extLst>
          </p:cNvPr>
          <p:cNvSpPr/>
          <p:nvPr/>
        </p:nvSpPr>
        <p:spPr>
          <a:xfrm>
            <a:off x="7620000" y="6459794"/>
            <a:ext cx="1288026" cy="261681"/>
          </a:xfrm>
          <a:prstGeom prst="rect">
            <a:avLst/>
          </a:prstGeom>
          <a:solidFill>
            <a:srgbClr val="C2C1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7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89409AD1-56A3-FD41-9A1F-6FF7215FC9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9240" y="0"/>
            <a:ext cx="754760" cy="662184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1AC5B14-9FBF-1C4C-B540-EA95B355CFAF}"/>
              </a:ext>
            </a:extLst>
          </p:cNvPr>
          <p:cNvSpPr/>
          <p:nvPr/>
        </p:nvSpPr>
        <p:spPr>
          <a:xfrm>
            <a:off x="2065435" y="1138504"/>
            <a:ext cx="4613764" cy="39068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15000"/>
              </a:lnSpc>
              <a:spcBef>
                <a:spcPts val="200"/>
              </a:spcBef>
            </a:pPr>
            <a:r>
              <a:rPr lang="ru-RU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Отличия между 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IDS</a:t>
            </a:r>
            <a:r>
              <a:rPr lang="ru-RU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 и 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IPS</a:t>
            </a:r>
            <a:r>
              <a:rPr lang="ru-RU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-системами</a:t>
            </a:r>
            <a:endParaRPr lang="en-GB" sz="1800" b="1" dirty="0">
              <a:solidFill>
                <a:srgbClr val="2E74B5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2">
            <a:extLst>
              <a:ext uri="{FF2B5EF4-FFF2-40B4-BE49-F238E27FC236}">
                <a16:creationId xmlns:a16="http://schemas.microsoft.com/office/drawing/2014/main" id="{054608E2-806A-104C-BDAD-DBDC389EA112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256157" y="5745915"/>
            <a:ext cx="594006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2" name="Рисунок 1" descr="Различия рабочих схем IDS и IPS">
            <a:extLst>
              <a:ext uri="{FF2B5EF4-FFF2-40B4-BE49-F238E27FC236}">
                <a16:creationId xmlns:a16="http://schemas.microsoft.com/office/drawing/2014/main" id="{7DB29DB1-1EEF-5A74-7AD9-6AEE6C503F40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86"/>
          <a:stretch/>
        </p:blipFill>
        <p:spPr bwMode="auto">
          <a:xfrm>
            <a:off x="813222" y="1685599"/>
            <a:ext cx="8011996" cy="4259932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8945107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 descr="head.png">
            <a:extLst>
              <a:ext uri="{FF2B5EF4-FFF2-40B4-BE49-F238E27FC236}">
                <a16:creationId xmlns:a16="http://schemas.microsoft.com/office/drawing/2014/main" id="{4D7A1AFF-6758-C840-AC0D-AD2973ABC3B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330"/>
            <a:ext cx="9144000" cy="99542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B2677AE-2E40-024F-80A4-2E8961067E25}"/>
              </a:ext>
            </a:extLst>
          </p:cNvPr>
          <p:cNvSpPr txBox="1"/>
          <p:nvPr/>
        </p:nvSpPr>
        <p:spPr>
          <a:xfrm>
            <a:off x="7523999" y="6419000"/>
            <a:ext cx="1476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B0F0"/>
                </a:solidFill>
                <a:latin typeface="PT Sans"/>
              </a:rPr>
              <a:t>online.mirea.ru</a:t>
            </a:r>
            <a:endParaRPr lang="ru-RU" sz="1400" b="1" dirty="0">
              <a:solidFill>
                <a:srgbClr val="00B0F0"/>
              </a:solidFill>
              <a:latin typeface="PT Sans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9344CB2-2321-1643-86C1-7660A0F31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502307" cy="968764"/>
          </a:xfrm>
          <a:prstGeom prst="rect">
            <a:avLst/>
          </a:prstGeom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FD430A8-1087-B648-BC83-27A12FB6D8BA}"/>
              </a:ext>
            </a:extLst>
          </p:cNvPr>
          <p:cNvSpPr/>
          <p:nvPr/>
        </p:nvSpPr>
        <p:spPr>
          <a:xfrm>
            <a:off x="6518787" y="167148"/>
            <a:ext cx="2408903" cy="344129"/>
          </a:xfrm>
          <a:prstGeom prst="rect">
            <a:avLst/>
          </a:prstGeom>
          <a:solidFill>
            <a:srgbClr val="CAC9C9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Номер слайда 5">
            <a:extLst>
              <a:ext uri="{FF2B5EF4-FFF2-40B4-BE49-F238E27FC236}">
                <a16:creationId xmlns:a16="http://schemas.microsoft.com/office/drawing/2014/main" id="{40B9653E-4546-4947-8F4D-A1A5FF7AC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259990-D040-4A93-9573-D8805257596F}" type="slidenum">
              <a:rPr lang="ru-RU" smtClean="0"/>
              <a:pPr/>
              <a:t>8</a:t>
            </a:fld>
            <a:endParaRPr lang="ru-RU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161309F0-EB2B-B64E-9E89-06992EA4A093}"/>
              </a:ext>
            </a:extLst>
          </p:cNvPr>
          <p:cNvSpPr/>
          <p:nvPr/>
        </p:nvSpPr>
        <p:spPr>
          <a:xfrm>
            <a:off x="7620000" y="6459794"/>
            <a:ext cx="1288026" cy="261681"/>
          </a:xfrm>
          <a:prstGeom prst="rect">
            <a:avLst/>
          </a:prstGeom>
          <a:solidFill>
            <a:srgbClr val="C2C1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7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89409AD1-56A3-FD41-9A1F-6FF7215FC9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9240" y="0"/>
            <a:ext cx="754760" cy="662184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1AC5B14-9FBF-1C4C-B540-EA95B355CFAF}"/>
              </a:ext>
            </a:extLst>
          </p:cNvPr>
          <p:cNvSpPr/>
          <p:nvPr/>
        </p:nvSpPr>
        <p:spPr>
          <a:xfrm>
            <a:off x="476860" y="1138504"/>
            <a:ext cx="7790915" cy="3853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15000"/>
              </a:lnSpc>
            </a:pPr>
            <a:r>
              <a:rPr lang="ru-RU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Анализ рынка сертифицированных систем обнаружения вторжений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2" name="Rectangle 2">
            <a:extLst>
              <a:ext uri="{FF2B5EF4-FFF2-40B4-BE49-F238E27FC236}">
                <a16:creationId xmlns:a16="http://schemas.microsoft.com/office/drawing/2014/main" id="{054608E2-806A-104C-BDAD-DBDC389EA112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256157" y="5745915"/>
            <a:ext cx="594006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319D5DE-FB6C-A255-E038-723BF0ED44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4112" y="1569050"/>
            <a:ext cx="3161162" cy="4969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30090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568</TotalTime>
  <Words>220</Words>
  <Application>Microsoft Office PowerPoint</Application>
  <PresentationFormat>Экран (4:3)</PresentationFormat>
  <Paragraphs>39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PT Sans</vt:lpstr>
      <vt:lpstr>Times New Roman</vt:lpstr>
      <vt:lpstr>Тема Office</vt:lpstr>
      <vt:lpstr>Презентация PowerPoint</vt:lpstr>
      <vt:lpstr>Межсетевые экраны и системы обнаружения вторжений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Microsoft Office User</dc:creator>
  <cp:lastModifiedBy>1</cp:lastModifiedBy>
  <cp:revision>17</cp:revision>
  <dcterms:created xsi:type="dcterms:W3CDTF">2020-09-01T07:45:21Z</dcterms:created>
  <dcterms:modified xsi:type="dcterms:W3CDTF">2025-02-15T08:34:47Z</dcterms:modified>
</cp:coreProperties>
</file>