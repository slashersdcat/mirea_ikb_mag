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42"/>
    <p:restoredTop sz="96405"/>
  </p:normalViewPr>
  <p:slideViewPr>
    <p:cSldViewPr snapToGrid="0" snapToObjects="1">
      <p:cViewPr varScale="1">
        <p:scale>
          <a:sx n="113" d="100"/>
          <a:sy n="113" d="100"/>
        </p:scale>
        <p:origin x="116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909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72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57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09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269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851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03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93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26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84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74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709C4-275D-4945-9F69-EE5B6789626F}" type="datetimeFigureOut">
              <a:rPr lang="ru-RU" smtClean="0"/>
              <a:t>15.02.2025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535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fstec.ru/en/component/attachments/download/2438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42F06E3-0D9F-EA45-9280-0CBFA80D44E3}"/>
              </a:ext>
            </a:extLst>
          </p:cNvPr>
          <p:cNvSpPr txBox="1">
            <a:spLocks/>
          </p:cNvSpPr>
          <p:nvPr/>
        </p:nvSpPr>
        <p:spPr>
          <a:xfrm>
            <a:off x="628650" y="1070641"/>
            <a:ext cx="7886700" cy="28387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 мониторинга и управления инцидентами информационной безопасности</a:t>
            </a:r>
            <a:r>
              <a:rPr lang="ru-RU" sz="6000" dirty="0">
                <a:effectLst/>
              </a:rPr>
              <a:t> </a:t>
            </a:r>
            <a:endParaRPr lang="ru-RU" sz="6000" dirty="0"/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B445934B-1834-C044-94F7-A43917EA8140}"/>
              </a:ext>
            </a:extLst>
          </p:cNvPr>
          <p:cNvSpPr txBox="1">
            <a:spLocks/>
          </p:cNvSpPr>
          <p:nvPr/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к.т.н. </a:t>
            </a:r>
            <a:r>
              <a:rPr lang="ru-RU" dirty="0" err="1"/>
              <a:t>Урасков</a:t>
            </a:r>
            <a:r>
              <a:rPr lang="ru-RU" dirty="0"/>
              <a:t> Юрий Леонидович</a:t>
            </a:r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4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A1650597-734D-874D-BB59-2D0F032B12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714" y="2162199"/>
            <a:ext cx="8346571" cy="211164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Термины и определения. Общие положения по мониторингу информационной безопасности</a:t>
            </a:r>
            <a:br>
              <a:rPr lang="ru-RU" dirty="0"/>
            </a:br>
            <a:endParaRPr lang="ru-RU" dirty="0"/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E3A38E90-03B7-DE47-9122-D1B9DB6962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67895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Лекция 1</a:t>
            </a:r>
          </a:p>
        </p:txBody>
      </p:sp>
    </p:spTree>
    <p:extLst>
      <p:ext uri="{BB962C8B-B14F-4D97-AF65-F5344CB8AC3E}">
        <p14:creationId xmlns:p14="http://schemas.microsoft.com/office/powerpoint/2010/main" val="3524372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3646316" y="1138504"/>
            <a:ext cx="14520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spcBef>
                <a:spcPts val="200"/>
              </a:spcBef>
            </a:pPr>
            <a:r>
              <a:rPr lang="ru-RU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ГОСТы</a:t>
            </a:r>
            <a:endParaRPr lang="ru-RU" sz="1600" b="1" dirty="0">
              <a:solidFill>
                <a:srgbClr val="1F4D78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168DCE8-7858-D049-B69C-E64367076408}"/>
              </a:ext>
            </a:extLst>
          </p:cNvPr>
          <p:cNvSpPr/>
          <p:nvPr/>
        </p:nvSpPr>
        <p:spPr>
          <a:xfrm>
            <a:off x="600414" y="1720840"/>
            <a:ext cx="791493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роект ГОСТ Р Защита </a:t>
            </a:r>
            <a:r>
              <a:rPr lang="ru-RU" dirty="0">
                <a:latin typeface="Times New Roman" panose="02020603050405020304" pitchFamily="18" charset="0"/>
              </a:rPr>
              <a:t>информации. Мониторинг информационной безопасности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https://fstec.ru/en/component/attachments/download/2438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ГОСТ Р 50922-2006 Защита информации. Основные термины и определения.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ГОСТ Р 53114-2008 Защита информации. Обеспечение информационной безопасности в организации. Основные термины и определения.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ГОСТ Р Защита информации. Регистрация событий безопасности. Требования к регистрируемой информации.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863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2210411" y="1138504"/>
            <a:ext cx="43238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spcBef>
                <a:spcPts val="200"/>
              </a:spcBef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понятия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определения.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168DCE8-7858-D049-B69C-E64367076408}"/>
              </a:ext>
            </a:extLst>
          </p:cNvPr>
          <p:cNvSpPr/>
          <p:nvPr/>
        </p:nvSpPr>
        <p:spPr>
          <a:xfrm>
            <a:off x="600414" y="1720840"/>
            <a:ext cx="7914935" cy="4191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Мониторинг информационной безопасности</a:t>
            </a:r>
          </a:p>
          <a:p>
            <a:pPr indent="450215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Событие безопасности (информационной)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Угроза (безопасности информации)</a:t>
            </a:r>
          </a:p>
          <a:p>
            <a:pPr indent="450215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Уязвимость информационной (автоматизированной) системы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Фильтрация событий безопасности</a:t>
            </a:r>
          </a:p>
          <a:p>
            <a:pPr indent="450215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Агрегация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Информационная (автоматизированная) система</a:t>
            </a:r>
          </a:p>
          <a:p>
            <a:pPr indent="450215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Корреляция событий безопасности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Меры обеспечения информационной безопасности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170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590178" y="1166800"/>
            <a:ext cx="310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spcBef>
                <a:spcPts val="200"/>
              </a:spcBef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Объекты мониторинга: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168DCE8-7858-D049-B69C-E64367076408}"/>
              </a:ext>
            </a:extLst>
          </p:cNvPr>
          <p:cNvSpPr/>
          <p:nvPr/>
        </p:nvSpPr>
        <p:spPr>
          <a:xfrm>
            <a:off x="600414" y="1720840"/>
            <a:ext cx="791493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автоматизированные рабочие места; </a:t>
            </a:r>
          </a:p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серверное оборудование; </a:t>
            </a:r>
          </a:p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телекоммуникационное оборудование; </a:t>
            </a:r>
          </a:p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технологическое и (или) производственное оборудование (исполнительные устройства); </a:t>
            </a:r>
          </a:p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средства защиты информации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346BC6B-B311-B148-AE3C-FA25030AFA53}"/>
              </a:ext>
            </a:extLst>
          </p:cNvPr>
          <p:cNvSpPr/>
          <p:nvPr/>
        </p:nvSpPr>
        <p:spPr>
          <a:xfrm>
            <a:off x="628650" y="3819445"/>
            <a:ext cx="2987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spcBef>
                <a:spcPts val="200"/>
              </a:spcBef>
            </a:pPr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ровни мониторинга: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BEE423C-6645-0540-AAF8-0587F9D77640}"/>
              </a:ext>
            </a:extLst>
          </p:cNvPr>
          <p:cNvSpPr/>
          <p:nvPr/>
        </p:nvSpPr>
        <p:spPr>
          <a:xfrm>
            <a:off x="628650" y="4193999"/>
            <a:ext cx="79149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уровень источников данных; </a:t>
            </a:r>
          </a:p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уровень сбора данных; </a:t>
            </a:r>
          </a:p>
          <a:p>
            <a:pPr indent="450215"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уровень хранения и обработки данных; 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уровень представления информации мониторинга потребителям</a:t>
            </a:r>
            <a:r>
              <a:rPr lang="ru-RU" sz="2400" dirty="0">
                <a:effectLst/>
              </a:rPr>
              <a:t>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907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2974274" y="1138504"/>
            <a:ext cx="2796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Задачи мониторинга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168DCE8-7858-D049-B69C-E64367076408}"/>
              </a:ext>
            </a:extLst>
          </p:cNvPr>
          <p:cNvSpPr/>
          <p:nvPr/>
        </p:nvSpPr>
        <p:spPr>
          <a:xfrm>
            <a:off x="628650" y="2115006"/>
            <a:ext cx="791493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сбор данных о событиях безопасности от различных источников в информационной (автоматизированной) системе;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нормализация, фильтрация и агрегация данных о событиях безопасности;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корреляция событий безопасности с целью выявления нарушений безопасности информации;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сопоставление событий безопасности с потоками данных об угрозах, содержащие индикаторы компрометации;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контроль, учет и статистический анализ действий пользователей и администраторов информационной (автоматизированной) системы;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сопоставление результатов регистрации событий безопасности с результатами анализа уязвимостей;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выявление нарушений безопасности информации в информационной (автоматизированной) системе;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информирование ответственных лиц о выявленных нарушениях безопасности информации. 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22CA0-126C-DD48-856E-69AE489837C1}"/>
              </a:ext>
            </a:extLst>
          </p:cNvPr>
          <p:cNvSpPr txBox="1"/>
          <p:nvPr/>
        </p:nvSpPr>
        <p:spPr>
          <a:xfrm>
            <a:off x="919745" y="1605164"/>
            <a:ext cx="7720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части контроля за событиями безопасности и действиями пользователей в информационной (автоматизированной) системе: 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745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168DCE8-7858-D049-B69C-E64367076408}"/>
              </a:ext>
            </a:extLst>
          </p:cNvPr>
          <p:cNvSpPr/>
          <p:nvPr/>
        </p:nvSpPr>
        <p:spPr>
          <a:xfrm>
            <a:off x="628650" y="2088502"/>
            <a:ext cx="791493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выявление (поиск) уязвимостей в информационной (автоматизированной) системе;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разработка по результатам выявления (поиска) уязвимостей отчетов с описанием выявленных уязвимостей и рекомендациями по их устранению;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контроль установки обновлений программного обеспечения, включая программное обеспечение средств защиты информации;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контроль состава технических средств, программного обеспечения и средств защиты информации, применяемых в информационной (автоматизированной) системе (инвентаризация);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контроль соответствия настроек программного обеспечения и средств защиты информации установленным требованиям безопасности (политикам безопасности);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контроль потоков информации;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информирование ответственных лиц о результатах поиска уязвимостей, контроля установки обновлений программного обеспечения, контроля состава технических средств, программного обеспечения и средств защиты информации. </a:t>
            </a:r>
          </a:p>
        </p:txBody>
      </p:sp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2974274" y="1138504"/>
            <a:ext cx="2796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Задачи мониторинга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22CA0-126C-DD48-856E-69AE489837C1}"/>
              </a:ext>
            </a:extLst>
          </p:cNvPr>
          <p:cNvSpPr txBox="1"/>
          <p:nvPr/>
        </p:nvSpPr>
        <p:spPr>
          <a:xfrm>
            <a:off x="919745" y="1605164"/>
            <a:ext cx="7720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части контроля (анализа) защищенности информации, содержащейся в информационной (автоматизированной) системе: </a:t>
            </a:r>
          </a:p>
        </p:txBody>
      </p:sp>
    </p:spTree>
    <p:extLst>
      <p:ext uri="{BB962C8B-B14F-4D97-AF65-F5344CB8AC3E}">
        <p14:creationId xmlns:p14="http://schemas.microsoft.com/office/powerpoint/2010/main" val="3894510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168DCE8-7858-D049-B69C-E64367076408}"/>
              </a:ext>
            </a:extLst>
          </p:cNvPr>
          <p:cNvSpPr/>
          <p:nvPr/>
        </p:nvSpPr>
        <p:spPr>
          <a:xfrm>
            <a:off x="628650" y="2075250"/>
            <a:ext cx="791493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контроль работоспособности (неотключении) программного обеспечения и средств защиты информации;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проверка соответствия среды функционирования требованиям, предъявленным в документации на средства защиты информации;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информирование о неисправностях, сбоях и отказах в функционировании программно-технических средств информационной (автоматизированной) системы.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части мероприятий периодического анализа изменения угроз безопасности информации в информационной (автоматизированной) системе, возникающих в ходе ее эксплуатации: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получение данных о новых угрозах безопасности информации, из доступных источников, содержащих сведения об уязвимостях и угрозах безопасности информации; 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оценка актуальности для информационной (автоматизированной) системы новых угроз безопасности информации и определение рекомендаций по принятию мер защиты, направленных на нейтрализацию новых угроз безопасности информации.</a:t>
            </a:r>
          </a:p>
        </p:txBody>
      </p:sp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2974274" y="1138504"/>
            <a:ext cx="27960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/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Задачи мониторинга</a:t>
            </a: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22CA0-126C-DD48-856E-69AE489837C1}"/>
              </a:ext>
            </a:extLst>
          </p:cNvPr>
          <p:cNvSpPr txBox="1"/>
          <p:nvPr/>
        </p:nvSpPr>
        <p:spPr>
          <a:xfrm>
            <a:off x="919745" y="1605164"/>
            <a:ext cx="7720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части анализа и оценки функционирования системы защиты информации информационной (автоматизированной) системы: </a:t>
            </a:r>
          </a:p>
        </p:txBody>
      </p:sp>
    </p:spTree>
    <p:extLst>
      <p:ext uri="{BB962C8B-B14F-4D97-AF65-F5344CB8AC3E}">
        <p14:creationId xmlns:p14="http://schemas.microsoft.com/office/powerpoint/2010/main" val="39023009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565</TotalTime>
  <Words>647</Words>
  <Application>Microsoft Office PowerPoint</Application>
  <PresentationFormat>Экран (4:3)</PresentationFormat>
  <Paragraphs>82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PT Sans</vt:lpstr>
      <vt:lpstr>Times New Roman</vt:lpstr>
      <vt:lpstr>Тема Office</vt:lpstr>
      <vt:lpstr>Презентация PowerPoint</vt:lpstr>
      <vt:lpstr>Термины и определения. Общие положения по мониторингу информационной безопасности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1</cp:lastModifiedBy>
  <cp:revision>16</cp:revision>
  <dcterms:created xsi:type="dcterms:W3CDTF">2020-09-01T07:45:21Z</dcterms:created>
  <dcterms:modified xsi:type="dcterms:W3CDTF">2025-02-15T07:16:27Z</dcterms:modified>
</cp:coreProperties>
</file>