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4673" r:id="rId2"/>
  </p:sldMasterIdLst>
  <p:notesMasterIdLst>
    <p:notesMasterId r:id="rId4"/>
  </p:notesMasterIdLst>
  <p:sldIdLst>
    <p:sldId id="290" r:id="rId3"/>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Lst>
  <p:sldSz cx="9144000" cy="6858000" type="screen4x3"/>
  <p:notesSz cx="6797675" cy="9928225"/>
  <p:defaultTextStyle>
    <a:defPPr>
      <a:defRPr lang="ru-RU"/>
    </a:defPPr>
    <a:lvl1pPr algn="l" rtl="0" fontAlgn="base">
      <a:spcBef>
        <a:spcPct val="0"/>
      </a:spcBef>
      <a:spcAft>
        <a:spcPct val="0"/>
      </a:spcAft>
      <a:defRPr sz="2000" b="1" kern="1200">
        <a:solidFill>
          <a:schemeClr val="tx1"/>
        </a:solidFill>
        <a:latin typeface="Impact" pitchFamily="34" charset="0"/>
        <a:ea typeface="+mn-ea"/>
        <a:cs typeface="+mn-cs"/>
      </a:defRPr>
    </a:lvl1pPr>
    <a:lvl2pPr marL="457200" algn="l" rtl="0" fontAlgn="base">
      <a:spcBef>
        <a:spcPct val="0"/>
      </a:spcBef>
      <a:spcAft>
        <a:spcPct val="0"/>
      </a:spcAft>
      <a:defRPr sz="2000" b="1" kern="1200">
        <a:solidFill>
          <a:schemeClr val="tx1"/>
        </a:solidFill>
        <a:latin typeface="Impact" pitchFamily="34" charset="0"/>
        <a:ea typeface="+mn-ea"/>
        <a:cs typeface="+mn-cs"/>
      </a:defRPr>
    </a:lvl2pPr>
    <a:lvl3pPr marL="914400" algn="l" rtl="0" fontAlgn="base">
      <a:spcBef>
        <a:spcPct val="0"/>
      </a:spcBef>
      <a:spcAft>
        <a:spcPct val="0"/>
      </a:spcAft>
      <a:defRPr sz="2000" b="1" kern="1200">
        <a:solidFill>
          <a:schemeClr val="tx1"/>
        </a:solidFill>
        <a:latin typeface="Impact" pitchFamily="34" charset="0"/>
        <a:ea typeface="+mn-ea"/>
        <a:cs typeface="+mn-cs"/>
      </a:defRPr>
    </a:lvl3pPr>
    <a:lvl4pPr marL="1371600" algn="l" rtl="0" fontAlgn="base">
      <a:spcBef>
        <a:spcPct val="0"/>
      </a:spcBef>
      <a:spcAft>
        <a:spcPct val="0"/>
      </a:spcAft>
      <a:defRPr sz="2000" b="1" kern="1200">
        <a:solidFill>
          <a:schemeClr val="tx1"/>
        </a:solidFill>
        <a:latin typeface="Impact" pitchFamily="34" charset="0"/>
        <a:ea typeface="+mn-ea"/>
        <a:cs typeface="+mn-cs"/>
      </a:defRPr>
    </a:lvl4pPr>
    <a:lvl5pPr marL="1828800" algn="l" rtl="0" fontAlgn="base">
      <a:spcBef>
        <a:spcPct val="0"/>
      </a:spcBef>
      <a:spcAft>
        <a:spcPct val="0"/>
      </a:spcAft>
      <a:defRPr sz="2000" b="1" kern="1200">
        <a:solidFill>
          <a:schemeClr val="tx1"/>
        </a:solidFill>
        <a:latin typeface="Impact" pitchFamily="34" charset="0"/>
        <a:ea typeface="+mn-ea"/>
        <a:cs typeface="+mn-cs"/>
      </a:defRPr>
    </a:lvl5pPr>
    <a:lvl6pPr marL="2286000" algn="l" defTabSz="914400" rtl="0" eaLnBrk="1" latinLnBrk="0" hangingPunct="1">
      <a:defRPr sz="2000" b="1" kern="1200">
        <a:solidFill>
          <a:schemeClr val="tx1"/>
        </a:solidFill>
        <a:latin typeface="Impact" pitchFamily="34" charset="0"/>
        <a:ea typeface="+mn-ea"/>
        <a:cs typeface="+mn-cs"/>
      </a:defRPr>
    </a:lvl6pPr>
    <a:lvl7pPr marL="2743200" algn="l" defTabSz="914400" rtl="0" eaLnBrk="1" latinLnBrk="0" hangingPunct="1">
      <a:defRPr sz="2000" b="1" kern="1200">
        <a:solidFill>
          <a:schemeClr val="tx1"/>
        </a:solidFill>
        <a:latin typeface="Impact" pitchFamily="34" charset="0"/>
        <a:ea typeface="+mn-ea"/>
        <a:cs typeface="+mn-cs"/>
      </a:defRPr>
    </a:lvl7pPr>
    <a:lvl8pPr marL="3200400" algn="l" defTabSz="914400" rtl="0" eaLnBrk="1" latinLnBrk="0" hangingPunct="1">
      <a:defRPr sz="2000" b="1" kern="1200">
        <a:solidFill>
          <a:schemeClr val="tx1"/>
        </a:solidFill>
        <a:latin typeface="Impact" pitchFamily="34" charset="0"/>
        <a:ea typeface="+mn-ea"/>
        <a:cs typeface="+mn-cs"/>
      </a:defRPr>
    </a:lvl8pPr>
    <a:lvl9pPr marL="3657600" algn="l" defTabSz="914400" rtl="0" eaLnBrk="1" latinLnBrk="0" hangingPunct="1">
      <a:defRPr sz="2000" b="1" kern="1200">
        <a:solidFill>
          <a:schemeClr val="tx1"/>
        </a:solidFill>
        <a:latin typeface="Impact" pitchFamily="34" charset="0"/>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Ирина Красноперова" initials="ИК" lastIdx="1" clrIdx="0">
    <p:extLst>
      <p:ext uri="{19B8F6BF-5375-455C-9EA6-DF929625EA0E}">
        <p15:presenceInfo xmlns:p15="http://schemas.microsoft.com/office/powerpoint/2012/main" userId="1e389190c458cc4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66"/>
    <a:srgbClr val="97CBFF"/>
    <a:srgbClr val="B3D9FF"/>
    <a:srgbClr val="990000"/>
    <a:srgbClr val="CBCFDB"/>
    <a:srgbClr val="FFE4C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77" autoAdjust="0"/>
    <p:restoredTop sz="85068" autoAdjust="0"/>
  </p:normalViewPr>
  <p:slideViewPr>
    <p:cSldViewPr snapToGrid="0">
      <p:cViewPr varScale="1">
        <p:scale>
          <a:sx n="71" d="100"/>
          <a:sy n="71" d="100"/>
        </p:scale>
        <p:origin x="2098" y="43"/>
      </p:cViewPr>
      <p:guideLst>
        <p:guide orient="horz" pos="213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6"/>
    </p:cViewPr>
  </p:sorterViewPr>
  <p:notesViewPr>
    <p:cSldViewPr snapToGrid="0">
      <p:cViewPr varScale="1">
        <p:scale>
          <a:sx n="64" d="100"/>
          <a:sy n="64" d="100"/>
        </p:scale>
        <p:origin x="-3444" y="-114"/>
      </p:cViewPr>
      <p:guideLst>
        <p:guide orient="horz" pos="3127"/>
        <p:guide pos="2141"/>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1"/>
            <a:ext cx="2945659" cy="497517"/>
          </a:xfrm>
          <a:prstGeom prst="rect">
            <a:avLst/>
          </a:prstGeom>
          <a:noFill/>
          <a:ln w="9525">
            <a:noFill/>
            <a:miter lim="800000"/>
            <a:headEnd/>
            <a:tailEnd/>
          </a:ln>
          <a:effectLst/>
        </p:spPr>
        <p:txBody>
          <a:bodyPr vert="horz" wrap="square" lIns="91427" tIns="45714" rIns="91427" bIns="45714" numCol="1" anchor="t" anchorCtr="0" compatLnSpc="1">
            <a:prstTxWarp prst="textNoShape">
              <a:avLst/>
            </a:prstTxWarp>
          </a:bodyPr>
          <a:lstStyle>
            <a:lvl1pPr eaLnBrk="1" hangingPunct="1">
              <a:defRPr sz="1200" b="0">
                <a:latin typeface="Arial" charset="0"/>
              </a:defRPr>
            </a:lvl1pPr>
          </a:lstStyle>
          <a:p>
            <a:pPr>
              <a:defRPr/>
            </a:pPr>
            <a:endParaRPr lang="ru-RU"/>
          </a:p>
        </p:txBody>
      </p:sp>
      <p:sp>
        <p:nvSpPr>
          <p:cNvPr id="7171" name="Rectangle 3"/>
          <p:cNvSpPr>
            <a:spLocks noGrp="1" noChangeArrowheads="1"/>
          </p:cNvSpPr>
          <p:nvPr>
            <p:ph type="dt" idx="1"/>
          </p:nvPr>
        </p:nvSpPr>
        <p:spPr bwMode="auto">
          <a:xfrm>
            <a:off x="3850443" y="1"/>
            <a:ext cx="2945659" cy="497517"/>
          </a:xfrm>
          <a:prstGeom prst="rect">
            <a:avLst/>
          </a:prstGeom>
          <a:noFill/>
          <a:ln w="9525">
            <a:noFill/>
            <a:miter lim="800000"/>
            <a:headEnd/>
            <a:tailEnd/>
          </a:ln>
          <a:effectLst/>
        </p:spPr>
        <p:txBody>
          <a:bodyPr vert="horz" wrap="square" lIns="91427" tIns="45714" rIns="91427" bIns="45714" numCol="1" anchor="t" anchorCtr="0" compatLnSpc="1">
            <a:prstTxWarp prst="textNoShape">
              <a:avLst/>
            </a:prstTxWarp>
          </a:bodyPr>
          <a:lstStyle>
            <a:lvl1pPr algn="r" eaLnBrk="1" hangingPunct="1">
              <a:defRPr sz="1200" b="0">
                <a:latin typeface="Arial" charset="0"/>
              </a:defRPr>
            </a:lvl1pPr>
          </a:lstStyle>
          <a:p>
            <a:pPr>
              <a:defRPr/>
            </a:pPr>
            <a:endParaRPr lang="ru-RU"/>
          </a:p>
        </p:txBody>
      </p:sp>
      <p:sp>
        <p:nvSpPr>
          <p:cNvPr id="2560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679768" y="4716144"/>
            <a:ext cx="5438140" cy="4468176"/>
          </a:xfrm>
          <a:prstGeom prst="rect">
            <a:avLst/>
          </a:prstGeom>
          <a:noFill/>
          <a:ln w="9525">
            <a:noFill/>
            <a:miter lim="800000"/>
            <a:headEnd/>
            <a:tailEnd/>
          </a:ln>
          <a:effectLst/>
        </p:spPr>
        <p:txBody>
          <a:bodyPr vert="horz" wrap="square" lIns="91427" tIns="45714" rIns="91427" bIns="45714"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7174" name="Rectangle 6"/>
          <p:cNvSpPr>
            <a:spLocks noGrp="1" noChangeArrowheads="1"/>
          </p:cNvSpPr>
          <p:nvPr>
            <p:ph type="ftr" sz="quarter" idx="4"/>
          </p:nvPr>
        </p:nvSpPr>
        <p:spPr bwMode="auto">
          <a:xfrm>
            <a:off x="0" y="9429129"/>
            <a:ext cx="2945659" cy="497517"/>
          </a:xfrm>
          <a:prstGeom prst="rect">
            <a:avLst/>
          </a:prstGeom>
          <a:noFill/>
          <a:ln w="9525">
            <a:noFill/>
            <a:miter lim="800000"/>
            <a:headEnd/>
            <a:tailEnd/>
          </a:ln>
          <a:effectLst/>
        </p:spPr>
        <p:txBody>
          <a:bodyPr vert="horz" wrap="square" lIns="91427" tIns="45714" rIns="91427" bIns="45714" numCol="1" anchor="b" anchorCtr="0" compatLnSpc="1">
            <a:prstTxWarp prst="textNoShape">
              <a:avLst/>
            </a:prstTxWarp>
          </a:bodyPr>
          <a:lstStyle>
            <a:lvl1pPr eaLnBrk="1" hangingPunct="1">
              <a:defRPr sz="1200" b="0">
                <a:latin typeface="Arial" charset="0"/>
              </a:defRPr>
            </a:lvl1pPr>
          </a:lstStyle>
          <a:p>
            <a:pPr>
              <a:defRPr/>
            </a:pPr>
            <a:endParaRPr lang="ru-RU"/>
          </a:p>
        </p:txBody>
      </p:sp>
      <p:sp>
        <p:nvSpPr>
          <p:cNvPr id="7175" name="Rectangle 7"/>
          <p:cNvSpPr>
            <a:spLocks noGrp="1" noChangeArrowheads="1"/>
          </p:cNvSpPr>
          <p:nvPr>
            <p:ph type="sldNum" sz="quarter" idx="5"/>
          </p:nvPr>
        </p:nvSpPr>
        <p:spPr bwMode="auto">
          <a:xfrm>
            <a:off x="3850443" y="9429129"/>
            <a:ext cx="2945659" cy="497517"/>
          </a:xfrm>
          <a:prstGeom prst="rect">
            <a:avLst/>
          </a:prstGeom>
          <a:noFill/>
          <a:ln w="9525">
            <a:noFill/>
            <a:miter lim="800000"/>
            <a:headEnd/>
            <a:tailEnd/>
          </a:ln>
          <a:effectLst/>
        </p:spPr>
        <p:txBody>
          <a:bodyPr vert="horz" wrap="square" lIns="91427" tIns="45714" rIns="91427" bIns="45714" numCol="1" anchor="b" anchorCtr="0" compatLnSpc="1">
            <a:prstTxWarp prst="textNoShape">
              <a:avLst/>
            </a:prstTxWarp>
          </a:bodyPr>
          <a:lstStyle>
            <a:lvl1pPr algn="r" eaLnBrk="1" hangingPunct="1">
              <a:defRPr sz="1200" b="0">
                <a:latin typeface="Arial" charset="0"/>
              </a:defRPr>
            </a:lvl1pPr>
          </a:lstStyle>
          <a:p>
            <a:pPr>
              <a:defRPr/>
            </a:pPr>
            <a:fld id="{055D563B-D296-4A85-9EE8-8990DC6445BE}" type="slidenum">
              <a:rPr lang="ru-RU" altLang="ru-RU"/>
              <a:pPr>
                <a:defRPr/>
              </a:pPr>
              <a:t>‹#›</a:t>
            </a:fld>
            <a:endParaRPr lang="ru-RU" altLang="ru-RU"/>
          </a:p>
        </p:txBody>
      </p:sp>
    </p:spTree>
    <p:extLst>
      <p:ext uri="{BB962C8B-B14F-4D97-AF65-F5344CB8AC3E}">
        <p14:creationId xmlns:p14="http://schemas.microsoft.com/office/powerpoint/2010/main" val="30734280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a:prstGeom prst="rect">
            <a:avLst/>
          </a:prstGeo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Содержимое 2"/>
          <p:cNvSpPr>
            <a:spLocks noGrp="1"/>
          </p:cNvSpPr>
          <p:nvPr>
            <p:ph idx="1"/>
          </p:nvPr>
        </p:nvSpPr>
        <p:spPr>
          <a:xfrm>
            <a:off x="457200" y="1600200"/>
            <a:ext cx="8229600" cy="4525963"/>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a:prstGeom prst="rect">
            <a:avLst/>
          </a:prstGeo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a:prstGeom prst="rect">
            <a:avLst/>
          </a:prstGeo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Вертикальный текст 2"/>
          <p:cNvSpPr>
            <a:spLocks noGrp="1"/>
          </p:cNvSpPr>
          <p:nvPr>
            <p:ph type="body" orient="vert" idx="1"/>
          </p:nvPr>
        </p:nvSpPr>
        <p:spPr>
          <a:xfrm>
            <a:off x="457200" y="1600200"/>
            <a:ext cx="8229600" cy="4525963"/>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a:prstGeom prst="rect">
            <a:avLst/>
          </a:prstGeo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a:prstGeom prst="rect">
            <a:avLst/>
          </a:prstGeo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Содержимое 2"/>
          <p:cNvSpPr>
            <a:spLocks noGrp="1"/>
          </p:cNvSpPr>
          <p:nvPr>
            <p:ph idx="1"/>
          </p:nvPr>
        </p:nvSpPr>
        <p:spPr>
          <a:xfrm>
            <a:off x="457200" y="1600200"/>
            <a:ext cx="8229600" cy="4525963"/>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a:prstGeom prst="rect">
            <a:avLst/>
          </a:prstGeo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a:prstGeom prst="rect">
            <a:avLst/>
          </a:prstGeo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a:lstStyle/>
          <a:p>
            <a:r>
              <a:rPr lang="ru-RU"/>
              <a:t>Образец заголовка</a:t>
            </a:r>
          </a:p>
        </p:txBody>
      </p:sp>
      <p:sp>
        <p:nvSpPr>
          <p:cNvPr id="3" name="Вертикальный текст 2"/>
          <p:cNvSpPr>
            <a:spLocks noGrp="1"/>
          </p:cNvSpPr>
          <p:nvPr>
            <p:ph type="body" orient="vert" idx="1"/>
          </p:nvPr>
        </p:nvSpPr>
        <p:spPr>
          <a:xfrm>
            <a:off x="457200" y="1600200"/>
            <a:ext cx="8229600" cy="4525963"/>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a:prstGeom prst="rect">
            <a:avLst/>
          </a:prstGeo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jpe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lum/>
          </a:blip>
          <a:srcRect/>
          <a:stretch>
            <a:fillRect l="-2000" r="-2000"/>
          </a:stretch>
        </a:blipFill>
        <a:effectLst/>
      </p:bgPr>
    </p:bg>
    <p:spTree>
      <p:nvGrpSpPr>
        <p:cNvPr id="1" name=""/>
        <p:cNvGrpSpPr/>
        <p:nvPr/>
      </p:nvGrpSpPr>
      <p:grpSpPr>
        <a:xfrm>
          <a:off x="0" y="0"/>
          <a:ext cx="0" cy="0"/>
          <a:chOff x="0" y="0"/>
          <a:chExt cx="0" cy="0"/>
        </a:xfrm>
      </p:grpSpPr>
      <p:pic>
        <p:nvPicPr>
          <p:cNvPr id="44034" name="Picture 3" descr="flag2"/>
          <p:cNvPicPr>
            <a:picLocks noChangeAspect="1" noChangeArrowheads="1"/>
          </p:cNvPicPr>
          <p:nvPr userDrawn="1"/>
        </p:nvPicPr>
        <p:blipFill>
          <a:blip r:embed="rId14"/>
          <a:srcRect/>
          <a:stretch>
            <a:fillRect/>
          </a:stretch>
        </p:blipFill>
        <p:spPr bwMode="auto">
          <a:xfrm>
            <a:off x="-36513" y="0"/>
            <a:ext cx="9180513" cy="6858000"/>
          </a:xfrm>
          <a:prstGeom prst="rect">
            <a:avLst/>
          </a:prstGeom>
          <a:noFill/>
          <a:ln w="9525">
            <a:noFill/>
            <a:miter lim="800000"/>
            <a:headEnd/>
            <a:tailEnd/>
          </a:ln>
        </p:spPr>
      </p:pic>
      <p:sp>
        <p:nvSpPr>
          <p:cNvPr id="1027" name="Rectangle 1024"/>
          <p:cNvSpPr>
            <a:spLocks noChangeArrowheads="1"/>
          </p:cNvSpPr>
          <p:nvPr userDrawn="1"/>
        </p:nvSpPr>
        <p:spPr bwMode="auto">
          <a:xfrm>
            <a:off x="0" y="1011238"/>
            <a:ext cx="9144000" cy="114300"/>
          </a:xfrm>
          <a:prstGeom prst="rect">
            <a:avLst/>
          </a:prstGeom>
          <a:gradFill rotWithShape="1">
            <a:gsLst>
              <a:gs pos="0">
                <a:srgbClr val="475E76"/>
              </a:gs>
              <a:gs pos="50000">
                <a:srgbClr val="99CCFF"/>
              </a:gs>
              <a:gs pos="100000">
                <a:srgbClr val="475E76"/>
              </a:gs>
            </a:gsLst>
            <a:lin ang="0" scaled="1"/>
          </a:gradFill>
          <a:ln>
            <a:noFill/>
          </a:ln>
        </p:spPr>
        <p:txBody>
          <a:bodyPr/>
          <a:lstStyle>
            <a:lvl1pPr eaLnBrk="0" hangingPunct="0">
              <a:defRPr sz="2000" b="1">
                <a:solidFill>
                  <a:schemeClr val="tx1"/>
                </a:solidFill>
                <a:latin typeface="Impact" panose="020B0806030902050204" pitchFamily="34" charset="0"/>
              </a:defRPr>
            </a:lvl1pPr>
            <a:lvl2pPr marL="742950" indent="-285750" eaLnBrk="0" hangingPunct="0">
              <a:defRPr sz="2000" b="1">
                <a:solidFill>
                  <a:schemeClr val="tx1"/>
                </a:solidFill>
                <a:latin typeface="Impact" panose="020B0806030902050204" pitchFamily="34" charset="0"/>
              </a:defRPr>
            </a:lvl2pPr>
            <a:lvl3pPr marL="1143000" indent="-228600" eaLnBrk="0" hangingPunct="0">
              <a:defRPr sz="2000" b="1">
                <a:solidFill>
                  <a:schemeClr val="tx1"/>
                </a:solidFill>
                <a:latin typeface="Impact" panose="020B0806030902050204" pitchFamily="34" charset="0"/>
              </a:defRPr>
            </a:lvl3pPr>
            <a:lvl4pPr marL="1600200" indent="-228600" eaLnBrk="0" hangingPunct="0">
              <a:defRPr sz="2000" b="1">
                <a:solidFill>
                  <a:schemeClr val="tx1"/>
                </a:solidFill>
                <a:latin typeface="Impact" panose="020B0806030902050204" pitchFamily="34" charset="0"/>
              </a:defRPr>
            </a:lvl4pPr>
            <a:lvl5pPr marL="2057400" indent="-228600" eaLnBrk="0" hangingPunct="0">
              <a:defRPr sz="2000" b="1">
                <a:solidFill>
                  <a:schemeClr val="tx1"/>
                </a:solidFill>
                <a:latin typeface="Impact" panose="020B0806030902050204" pitchFamily="34" charset="0"/>
              </a:defRPr>
            </a:lvl5pPr>
            <a:lvl6pPr marL="2514600" indent="-228600" eaLnBrk="0" fontAlgn="base" hangingPunct="0">
              <a:spcBef>
                <a:spcPct val="0"/>
              </a:spcBef>
              <a:spcAft>
                <a:spcPct val="0"/>
              </a:spcAft>
              <a:defRPr sz="2000" b="1">
                <a:solidFill>
                  <a:schemeClr val="tx1"/>
                </a:solidFill>
                <a:latin typeface="Impact" panose="020B0806030902050204" pitchFamily="34" charset="0"/>
              </a:defRPr>
            </a:lvl6pPr>
            <a:lvl7pPr marL="2971800" indent="-228600" eaLnBrk="0" fontAlgn="base" hangingPunct="0">
              <a:spcBef>
                <a:spcPct val="0"/>
              </a:spcBef>
              <a:spcAft>
                <a:spcPct val="0"/>
              </a:spcAft>
              <a:defRPr sz="2000" b="1">
                <a:solidFill>
                  <a:schemeClr val="tx1"/>
                </a:solidFill>
                <a:latin typeface="Impact" panose="020B0806030902050204" pitchFamily="34" charset="0"/>
              </a:defRPr>
            </a:lvl7pPr>
            <a:lvl8pPr marL="3429000" indent="-228600" eaLnBrk="0" fontAlgn="base" hangingPunct="0">
              <a:spcBef>
                <a:spcPct val="0"/>
              </a:spcBef>
              <a:spcAft>
                <a:spcPct val="0"/>
              </a:spcAft>
              <a:defRPr sz="2000" b="1">
                <a:solidFill>
                  <a:schemeClr val="tx1"/>
                </a:solidFill>
                <a:latin typeface="Impact" panose="020B0806030902050204" pitchFamily="34" charset="0"/>
              </a:defRPr>
            </a:lvl8pPr>
            <a:lvl9pPr marL="3886200" indent="-228600" eaLnBrk="0" fontAlgn="base" hangingPunct="0">
              <a:spcBef>
                <a:spcPct val="0"/>
              </a:spcBef>
              <a:spcAft>
                <a:spcPct val="0"/>
              </a:spcAft>
              <a:defRPr sz="2000" b="1">
                <a:solidFill>
                  <a:schemeClr val="tx1"/>
                </a:solidFill>
                <a:latin typeface="Impact" panose="020B0806030902050204" pitchFamily="34" charset="0"/>
              </a:defRPr>
            </a:lvl9pPr>
          </a:lstStyle>
          <a:p>
            <a:pPr eaLnBrk="1" hangingPunct="1">
              <a:defRPr/>
            </a:pPr>
            <a:endParaRPr kumimoji="1" lang="ru-RU" sz="2400" b="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696" r:id="rId1"/>
    <p:sldLayoutId id="2147484697" r:id="rId2"/>
    <p:sldLayoutId id="2147484698" r:id="rId3"/>
    <p:sldLayoutId id="2147484699" r:id="rId4"/>
    <p:sldLayoutId id="2147484700" r:id="rId5"/>
    <p:sldLayoutId id="2147484701" r:id="rId6"/>
    <p:sldLayoutId id="2147484702" r:id="rId7"/>
    <p:sldLayoutId id="2147484703" r:id="rId8"/>
    <p:sldLayoutId id="2147484704" r:id="rId9"/>
    <p:sldLayoutId id="2147484705" r:id="rId10"/>
    <p:sldLayoutId id="2147484706"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lum/>
          </a:blip>
          <a:srcRect/>
          <a:stretch>
            <a:fillRect l="-2000" r="-2000"/>
          </a:stretch>
        </a:blipFill>
        <a:effectLst/>
      </p:bgPr>
    </p:bg>
    <p:spTree>
      <p:nvGrpSpPr>
        <p:cNvPr id="1" name=""/>
        <p:cNvGrpSpPr/>
        <p:nvPr/>
      </p:nvGrpSpPr>
      <p:grpSpPr>
        <a:xfrm>
          <a:off x="0" y="0"/>
          <a:ext cx="0" cy="0"/>
          <a:chOff x="0" y="0"/>
          <a:chExt cx="0" cy="0"/>
        </a:xfrm>
      </p:grpSpPr>
      <p:pic>
        <p:nvPicPr>
          <p:cNvPr id="13314" name="Picture 3" descr="flag2"/>
          <p:cNvPicPr>
            <a:picLocks noChangeAspect="1" noChangeArrowheads="1"/>
          </p:cNvPicPr>
          <p:nvPr userDrawn="1"/>
        </p:nvPicPr>
        <p:blipFill>
          <a:blip r:embed="rId14"/>
          <a:srcRect/>
          <a:stretch>
            <a:fillRect/>
          </a:stretch>
        </p:blipFill>
        <p:spPr bwMode="auto">
          <a:xfrm>
            <a:off x="-36513" y="0"/>
            <a:ext cx="9180513" cy="6858000"/>
          </a:xfrm>
          <a:prstGeom prst="rect">
            <a:avLst/>
          </a:prstGeom>
          <a:noFill/>
          <a:ln w="9525">
            <a:noFill/>
            <a:miter lim="800000"/>
            <a:headEnd/>
            <a:tailEnd/>
          </a:ln>
        </p:spPr>
      </p:pic>
      <p:sp>
        <p:nvSpPr>
          <p:cNvPr id="1027" name="Rectangle 1024"/>
          <p:cNvSpPr>
            <a:spLocks noChangeArrowheads="1"/>
          </p:cNvSpPr>
          <p:nvPr userDrawn="1"/>
        </p:nvSpPr>
        <p:spPr bwMode="auto">
          <a:xfrm>
            <a:off x="0" y="1011238"/>
            <a:ext cx="9144000" cy="114300"/>
          </a:xfrm>
          <a:prstGeom prst="rect">
            <a:avLst/>
          </a:prstGeom>
          <a:gradFill rotWithShape="1">
            <a:gsLst>
              <a:gs pos="0">
                <a:srgbClr val="475E76"/>
              </a:gs>
              <a:gs pos="50000">
                <a:srgbClr val="99CCFF"/>
              </a:gs>
              <a:gs pos="100000">
                <a:srgbClr val="475E76"/>
              </a:gs>
            </a:gsLst>
            <a:lin ang="0" scaled="1"/>
          </a:gradFill>
          <a:ln>
            <a:noFill/>
          </a:ln>
        </p:spPr>
        <p:txBody>
          <a:bodyPr/>
          <a:lstStyle>
            <a:lvl1pPr eaLnBrk="0" hangingPunct="0">
              <a:defRPr sz="2000" b="1">
                <a:solidFill>
                  <a:schemeClr val="tx1"/>
                </a:solidFill>
                <a:latin typeface="Impact" panose="020B0806030902050204" pitchFamily="34" charset="0"/>
              </a:defRPr>
            </a:lvl1pPr>
            <a:lvl2pPr marL="742950" indent="-285750" eaLnBrk="0" hangingPunct="0">
              <a:defRPr sz="2000" b="1">
                <a:solidFill>
                  <a:schemeClr val="tx1"/>
                </a:solidFill>
                <a:latin typeface="Impact" panose="020B0806030902050204" pitchFamily="34" charset="0"/>
              </a:defRPr>
            </a:lvl2pPr>
            <a:lvl3pPr marL="1143000" indent="-228600" eaLnBrk="0" hangingPunct="0">
              <a:defRPr sz="2000" b="1">
                <a:solidFill>
                  <a:schemeClr val="tx1"/>
                </a:solidFill>
                <a:latin typeface="Impact" panose="020B0806030902050204" pitchFamily="34" charset="0"/>
              </a:defRPr>
            </a:lvl3pPr>
            <a:lvl4pPr marL="1600200" indent="-228600" eaLnBrk="0" hangingPunct="0">
              <a:defRPr sz="2000" b="1">
                <a:solidFill>
                  <a:schemeClr val="tx1"/>
                </a:solidFill>
                <a:latin typeface="Impact" panose="020B0806030902050204" pitchFamily="34" charset="0"/>
              </a:defRPr>
            </a:lvl4pPr>
            <a:lvl5pPr marL="2057400" indent="-228600" eaLnBrk="0" hangingPunct="0">
              <a:defRPr sz="2000" b="1">
                <a:solidFill>
                  <a:schemeClr val="tx1"/>
                </a:solidFill>
                <a:latin typeface="Impact" panose="020B0806030902050204" pitchFamily="34" charset="0"/>
              </a:defRPr>
            </a:lvl5pPr>
            <a:lvl6pPr marL="2514600" indent="-228600" eaLnBrk="0" fontAlgn="base" hangingPunct="0">
              <a:spcBef>
                <a:spcPct val="0"/>
              </a:spcBef>
              <a:spcAft>
                <a:spcPct val="0"/>
              </a:spcAft>
              <a:defRPr sz="2000" b="1">
                <a:solidFill>
                  <a:schemeClr val="tx1"/>
                </a:solidFill>
                <a:latin typeface="Impact" panose="020B0806030902050204" pitchFamily="34" charset="0"/>
              </a:defRPr>
            </a:lvl6pPr>
            <a:lvl7pPr marL="2971800" indent="-228600" eaLnBrk="0" fontAlgn="base" hangingPunct="0">
              <a:spcBef>
                <a:spcPct val="0"/>
              </a:spcBef>
              <a:spcAft>
                <a:spcPct val="0"/>
              </a:spcAft>
              <a:defRPr sz="2000" b="1">
                <a:solidFill>
                  <a:schemeClr val="tx1"/>
                </a:solidFill>
                <a:latin typeface="Impact" panose="020B0806030902050204" pitchFamily="34" charset="0"/>
              </a:defRPr>
            </a:lvl7pPr>
            <a:lvl8pPr marL="3429000" indent="-228600" eaLnBrk="0" fontAlgn="base" hangingPunct="0">
              <a:spcBef>
                <a:spcPct val="0"/>
              </a:spcBef>
              <a:spcAft>
                <a:spcPct val="0"/>
              </a:spcAft>
              <a:defRPr sz="2000" b="1">
                <a:solidFill>
                  <a:schemeClr val="tx1"/>
                </a:solidFill>
                <a:latin typeface="Impact" panose="020B0806030902050204" pitchFamily="34" charset="0"/>
              </a:defRPr>
            </a:lvl8pPr>
            <a:lvl9pPr marL="3886200" indent="-228600" eaLnBrk="0" fontAlgn="base" hangingPunct="0">
              <a:spcBef>
                <a:spcPct val="0"/>
              </a:spcBef>
              <a:spcAft>
                <a:spcPct val="0"/>
              </a:spcAft>
              <a:defRPr sz="2000" b="1">
                <a:solidFill>
                  <a:schemeClr val="tx1"/>
                </a:solidFill>
                <a:latin typeface="Impact" panose="020B0806030902050204" pitchFamily="34" charset="0"/>
              </a:defRPr>
            </a:lvl9pPr>
          </a:lstStyle>
          <a:p>
            <a:pPr eaLnBrk="1" hangingPunct="1">
              <a:defRPr/>
            </a:pPr>
            <a:endParaRPr kumimoji="1" lang="ru-RU" sz="2400" b="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707" r:id="rId1"/>
    <p:sldLayoutId id="2147484708" r:id="rId2"/>
    <p:sldLayoutId id="2147484709" r:id="rId3"/>
    <p:sldLayoutId id="2147484710" r:id="rId4"/>
    <p:sldLayoutId id="2147484711" r:id="rId5"/>
    <p:sldLayoutId id="2147484712" r:id="rId6"/>
    <p:sldLayoutId id="2147484713" r:id="rId7"/>
    <p:sldLayoutId id="2147484714" r:id="rId8"/>
    <p:sldLayoutId id="2147484715" r:id="rId9"/>
    <p:sldLayoutId id="2147484716" r:id="rId10"/>
    <p:sldLayoutId id="2147484717"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Прямоугольник 3"/>
          <p:cNvSpPr/>
          <p:nvPr/>
        </p:nvSpPr>
        <p:spPr>
          <a:xfrm>
            <a:off x="0" y="3268389"/>
            <a:ext cx="9143999" cy="1692771"/>
          </a:xfrm>
          <a:prstGeom prst="rect">
            <a:avLst/>
          </a:prstGeom>
        </p:spPr>
        <p:txBody>
          <a:bodyPr wrap="square">
            <a:spAutoFit/>
          </a:bodyPr>
          <a:lstStyle/>
          <a:p>
            <a:pPr algn="ctr"/>
            <a:r>
              <a:rPr lang="ru-RU" sz="2000" dirty="0">
                <a:latin typeface="Times New Roman"/>
                <a:cs typeface="Times New Roman"/>
              </a:rPr>
              <a:t>по дисциплине </a:t>
            </a:r>
            <a:r>
              <a:rPr lang="ru-RU" sz="2000" i="1" dirty="0">
                <a:latin typeface="Times New Roman"/>
                <a:cs typeface="Times New Roman"/>
              </a:rPr>
              <a:t>«Управление проектами интеллектуальных информационных систем»</a:t>
            </a:r>
          </a:p>
          <a:p>
            <a:pPr algn="ctr"/>
            <a:r>
              <a:rPr lang="ru-RU" sz="1400" dirty="0">
                <a:latin typeface="Times New Roman"/>
                <a:cs typeface="Times New Roman"/>
              </a:rPr>
              <a:t/>
            </a:r>
          </a:p>
          <a:p>
            <a:pPr algn="ctr"/>
            <a:r>
              <a:rPr lang="ru-RU" sz="2400" b="1" dirty="0">
                <a:latin typeface="Times New Roman"/>
                <a:cs typeface="Times New Roman"/>
              </a:rPr>
              <a:t>тема: «Интеллектуальная система обнаружения фишинговых ресурсов»</a:t>
            </a:r>
          </a:p>
          <a:p>
            <a:pPr algn="ctr"/>
            <a:r>
              <a:rPr lang="ru-RU" sz="1400" dirty="0">
                <a:latin typeface="Times New Roman"/>
                <a:cs typeface="Times New Roman"/>
              </a:rPr>
              <a:t/>
            </a:r>
          </a:p>
          <a:p>
            <a:pPr algn="r"/>
            <a:r>
              <a:rPr lang="ru-RU" sz="1400" dirty="0">
                <a:latin typeface="Times New Roman"/>
                <a:cs typeface="Times New Roman"/>
              </a:rPr>
              <a:t>Выполнил: студент группы ББМО-01-25  Мухаметшин А.Р.</a:t>
            </a:r>
          </a:p>
          <a:p>
            <a:pPr algn="r"/>
            <a:r>
              <a:rPr lang="ru-RU" sz="1400" dirty="0">
                <a:latin typeface="Times New Roman"/>
                <a:cs typeface="Times New Roman"/>
              </a:rPr>
              <a:t>Проверил: Кочедыков С.С.</a:t>
            </a:r>
          </a:p>
        </p:txBody>
      </p:sp>
      <p:graphicFrame>
        <p:nvGraphicFramePr>
          <p:cNvPr id="3" name="Таблица 2"/>
          <p:cNvGraphicFramePr>
            <a:graphicFrameLocks noGrp="1"/>
          </p:cNvGraphicFramePr>
          <p:nvPr>
            <p:extLst>
              <p:ext uri="{D42A27DB-BD31-4B8C-83A1-F6EECF244321}">
                <p14:modId xmlns:p14="http://schemas.microsoft.com/office/powerpoint/2010/main" val="2685481797"/>
              </p:ext>
            </p:extLst>
          </p:nvPr>
        </p:nvGraphicFramePr>
        <p:xfrm>
          <a:off x="0" y="987197"/>
          <a:ext cx="9144000" cy="1744536"/>
        </p:xfrm>
        <a:graphic>
          <a:graphicData uri="http://schemas.openxmlformats.org/drawingml/2006/table">
            <a:tbl>
              <a:tblPr>
                <a:tableStyleId>{5C22544A-7EE6-4342-B048-85BDC9FD1C3A}</a:tableStyleId>
              </a:tblPr>
              <a:tblGrid>
                <a:gridCol w="9144000">
                  <a:extLst>
                    <a:ext uri="{9D8B030D-6E8A-4147-A177-3AD203B41FA5}">
                      <a16:colId xmlns:a16="http://schemas.microsoft.com/office/drawing/2014/main" val="20000"/>
                    </a:ext>
                  </a:extLst>
                </a:gridCol>
              </a:tblGrid>
              <a:tr h="351790">
                <a:tc>
                  <a:txBody>
                    <a:bodyPr/>
                    <a:lstStyle/>
                    <a:p>
                      <a:pPr algn="ctr">
                        <a:lnSpc>
                          <a:spcPts val="1200"/>
                        </a:lnSpc>
                        <a:spcAft>
                          <a:spcPts val="0"/>
                        </a:spcAft>
                      </a:pPr>
                      <a:r>
                        <a:rPr lang="ru-RU" sz="1200" cap="all" dirty="0">
                          <a:effectLst/>
                          <a:latin typeface="Times New Roman" panose="02020603050405020304" pitchFamily="18" charset="0"/>
                          <a:cs typeface="Times New Roman" panose="02020603050405020304" pitchFamily="18" charset="0"/>
                        </a:rPr>
                        <a:t>МИНОБРНАУКИ РОССИИ</a:t>
                      </a:r>
                      <a:endParaRPr lang="ru-RU" sz="1000" dirty="0">
                        <a:effectLst/>
                        <a:latin typeface="Times New Roman" panose="02020603050405020304" pitchFamily="18" charset="0"/>
                        <a:ea typeface="Times New Roman"/>
                        <a:cs typeface="Times New Roman" panose="02020603050405020304" pitchFamily="18"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0">
                <a:tc>
                  <a:txBody>
                    <a:bodyPr/>
                    <a:lstStyle/>
                    <a:p>
                      <a:pPr algn="ctr">
                        <a:lnSpc>
                          <a:spcPts val="1200"/>
                        </a:lnSpc>
                        <a:spcAft>
                          <a:spcPts val="0"/>
                        </a:spcAft>
                      </a:pPr>
                      <a:r>
                        <a:rPr lang="ru-RU" sz="1200" dirty="0">
                          <a:effectLst/>
                          <a:latin typeface="Times New Roman" panose="02020603050405020304" pitchFamily="18" charset="0"/>
                          <a:cs typeface="Times New Roman" panose="02020603050405020304" pitchFamily="18" charset="0"/>
                        </a:rPr>
                        <a:t>Федеральное государственное бюджетное образовательное учреждение </a:t>
                      </a:r>
                      <a:endParaRPr lang="ru-RU" sz="1000" dirty="0">
                        <a:effectLst/>
                        <a:latin typeface="Times New Roman" panose="02020603050405020304" pitchFamily="18" charset="0"/>
                        <a:cs typeface="Times New Roman" panose="02020603050405020304" pitchFamily="18" charset="0"/>
                      </a:endParaRPr>
                    </a:p>
                    <a:p>
                      <a:pPr algn="ctr">
                        <a:lnSpc>
                          <a:spcPts val="1200"/>
                        </a:lnSpc>
                        <a:spcAft>
                          <a:spcPts val="0"/>
                        </a:spcAft>
                      </a:pPr>
                      <a:r>
                        <a:rPr lang="ru-RU" sz="1200" dirty="0">
                          <a:effectLst/>
                          <a:latin typeface="Times New Roman" panose="02020603050405020304" pitchFamily="18" charset="0"/>
                          <a:cs typeface="Times New Roman" panose="02020603050405020304" pitchFamily="18" charset="0"/>
                        </a:rPr>
                        <a:t> высшего образования</a:t>
                      </a:r>
                      <a:endParaRPr lang="ru-RU" sz="1000" dirty="0">
                        <a:effectLst/>
                        <a:latin typeface="Times New Roman" panose="02020603050405020304" pitchFamily="18" charset="0"/>
                        <a:cs typeface="Times New Roman" panose="02020603050405020304" pitchFamily="18" charset="0"/>
                      </a:endParaRPr>
                    </a:p>
                    <a:p>
                      <a:pPr algn="ctr">
                        <a:lnSpc>
                          <a:spcPts val="1200"/>
                        </a:lnSpc>
                        <a:spcAft>
                          <a:spcPts val="0"/>
                        </a:spcAft>
                      </a:pPr>
                      <a:r>
                        <a:rPr lang="ru-RU" sz="1200" dirty="0">
                          <a:effectLst/>
                          <a:latin typeface="Times New Roman" panose="02020603050405020304" pitchFamily="18" charset="0"/>
                          <a:cs typeface="Times New Roman" panose="02020603050405020304" pitchFamily="18" charset="0"/>
                        </a:rPr>
                        <a:t>«МИРЭА – Российский технологический университет»</a:t>
                      </a:r>
                      <a:endParaRPr lang="ru-RU" sz="10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ru-RU" sz="1600" dirty="0">
                          <a:effectLst/>
                          <a:latin typeface="Times New Roman" panose="02020603050405020304" pitchFamily="18" charset="0"/>
                          <a:cs typeface="Times New Roman" panose="02020603050405020304" pitchFamily="18" charset="0"/>
                        </a:rPr>
                        <a:t>РТУ МИРЭА</a:t>
                      </a:r>
                    </a:p>
                    <a:p>
                      <a:pPr algn="ctr">
                        <a:lnSpc>
                          <a:spcPct val="115000"/>
                        </a:lnSpc>
                        <a:spcAft>
                          <a:spcPts val="0"/>
                        </a:spcAft>
                      </a:pPr>
                      <a:endParaRPr lang="ru-RU" sz="105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ru-RU" sz="1400" dirty="0">
                          <a:effectLst/>
                          <a:latin typeface="Times New Roman" panose="02020603050405020304" pitchFamily="18" charset="0"/>
                          <a:ea typeface="Times New Roman"/>
                          <a:cs typeface="Times New Roman" panose="02020603050405020304" pitchFamily="18" charset="0"/>
                        </a:rPr>
                        <a:t>Институт кибербезопасности и цифровых технологий</a:t>
                      </a:r>
                    </a:p>
                    <a:p>
                      <a:pPr algn="ctr">
                        <a:lnSpc>
                          <a:spcPct val="115000"/>
                        </a:lnSpc>
                        <a:spcAft>
                          <a:spcPts val="0"/>
                        </a:spcAft>
                      </a:pPr>
                      <a:r>
                        <a:rPr lang="ru-RU" sz="1400" baseline="0" dirty="0">
                          <a:effectLst/>
                          <a:latin typeface="Times New Roman" panose="02020603050405020304" pitchFamily="18" charset="0"/>
                          <a:ea typeface="Times New Roman"/>
                          <a:cs typeface="Times New Roman" panose="02020603050405020304" pitchFamily="18" charset="0"/>
                        </a:rPr>
                        <a:t>Кафедра КБ-4 «Интеллектуальные системы информационной безопасности»</a:t>
                      </a:r>
                      <a:endParaRPr lang="ru-RU" sz="900" dirty="0">
                        <a:effectLst/>
                        <a:latin typeface="Times New Roman" panose="02020603050405020304" pitchFamily="18" charset="0"/>
                        <a:ea typeface="Times New Roman"/>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2" name="TextBox 1"/>
          <p:cNvSpPr txBox="1"/>
          <p:nvPr/>
        </p:nvSpPr>
        <p:spPr>
          <a:xfrm>
            <a:off x="0" y="6457890"/>
            <a:ext cx="9144000" cy="400110"/>
          </a:xfrm>
          <a:prstGeom prst="rect">
            <a:avLst/>
          </a:prstGeom>
          <a:noFill/>
        </p:spPr>
        <p:txBody>
          <a:bodyPr wrap="square" rtlCol="0">
            <a:spAutoFit/>
          </a:bodyPr>
          <a:lstStyle/>
          <a:p>
            <a:pPr algn="ctr"/>
            <a:r>
              <a:rPr lang="ru-RU" dirty="0">
                <a:solidFill>
                  <a:schemeClr val="bg1"/>
                </a:solidFill>
                <a:latin typeface="Times New Roman" panose="02020603050405020304" pitchFamily="18" charset="0"/>
                <a:cs typeface="Times New Roman" panose="02020603050405020304" pitchFamily="18" charset="0"/>
              </a:rPr>
              <a:t>Москва, 2026 г.</a:t>
            </a:r>
          </a:p>
        </p:txBody>
      </p:sp>
      <p:pic>
        <p:nvPicPr>
          <p:cNvPr id="8" name="Рисунок 7"/>
          <p:cNvPicPr>
            <a:picLocks noChangeAspect="1"/>
          </p:cNvPicPr>
          <p:nvPr/>
        </p:nvPicPr>
        <p:blipFill>
          <a:blip r:embed="rId2"/>
          <a:stretch>
            <a:fillRect/>
          </a:stretch>
        </p:blipFill>
        <p:spPr>
          <a:xfrm>
            <a:off x="979169" y="2114550"/>
            <a:ext cx="7185660" cy="91840"/>
          </a:xfrm>
          <a:prstGeom prst="rect">
            <a:avLst/>
          </a:prstGeom>
        </p:spPr>
      </p:pic>
      <p:pic>
        <p:nvPicPr>
          <p:cNvPr id="9" name="Рисунок 8"/>
          <p:cNvPicPr>
            <a:picLocks noChangeAspect="1"/>
          </p:cNvPicPr>
          <p:nvPr/>
        </p:nvPicPr>
        <p:blipFill>
          <a:blip r:embed="rId3"/>
          <a:stretch>
            <a:fillRect/>
          </a:stretch>
        </p:blipFill>
        <p:spPr>
          <a:xfrm>
            <a:off x="0" y="530026"/>
            <a:ext cx="9144000" cy="174823"/>
          </a:xfrm>
          <a:prstGeom prst="rect">
            <a:avLst/>
          </a:prstGeom>
        </p:spPr>
      </p:pic>
      <p:pic>
        <p:nvPicPr>
          <p:cNvPr id="6" name="Рисунок 5"/>
          <p:cNvPicPr/>
          <p:nvPr/>
        </p:nvPicPr>
        <p:blipFill>
          <a:blip r:embed="rId4" cstate="print">
            <a:extLst>
              <a:ext uri="{28A0092B-C50C-407E-A947-70E740481C1C}">
                <a14:useLocalDpi xmlns:a14="http://schemas.microsoft.com/office/drawing/2010/main" val="0"/>
              </a:ext>
            </a:extLst>
          </a:blip>
          <a:stretch>
            <a:fillRect/>
          </a:stretch>
        </p:blipFill>
        <p:spPr>
          <a:xfrm>
            <a:off x="4126865" y="21393"/>
            <a:ext cx="890270" cy="1009015"/>
          </a:xfrm>
          <a:prstGeom prst="rect">
            <a:avLst/>
          </a:prstGeom>
        </p:spPr>
      </p:pic>
      <p:pic>
        <p:nvPicPr>
          <p:cNvPr id="11" name="Рисунок 10"/>
          <p:cNvPicPr>
            <a:picLocks noChangeAspect="1"/>
          </p:cNvPicPr>
          <p:nvPr/>
        </p:nvPicPr>
        <p:blipFill>
          <a:blip r:embed="rId2"/>
          <a:stretch>
            <a:fillRect/>
          </a:stretch>
        </p:blipFill>
        <p:spPr>
          <a:xfrm>
            <a:off x="4126865" y="2888766"/>
            <a:ext cx="890270" cy="9888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Проект: о чём система</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2</a:t>
            </a:r>
          </a:p>
        </p:txBody>
      </p:sp>
      <p:sp>
        <p:nvSpPr>
          <p:cNvPr id="7" name="Rectangle 6"/>
          <p:cNvSpPr/>
          <p:nvPr/>
        </p:nvSpPr>
        <p:spPr>
          <a:xfrm>
            <a:off x="411480" y="1051560"/>
            <a:ext cx="4023360" cy="521208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188720"/>
            <a:ext cx="3657600" cy="365760"/>
          </a:xfrm>
          <a:prstGeom prst="rect">
            <a:avLst/>
          </a:prstGeom>
          <a:noFill/>
          <a:ln>
            <a:noFill/>
          </a:ln>
        </p:spPr>
        <p:txBody>
          <a:bodyPr wrap="square" lIns="45720" rIns="45720" tIns="36576" bIns="36576" anchor="t">
            <a:spAutoFit/>
          </a:bodyPr>
          <a:lstStyle/>
          <a:p>
            <a:pPr algn="l"/>
            <a:r>
              <a:rPr sz="1400" b="1" i="0">
                <a:solidFill>
                  <a:srgbClr val="1E2761"/>
                </a:solidFill>
                <a:latin typeface="Calibri"/>
              </a:rPr>
              <a:t>Идентификация системы</a:t>
            </a:r>
          </a:p>
        </p:txBody>
      </p:sp>
      <p:sp>
        <p:nvSpPr>
          <p:cNvPr id="9" name="TextBox 8"/>
          <p:cNvSpPr txBox="1"/>
          <p:nvPr/>
        </p:nvSpPr>
        <p:spPr>
          <a:xfrm>
            <a:off x="594360" y="1600200"/>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Полное наименование</a:t>
            </a:r>
          </a:p>
        </p:txBody>
      </p:sp>
      <p:sp>
        <p:nvSpPr>
          <p:cNvPr id="10" name="TextBox 9"/>
          <p:cNvSpPr txBox="1"/>
          <p:nvPr/>
        </p:nvSpPr>
        <p:spPr>
          <a:xfrm>
            <a:off x="594360" y="1828800"/>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Интеллектуальная система обнаружения фишинговых ресурсов</a:t>
            </a:r>
          </a:p>
        </p:txBody>
      </p:sp>
      <p:sp>
        <p:nvSpPr>
          <p:cNvPr id="11" name="TextBox 10"/>
          <p:cNvSpPr txBox="1"/>
          <p:nvPr/>
        </p:nvSpPr>
        <p:spPr>
          <a:xfrm>
            <a:off x="594360" y="2258568"/>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Условное обозначение</a:t>
            </a:r>
          </a:p>
        </p:txBody>
      </p:sp>
      <p:sp>
        <p:nvSpPr>
          <p:cNvPr id="12" name="TextBox 11"/>
          <p:cNvSpPr txBox="1"/>
          <p:nvPr/>
        </p:nvSpPr>
        <p:spPr>
          <a:xfrm>
            <a:off x="594360" y="2487168"/>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ИСОФР</a:t>
            </a:r>
          </a:p>
        </p:txBody>
      </p:sp>
      <p:sp>
        <p:nvSpPr>
          <p:cNvPr id="13" name="TextBox 12"/>
          <p:cNvSpPr txBox="1"/>
          <p:nvPr/>
        </p:nvSpPr>
        <p:spPr>
          <a:xfrm>
            <a:off x="594360" y="2916936"/>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Заказчик</a:t>
            </a:r>
          </a:p>
        </p:txBody>
      </p:sp>
      <p:sp>
        <p:nvSpPr>
          <p:cNvPr id="14" name="TextBox 13"/>
          <p:cNvSpPr txBox="1"/>
          <p:nvPr/>
        </p:nvSpPr>
        <p:spPr>
          <a:xfrm>
            <a:off x="594360" y="3145536"/>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РТУ МИРЭА, кафедра КБ-4</a:t>
            </a:r>
          </a:p>
        </p:txBody>
      </p:sp>
      <p:sp>
        <p:nvSpPr>
          <p:cNvPr id="15" name="TextBox 14"/>
          <p:cNvSpPr txBox="1"/>
          <p:nvPr/>
        </p:nvSpPr>
        <p:spPr>
          <a:xfrm>
            <a:off x="594360" y="3575304"/>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Разработчик</a:t>
            </a:r>
          </a:p>
        </p:txBody>
      </p:sp>
      <p:sp>
        <p:nvSpPr>
          <p:cNvPr id="16" name="TextBox 15"/>
          <p:cNvSpPr txBox="1"/>
          <p:nvPr/>
        </p:nvSpPr>
        <p:spPr>
          <a:xfrm>
            <a:off x="594360" y="3803904"/>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Мухаметшин А.Р., ББМО-01-25</a:t>
            </a:r>
          </a:p>
        </p:txBody>
      </p:sp>
      <p:sp>
        <p:nvSpPr>
          <p:cNvPr id="17" name="TextBox 16"/>
          <p:cNvSpPr txBox="1"/>
          <p:nvPr/>
        </p:nvSpPr>
        <p:spPr>
          <a:xfrm>
            <a:off x="594360" y="4233672"/>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Сроки разработки</a:t>
            </a:r>
          </a:p>
        </p:txBody>
      </p:sp>
      <p:sp>
        <p:nvSpPr>
          <p:cNvPr id="18" name="TextBox 17"/>
          <p:cNvSpPr txBox="1"/>
          <p:nvPr/>
        </p:nvSpPr>
        <p:spPr>
          <a:xfrm>
            <a:off x="594360" y="4462272"/>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11.02.2026 — 13.05.2026</a:t>
            </a:r>
          </a:p>
        </p:txBody>
      </p:sp>
      <p:sp>
        <p:nvSpPr>
          <p:cNvPr id="19" name="TextBox 18"/>
          <p:cNvSpPr txBox="1"/>
          <p:nvPr/>
        </p:nvSpPr>
        <p:spPr>
          <a:xfrm>
            <a:off x="594360" y="4892040"/>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Класс системы</a:t>
            </a:r>
          </a:p>
        </p:txBody>
      </p:sp>
      <p:sp>
        <p:nvSpPr>
          <p:cNvPr id="20" name="TextBox 19"/>
          <p:cNvSpPr txBox="1"/>
          <p:nvPr/>
        </p:nvSpPr>
        <p:spPr>
          <a:xfrm>
            <a:off x="594360" y="5120640"/>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АС обработки данных безопасности (ИБ)</a:t>
            </a:r>
          </a:p>
        </p:txBody>
      </p:sp>
      <p:sp>
        <p:nvSpPr>
          <p:cNvPr id="21" name="TextBox 20"/>
          <p:cNvSpPr txBox="1"/>
          <p:nvPr/>
        </p:nvSpPr>
        <p:spPr>
          <a:xfrm>
            <a:off x="594360" y="5550408"/>
            <a:ext cx="3657600" cy="256032"/>
          </a:xfrm>
          <a:prstGeom prst="rect">
            <a:avLst/>
          </a:prstGeom>
          <a:noFill/>
          <a:ln>
            <a:noFill/>
          </a:ln>
        </p:spPr>
        <p:txBody>
          <a:bodyPr wrap="square" lIns="45720" rIns="45720" tIns="36576" bIns="36576" anchor="t">
            <a:spAutoFit/>
          </a:bodyPr>
          <a:lstStyle/>
          <a:p>
            <a:pPr algn="l"/>
            <a:r>
              <a:rPr sz="1000" b="1" i="0">
                <a:solidFill>
                  <a:srgbClr val="4A4A4A"/>
                </a:solidFill>
                <a:latin typeface="Calibri"/>
              </a:rPr>
              <a:t>Технологический стек</a:t>
            </a:r>
          </a:p>
        </p:txBody>
      </p:sp>
      <p:sp>
        <p:nvSpPr>
          <p:cNvPr id="22" name="TextBox 21"/>
          <p:cNvSpPr txBox="1"/>
          <p:nvPr/>
        </p:nvSpPr>
        <p:spPr>
          <a:xfrm>
            <a:off x="594360" y="5779008"/>
            <a:ext cx="3657600" cy="41148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Python, FastAPI, scikit-learn, PyTorch (EfficientNet), PostgreSQL, Redis, Celery</a:t>
            </a:r>
          </a:p>
        </p:txBody>
      </p:sp>
      <p:sp>
        <p:nvSpPr>
          <p:cNvPr id="23" name="TextBox 22"/>
          <p:cNvSpPr txBox="1"/>
          <p:nvPr/>
        </p:nvSpPr>
        <p:spPr>
          <a:xfrm>
            <a:off x="4617720" y="1097280"/>
            <a:ext cx="4206240" cy="365760"/>
          </a:xfrm>
          <a:prstGeom prst="rect">
            <a:avLst/>
          </a:prstGeom>
          <a:noFill/>
          <a:ln>
            <a:noFill/>
          </a:ln>
        </p:spPr>
        <p:txBody>
          <a:bodyPr wrap="square" lIns="45720" rIns="45720" tIns="36576" bIns="36576" anchor="t">
            <a:spAutoFit/>
          </a:bodyPr>
          <a:lstStyle/>
          <a:p>
            <a:pPr algn="l"/>
            <a:r>
              <a:rPr sz="1400" b="1" i="0">
                <a:solidFill>
                  <a:srgbClr val="1E2761"/>
                </a:solidFill>
                <a:latin typeface="Calibri"/>
              </a:rPr>
              <a:t>Цель создания</a:t>
            </a:r>
          </a:p>
        </p:txBody>
      </p:sp>
      <p:sp>
        <p:nvSpPr>
          <p:cNvPr id="24" name="TextBox 23"/>
          <p:cNvSpPr txBox="1"/>
          <p:nvPr/>
        </p:nvSpPr>
        <p:spPr>
          <a:xfrm>
            <a:off x="4617720" y="1417320"/>
            <a:ext cx="4206240" cy="137160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Качественное повышение уровня защищённости пользователей и организаций от угроз социальной инженерии за счёт автоматического выявления фишинговых веб-ресурсов на основе ML и анализа поведенческих признаков.</a:t>
            </a:r>
          </a:p>
        </p:txBody>
      </p:sp>
      <p:sp>
        <p:nvSpPr>
          <p:cNvPr id="25" name="TextBox 24"/>
          <p:cNvSpPr txBox="1"/>
          <p:nvPr/>
        </p:nvSpPr>
        <p:spPr>
          <a:xfrm>
            <a:off x="4617720" y="2926080"/>
            <a:ext cx="4206240" cy="365760"/>
          </a:xfrm>
          <a:prstGeom prst="rect">
            <a:avLst/>
          </a:prstGeom>
          <a:noFill/>
          <a:ln>
            <a:noFill/>
          </a:ln>
        </p:spPr>
        <p:txBody>
          <a:bodyPr wrap="square" lIns="45720" rIns="45720" tIns="36576" bIns="36576" anchor="t">
            <a:spAutoFit/>
          </a:bodyPr>
          <a:lstStyle/>
          <a:p>
            <a:pPr algn="l"/>
            <a:r>
              <a:rPr sz="1400" b="1" i="0">
                <a:solidFill>
                  <a:srgbClr val="1E2761"/>
                </a:solidFill>
                <a:latin typeface="Calibri"/>
              </a:rPr>
              <a:t>Функциональные направления</a:t>
            </a:r>
          </a:p>
        </p:txBody>
      </p:sp>
      <p:sp>
        <p:nvSpPr>
          <p:cNvPr id="26" name="Rectangle 25"/>
          <p:cNvSpPr/>
          <p:nvPr/>
        </p:nvSpPr>
        <p:spPr>
          <a:xfrm>
            <a:off x="4617720" y="3364992"/>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800600" y="3291840"/>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1. Сбор и нормализация данных о веб-ресурсах</a:t>
            </a:r>
          </a:p>
        </p:txBody>
      </p:sp>
      <p:sp>
        <p:nvSpPr>
          <p:cNvPr id="28" name="Rectangle 27"/>
          <p:cNvSpPr/>
          <p:nvPr/>
        </p:nvSpPr>
        <p:spPr>
          <a:xfrm>
            <a:off x="4617720" y="3749040"/>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800600" y="3675888"/>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2. Формирование и обновление базы признаков фишинга</a:t>
            </a:r>
          </a:p>
        </p:txBody>
      </p:sp>
      <p:sp>
        <p:nvSpPr>
          <p:cNvPr id="30" name="Rectangle 29"/>
          <p:cNvSpPr/>
          <p:nvPr/>
        </p:nvSpPr>
        <p:spPr>
          <a:xfrm>
            <a:off x="4617720" y="4133088"/>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800600" y="4059936"/>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3. Взаимодействие с аналитиками ИБ</a:t>
            </a:r>
          </a:p>
        </p:txBody>
      </p:sp>
      <p:sp>
        <p:nvSpPr>
          <p:cNvPr id="32" name="Rectangle 31"/>
          <p:cNvSpPr/>
          <p:nvPr/>
        </p:nvSpPr>
        <p:spPr>
          <a:xfrm>
            <a:off x="4617720" y="4517136"/>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800600" y="4443984"/>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4. Обеспечение актуальными сведениями об угрозах</a:t>
            </a:r>
          </a:p>
        </p:txBody>
      </p:sp>
      <p:sp>
        <p:nvSpPr>
          <p:cNvPr id="34" name="Rectangle 33"/>
          <p:cNvSpPr/>
          <p:nvPr/>
        </p:nvSpPr>
        <p:spPr>
          <a:xfrm>
            <a:off x="4617720" y="4901184"/>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00600" y="4828032"/>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5. Оповещение и отчётность</a:t>
            </a:r>
          </a:p>
        </p:txBody>
      </p:sp>
      <p:sp>
        <p:nvSpPr>
          <p:cNvPr id="36" name="Rectangle 35"/>
          <p:cNvSpPr/>
          <p:nvPr/>
        </p:nvSpPr>
        <p:spPr>
          <a:xfrm>
            <a:off x="4617720" y="5285232"/>
            <a:ext cx="91440" cy="91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800600" y="5212080"/>
            <a:ext cx="4023360" cy="320040"/>
          </a:xfrm>
          <a:prstGeom prst="rect">
            <a:avLst/>
          </a:prstGeom>
          <a:noFill/>
          <a:ln>
            <a:noFill/>
          </a:ln>
        </p:spPr>
        <p:txBody>
          <a:bodyPr wrap="square" lIns="45720" rIns="45720" tIns="36576" bIns="36576" anchor="t">
            <a:spAutoFit/>
          </a:bodyPr>
          <a:lstStyle/>
          <a:p>
            <a:pPr algn="l"/>
            <a:r>
              <a:rPr sz="1100" b="0" i="0">
                <a:solidFill>
                  <a:srgbClr val="121212"/>
                </a:solidFill>
                <a:latin typeface="Calibri"/>
              </a:rPr>
              <a:t>6. Реагирование и блокировка вредоносных ресурсов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Ключевой функционал и архитектура</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3</a:t>
            </a:r>
          </a:p>
        </p:txBody>
      </p:sp>
      <p:sp>
        <p:nvSpPr>
          <p:cNvPr id="7" name="Rectangle 6"/>
          <p:cNvSpPr/>
          <p:nvPr/>
        </p:nvSpPr>
        <p:spPr>
          <a:xfrm>
            <a:off x="411480" y="1097280"/>
            <a:ext cx="274320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1097280"/>
            <a:ext cx="2743200" cy="502920"/>
          </a:xfrm>
          <a:prstGeom prst="rect">
            <a:avLst/>
          </a:prstGeom>
          <a:noFill/>
          <a:ln>
            <a:noFill/>
          </a:ln>
        </p:spPr>
        <p:txBody>
          <a:bodyPr wrap="square" lIns="45720" rIns="45720" tIns="36576" bIns="36576" anchor="ctr">
            <a:spAutoFit/>
          </a:bodyPr>
          <a:lstStyle/>
          <a:p>
            <a:pPr algn="ctr"/>
            <a:r>
              <a:rPr sz="1300" b="1" i="0">
                <a:solidFill>
                  <a:srgbClr val="FFFFFF"/>
                </a:solidFill>
                <a:latin typeface="Calibri"/>
              </a:rPr>
              <a:t>Сбор данных</a:t>
            </a:r>
          </a:p>
        </p:txBody>
      </p:sp>
      <p:sp>
        <p:nvSpPr>
          <p:cNvPr id="9" name="Rectangle 8"/>
          <p:cNvSpPr/>
          <p:nvPr/>
        </p:nvSpPr>
        <p:spPr>
          <a:xfrm>
            <a:off x="411480" y="1600200"/>
            <a:ext cx="2743200" cy="1965960"/>
          </a:xfrm>
          <a:prstGeom prst="rect">
            <a:avLst/>
          </a:prstGeom>
          <a:solidFill>
            <a:srgbClr val="F4F6FB"/>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73736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Приём URL и веб-контента через API</a:t>
            </a:r>
          </a:p>
        </p:txBody>
      </p:sp>
      <p:sp>
        <p:nvSpPr>
          <p:cNvPr id="11" name="TextBox 10"/>
          <p:cNvSpPr txBox="1"/>
          <p:nvPr/>
        </p:nvSpPr>
        <p:spPr>
          <a:xfrm>
            <a:off x="521208" y="214884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Подключение OpenPhish / PhishTank</a:t>
            </a:r>
          </a:p>
        </p:txBody>
      </p:sp>
      <p:sp>
        <p:nvSpPr>
          <p:cNvPr id="12" name="TextBox 11"/>
          <p:cNvSpPr txBox="1"/>
          <p:nvPr/>
        </p:nvSpPr>
        <p:spPr>
          <a:xfrm>
            <a:off x="521208" y="256032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Очередь Celery + Redis</a:t>
            </a:r>
          </a:p>
        </p:txBody>
      </p:sp>
      <p:sp>
        <p:nvSpPr>
          <p:cNvPr id="13" name="TextBox 12"/>
          <p:cNvSpPr txBox="1"/>
          <p:nvPr/>
        </p:nvSpPr>
        <p:spPr>
          <a:xfrm>
            <a:off x="521208" y="297180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Нормализация перед анализом</a:t>
            </a:r>
          </a:p>
        </p:txBody>
      </p:sp>
      <p:sp>
        <p:nvSpPr>
          <p:cNvPr id="14" name="Rectangle 13"/>
          <p:cNvSpPr/>
          <p:nvPr/>
        </p:nvSpPr>
        <p:spPr>
          <a:xfrm>
            <a:off x="3291840" y="1097280"/>
            <a:ext cx="274320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291840" y="1097280"/>
            <a:ext cx="2743200" cy="502920"/>
          </a:xfrm>
          <a:prstGeom prst="rect">
            <a:avLst/>
          </a:prstGeom>
          <a:noFill/>
          <a:ln>
            <a:noFill/>
          </a:ln>
        </p:spPr>
        <p:txBody>
          <a:bodyPr wrap="square" lIns="45720" rIns="45720" tIns="36576" bIns="36576" anchor="ctr">
            <a:spAutoFit/>
          </a:bodyPr>
          <a:lstStyle/>
          <a:p>
            <a:pPr algn="ctr"/>
            <a:r>
              <a:rPr sz="1300" b="1" i="0">
                <a:solidFill>
                  <a:srgbClr val="FFFFFF"/>
                </a:solidFill>
                <a:latin typeface="Calibri"/>
              </a:rPr>
              <a:t>Анализ и ML</a:t>
            </a:r>
          </a:p>
        </p:txBody>
      </p:sp>
      <p:sp>
        <p:nvSpPr>
          <p:cNvPr id="16" name="Rectangle 15"/>
          <p:cNvSpPr/>
          <p:nvPr/>
        </p:nvSpPr>
        <p:spPr>
          <a:xfrm>
            <a:off x="3291840" y="1600200"/>
            <a:ext cx="2743200" cy="1965960"/>
          </a:xfrm>
          <a:prstGeom prst="rect">
            <a:avLst/>
          </a:prstGeom>
          <a:solidFill>
            <a:srgbClr val="F4F6F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01568" y="173736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Лексика URL, парсинг доменов</a:t>
            </a:r>
          </a:p>
        </p:txBody>
      </p:sp>
      <p:sp>
        <p:nvSpPr>
          <p:cNvPr id="18" name="TextBox 17"/>
          <p:cNvSpPr txBox="1"/>
          <p:nvPr/>
        </p:nvSpPr>
        <p:spPr>
          <a:xfrm>
            <a:off x="3401568" y="214884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HTML / DOM-анализ страницы</a:t>
            </a:r>
          </a:p>
        </p:txBody>
      </p:sp>
      <p:sp>
        <p:nvSpPr>
          <p:cNvPr id="19" name="TextBox 18"/>
          <p:cNvSpPr txBox="1"/>
          <p:nvPr/>
        </p:nvSpPr>
        <p:spPr>
          <a:xfrm>
            <a:off x="3401568" y="256032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Скриншоты — EfficientNet (PyTorch)</a:t>
            </a:r>
          </a:p>
        </p:txBody>
      </p:sp>
      <p:sp>
        <p:nvSpPr>
          <p:cNvPr id="20" name="TextBox 19"/>
          <p:cNvSpPr txBox="1"/>
          <p:nvPr/>
        </p:nvSpPr>
        <p:spPr>
          <a:xfrm>
            <a:off x="3401568" y="297180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Векторизация и классификация (scikit-learn)</a:t>
            </a:r>
          </a:p>
        </p:txBody>
      </p:sp>
      <p:sp>
        <p:nvSpPr>
          <p:cNvPr id="21" name="Rectangle 20"/>
          <p:cNvSpPr/>
          <p:nvPr/>
        </p:nvSpPr>
        <p:spPr>
          <a:xfrm>
            <a:off x="6172200" y="1097280"/>
            <a:ext cx="2743200" cy="502920"/>
          </a:xfrm>
          <a:prstGeom prst="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72200" y="1097280"/>
            <a:ext cx="2743200" cy="502920"/>
          </a:xfrm>
          <a:prstGeom prst="rect">
            <a:avLst/>
          </a:prstGeom>
          <a:noFill/>
          <a:ln>
            <a:noFill/>
          </a:ln>
        </p:spPr>
        <p:txBody>
          <a:bodyPr wrap="square" lIns="45720" rIns="45720" tIns="36576" bIns="36576" anchor="ctr">
            <a:spAutoFit/>
          </a:bodyPr>
          <a:lstStyle/>
          <a:p>
            <a:pPr algn="ctr"/>
            <a:r>
              <a:rPr sz="1300" b="1" i="0">
                <a:solidFill>
                  <a:srgbClr val="FFFFFF"/>
                </a:solidFill>
                <a:latin typeface="Calibri"/>
              </a:rPr>
              <a:t>Реакция и отчёты</a:t>
            </a:r>
          </a:p>
        </p:txBody>
      </p:sp>
      <p:sp>
        <p:nvSpPr>
          <p:cNvPr id="23" name="Rectangle 22"/>
          <p:cNvSpPr/>
          <p:nvPr/>
        </p:nvSpPr>
        <p:spPr>
          <a:xfrm>
            <a:off x="6172200" y="1600200"/>
            <a:ext cx="2743200" cy="1965960"/>
          </a:xfrm>
          <a:prstGeom prst="rect">
            <a:avLst/>
          </a:prstGeom>
          <a:solidFill>
            <a:srgbClr val="F4F6FB"/>
          </a:solidFill>
          <a:ln w="9525">
            <a:solidFill>
              <a:srgbClr val="2C6E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81928" y="173736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Дашборд аналитика (зелёный/жёлтый/красный)</a:t>
            </a:r>
          </a:p>
        </p:txBody>
      </p:sp>
      <p:sp>
        <p:nvSpPr>
          <p:cNvPr id="25" name="TextBox 24"/>
          <p:cNvSpPr txBox="1"/>
          <p:nvPr/>
        </p:nvSpPr>
        <p:spPr>
          <a:xfrm>
            <a:off x="6281928" y="214884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История 24 месяца, аудит-журналы</a:t>
            </a:r>
          </a:p>
        </p:txBody>
      </p:sp>
      <p:sp>
        <p:nvSpPr>
          <p:cNvPr id="26" name="TextBox 25"/>
          <p:cNvSpPr txBox="1"/>
          <p:nvPr/>
        </p:nvSpPr>
        <p:spPr>
          <a:xfrm>
            <a:off x="6281928" y="256032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Уведомления и автоблокировка</a:t>
            </a:r>
          </a:p>
        </p:txBody>
      </p:sp>
      <p:sp>
        <p:nvSpPr>
          <p:cNvPr id="27" name="TextBox 26"/>
          <p:cNvSpPr txBox="1"/>
          <p:nvPr/>
        </p:nvSpPr>
        <p:spPr>
          <a:xfrm>
            <a:off x="6281928" y="2971800"/>
            <a:ext cx="2523744"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Дообучение модели (обратная связь)</a:t>
            </a:r>
          </a:p>
        </p:txBody>
      </p:sp>
      <p:sp>
        <p:nvSpPr>
          <p:cNvPr id="28" name="Rectangle 27"/>
          <p:cNvSpPr/>
          <p:nvPr/>
        </p:nvSpPr>
        <p:spPr>
          <a:xfrm>
            <a:off x="411480" y="3749039"/>
            <a:ext cx="832104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11480" y="3749039"/>
            <a:ext cx="8321040" cy="502920"/>
          </a:xfrm>
          <a:prstGeom prst="rect">
            <a:avLst/>
          </a:prstGeom>
          <a:noFill/>
          <a:ln>
            <a:noFill/>
          </a:ln>
        </p:spPr>
        <p:txBody>
          <a:bodyPr wrap="square" lIns="45720" rIns="45720" tIns="36576" bIns="36576" anchor="ctr">
            <a:spAutoFit/>
          </a:bodyPr>
          <a:lstStyle/>
          <a:p>
            <a:pPr algn="ctr"/>
            <a:r>
              <a:rPr sz="1300" b="1" i="0">
                <a:solidFill>
                  <a:srgbClr val="FFFFFF"/>
                </a:solidFill>
                <a:latin typeface="Calibri"/>
              </a:rPr>
              <a:t>Технологический контур</a:t>
            </a:r>
          </a:p>
        </p:txBody>
      </p:sp>
      <p:sp>
        <p:nvSpPr>
          <p:cNvPr id="30" name="Rectangle 29"/>
          <p:cNvSpPr/>
          <p:nvPr/>
        </p:nvSpPr>
        <p:spPr>
          <a:xfrm>
            <a:off x="411480" y="4343400"/>
            <a:ext cx="2011680" cy="210312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02920" y="4434840"/>
            <a:ext cx="182880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Backend</a:t>
            </a:r>
          </a:p>
        </p:txBody>
      </p:sp>
      <p:sp>
        <p:nvSpPr>
          <p:cNvPr id="32" name="TextBox 31"/>
          <p:cNvSpPr txBox="1"/>
          <p:nvPr/>
        </p:nvSpPr>
        <p:spPr>
          <a:xfrm>
            <a:off x="502920" y="4846320"/>
            <a:ext cx="1828800" cy="155448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Python 3.11, FastAPI, Celery, Redis</a:t>
            </a:r>
          </a:p>
        </p:txBody>
      </p:sp>
      <p:sp>
        <p:nvSpPr>
          <p:cNvPr id="33" name="Rectangle 32"/>
          <p:cNvSpPr/>
          <p:nvPr/>
        </p:nvSpPr>
        <p:spPr>
          <a:xfrm>
            <a:off x="2514600" y="4343400"/>
            <a:ext cx="2011680" cy="210312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606040" y="4434840"/>
            <a:ext cx="182880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ML</a:t>
            </a:r>
          </a:p>
        </p:txBody>
      </p:sp>
      <p:sp>
        <p:nvSpPr>
          <p:cNvPr id="35" name="TextBox 34"/>
          <p:cNvSpPr txBox="1"/>
          <p:nvPr/>
        </p:nvSpPr>
        <p:spPr>
          <a:xfrm>
            <a:off x="2606040" y="4846320"/>
            <a:ext cx="1828800" cy="155448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scikit-learn, PyTorch, EfficientNet, Great Expectations</a:t>
            </a:r>
          </a:p>
        </p:txBody>
      </p:sp>
      <p:sp>
        <p:nvSpPr>
          <p:cNvPr id="36" name="Rectangle 35"/>
          <p:cNvSpPr/>
          <p:nvPr/>
        </p:nvSpPr>
        <p:spPr>
          <a:xfrm>
            <a:off x="4617720" y="4343400"/>
            <a:ext cx="2011680" cy="210312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709160" y="4434840"/>
            <a:ext cx="182880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Хранилище</a:t>
            </a:r>
          </a:p>
        </p:txBody>
      </p:sp>
      <p:sp>
        <p:nvSpPr>
          <p:cNvPr id="38" name="TextBox 37"/>
          <p:cNvSpPr txBox="1"/>
          <p:nvPr/>
        </p:nvSpPr>
        <p:spPr>
          <a:xfrm>
            <a:off x="4709160" y="4846320"/>
            <a:ext cx="1828800" cy="155448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PostgreSQL (pgaudit), Elasticsearch, объектное хранилище</a:t>
            </a:r>
          </a:p>
        </p:txBody>
      </p:sp>
      <p:sp>
        <p:nvSpPr>
          <p:cNvPr id="39" name="Rectangle 38"/>
          <p:cNvSpPr/>
          <p:nvPr/>
        </p:nvSpPr>
        <p:spPr>
          <a:xfrm>
            <a:off x="6720840" y="4343400"/>
            <a:ext cx="2011680" cy="210312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12280" y="4434840"/>
            <a:ext cx="182880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Безопасность</a:t>
            </a:r>
          </a:p>
        </p:txBody>
      </p:sp>
      <p:sp>
        <p:nvSpPr>
          <p:cNvPr id="41" name="TextBox 40"/>
          <p:cNvSpPr txBox="1"/>
          <p:nvPr/>
        </p:nvSpPr>
        <p:spPr>
          <a:xfrm>
            <a:off x="6812280" y="4846320"/>
            <a:ext cx="1828800" cy="155448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JWT + RBAC, TOTP, AES-256, TLS 1.3, Graylog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Краткая выжимка из ТЗ — 1/2</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4</a:t>
            </a:r>
          </a:p>
        </p:txBody>
      </p:sp>
      <p:sp>
        <p:nvSpPr>
          <p:cNvPr id="7" name="Rectangle 6"/>
          <p:cNvSpPr/>
          <p:nvPr/>
        </p:nvSpPr>
        <p:spPr>
          <a:xfrm>
            <a:off x="411480" y="1051560"/>
            <a:ext cx="4114800" cy="2606040"/>
          </a:xfrm>
          <a:prstGeom prst="rect">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11480" y="1051560"/>
            <a:ext cx="109728" cy="2606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2648" y="1143000"/>
            <a:ext cx="3822192" cy="365760"/>
          </a:xfrm>
          <a:prstGeom prst="rect">
            <a:avLst/>
          </a:prstGeom>
          <a:noFill/>
          <a:ln>
            <a:noFill/>
          </a:ln>
        </p:spPr>
        <p:txBody>
          <a:bodyPr wrap="square" lIns="45720" rIns="45720" tIns="36576" bIns="36576" anchor="t">
            <a:spAutoFit/>
          </a:bodyPr>
          <a:lstStyle/>
          <a:p>
            <a:pPr algn="l"/>
            <a:r>
              <a:rPr sz="1300" b="1" i="0">
                <a:solidFill>
                  <a:srgbClr val="1E2761"/>
                </a:solidFill>
                <a:latin typeface="Calibri"/>
              </a:rPr>
              <a:t>Режимы функционирования</a:t>
            </a:r>
          </a:p>
        </p:txBody>
      </p:sp>
      <p:sp>
        <p:nvSpPr>
          <p:cNvPr id="10" name="TextBox 9"/>
          <p:cNvSpPr txBox="1"/>
          <p:nvPr/>
        </p:nvSpPr>
        <p:spPr>
          <a:xfrm>
            <a:off x="704088" y="155448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Нормальный режим — основной</a:t>
            </a:r>
          </a:p>
        </p:txBody>
      </p:sp>
      <p:sp>
        <p:nvSpPr>
          <p:cNvPr id="11" name="TextBox 10"/>
          <p:cNvSpPr txBox="1"/>
          <p:nvPr/>
        </p:nvSpPr>
        <p:spPr>
          <a:xfrm>
            <a:off x="704088" y="192024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Аварийный режим</a:t>
            </a:r>
          </a:p>
        </p:txBody>
      </p:sp>
      <p:sp>
        <p:nvSpPr>
          <p:cNvPr id="12" name="TextBox 11"/>
          <p:cNvSpPr txBox="1"/>
          <p:nvPr/>
        </p:nvSpPr>
        <p:spPr>
          <a:xfrm>
            <a:off x="704088" y="228600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Клиент: ПН–ВС 09:00–20:00</a:t>
            </a:r>
          </a:p>
        </p:txBody>
      </p:sp>
      <p:sp>
        <p:nvSpPr>
          <p:cNvPr id="13" name="TextBox 12"/>
          <p:cNvSpPr txBox="1"/>
          <p:nvPr/>
        </p:nvSpPr>
        <p:spPr>
          <a:xfrm>
            <a:off x="704088" y="265176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Сервер: 24/7 с тех. окнами</a:t>
            </a:r>
          </a:p>
        </p:txBody>
      </p:sp>
      <p:sp>
        <p:nvSpPr>
          <p:cNvPr id="14" name="Rectangle 13"/>
          <p:cNvSpPr/>
          <p:nvPr/>
        </p:nvSpPr>
        <p:spPr>
          <a:xfrm>
            <a:off x="4617720" y="1051560"/>
            <a:ext cx="4114800" cy="2606040"/>
          </a:xfrm>
          <a:prstGeom prst="rect">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617720" y="1051560"/>
            <a:ext cx="109728" cy="2606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818888" y="1143000"/>
            <a:ext cx="3822192" cy="365760"/>
          </a:xfrm>
          <a:prstGeom prst="rect">
            <a:avLst/>
          </a:prstGeom>
          <a:noFill/>
          <a:ln>
            <a:noFill/>
          </a:ln>
        </p:spPr>
        <p:txBody>
          <a:bodyPr wrap="square" lIns="45720" rIns="45720" tIns="36576" bIns="36576" anchor="t">
            <a:spAutoFit/>
          </a:bodyPr>
          <a:lstStyle/>
          <a:p>
            <a:pPr algn="l"/>
            <a:r>
              <a:rPr sz="1300" b="1" i="0">
                <a:solidFill>
                  <a:srgbClr val="1E2761"/>
                </a:solidFill>
                <a:latin typeface="Calibri"/>
              </a:rPr>
              <a:t>Надёжность</a:t>
            </a:r>
          </a:p>
        </p:txBody>
      </p:sp>
      <p:sp>
        <p:nvSpPr>
          <p:cNvPr id="17" name="TextBox 16"/>
          <p:cNvSpPr txBox="1"/>
          <p:nvPr/>
        </p:nvSpPr>
        <p:spPr>
          <a:xfrm>
            <a:off x="4910328" y="155448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Тех. окно — ночь Сб→Вс, ≤ 2 ч</a:t>
            </a:r>
          </a:p>
        </p:txBody>
      </p:sp>
      <p:sp>
        <p:nvSpPr>
          <p:cNvPr id="18" name="TextBox 17"/>
          <p:cNvSpPr txBox="1"/>
          <p:nvPr/>
        </p:nvSpPr>
        <p:spPr>
          <a:xfrm>
            <a:off x="4910328" y="192024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Изоляция отказов модулей</a:t>
            </a:r>
          </a:p>
        </p:txBody>
      </p:sp>
      <p:sp>
        <p:nvSpPr>
          <p:cNvPr id="19" name="TextBox 18"/>
          <p:cNvSpPr txBox="1"/>
          <p:nvPr/>
        </p:nvSpPr>
        <p:spPr>
          <a:xfrm>
            <a:off x="4910328" y="228600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MTTR ≤ 30 мин</a:t>
            </a:r>
          </a:p>
        </p:txBody>
      </p:sp>
      <p:sp>
        <p:nvSpPr>
          <p:cNvPr id="20" name="TextBox 19"/>
          <p:cNvSpPr txBox="1"/>
          <p:nvPr/>
        </p:nvSpPr>
        <p:spPr>
          <a:xfrm>
            <a:off x="4910328" y="265176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Сбой источников ≠ остановка</a:t>
            </a:r>
          </a:p>
        </p:txBody>
      </p:sp>
      <p:sp>
        <p:nvSpPr>
          <p:cNvPr id="21" name="Rectangle 20"/>
          <p:cNvSpPr/>
          <p:nvPr/>
        </p:nvSpPr>
        <p:spPr>
          <a:xfrm>
            <a:off x="411480" y="3749040"/>
            <a:ext cx="4114800" cy="2606040"/>
          </a:xfrm>
          <a:prstGeom prst="rect">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1480" y="3749040"/>
            <a:ext cx="109728" cy="2606040"/>
          </a:xfrm>
          <a:prstGeom prst="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2648" y="3840480"/>
            <a:ext cx="3822192" cy="365760"/>
          </a:xfrm>
          <a:prstGeom prst="rect">
            <a:avLst/>
          </a:prstGeom>
          <a:noFill/>
          <a:ln>
            <a:noFill/>
          </a:ln>
        </p:spPr>
        <p:txBody>
          <a:bodyPr wrap="square" lIns="45720" rIns="45720" tIns="36576" bIns="36576" anchor="t">
            <a:spAutoFit/>
          </a:bodyPr>
          <a:lstStyle/>
          <a:p>
            <a:pPr algn="l"/>
            <a:r>
              <a:rPr sz="1300" b="1" i="0">
                <a:solidFill>
                  <a:srgbClr val="1E2761"/>
                </a:solidFill>
                <a:latin typeface="Calibri"/>
              </a:rPr>
              <a:t>Состав ПО и интерфейсы</a:t>
            </a:r>
          </a:p>
        </p:txBody>
      </p:sp>
      <p:sp>
        <p:nvSpPr>
          <p:cNvPr id="24" name="TextBox 23"/>
          <p:cNvSpPr txBox="1"/>
          <p:nvPr/>
        </p:nvSpPr>
        <p:spPr>
          <a:xfrm>
            <a:off x="704088" y="425196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API сбора URL и контента</a:t>
            </a:r>
          </a:p>
        </p:txBody>
      </p:sp>
      <p:sp>
        <p:nvSpPr>
          <p:cNvPr id="25" name="TextBox 24"/>
          <p:cNvSpPr txBox="1"/>
          <p:nvPr/>
        </p:nvSpPr>
        <p:spPr>
          <a:xfrm>
            <a:off x="704088" y="461772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Импорт CSV/JSON для обучающих выборок</a:t>
            </a:r>
          </a:p>
        </p:txBody>
      </p:sp>
      <p:sp>
        <p:nvSpPr>
          <p:cNvPr id="26" name="TextBox 25"/>
          <p:cNvSpPr txBox="1"/>
          <p:nvPr/>
        </p:nvSpPr>
        <p:spPr>
          <a:xfrm>
            <a:off x="704088" y="498348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Обновление баз: OpenPhish, PhishTank</a:t>
            </a:r>
          </a:p>
        </p:txBody>
      </p:sp>
      <p:sp>
        <p:nvSpPr>
          <p:cNvPr id="27" name="TextBox 26"/>
          <p:cNvSpPr txBox="1"/>
          <p:nvPr/>
        </p:nvSpPr>
        <p:spPr>
          <a:xfrm>
            <a:off x="704088" y="534924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Веб-дашборд для аналитика</a:t>
            </a:r>
          </a:p>
        </p:txBody>
      </p:sp>
      <p:sp>
        <p:nvSpPr>
          <p:cNvPr id="28" name="Rectangle 27"/>
          <p:cNvSpPr/>
          <p:nvPr/>
        </p:nvSpPr>
        <p:spPr>
          <a:xfrm>
            <a:off x="4617720" y="3749040"/>
            <a:ext cx="4114800" cy="2606040"/>
          </a:xfrm>
          <a:prstGeom prst="rect">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617720" y="3749040"/>
            <a:ext cx="109728" cy="2606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818888" y="3840480"/>
            <a:ext cx="3822192" cy="365760"/>
          </a:xfrm>
          <a:prstGeom prst="rect">
            <a:avLst/>
          </a:prstGeom>
          <a:noFill/>
          <a:ln>
            <a:noFill/>
          </a:ln>
        </p:spPr>
        <p:txBody>
          <a:bodyPr wrap="square" lIns="45720" rIns="45720" tIns="36576" bIns="36576" anchor="t">
            <a:spAutoFit/>
          </a:bodyPr>
          <a:lstStyle/>
          <a:p>
            <a:pPr algn="l"/>
            <a:r>
              <a:rPr sz="1300" b="1" i="0">
                <a:solidFill>
                  <a:srgbClr val="1E2761"/>
                </a:solidFill>
                <a:latin typeface="Calibri"/>
              </a:rPr>
              <a:t>Требования к персоналу</a:t>
            </a:r>
          </a:p>
        </p:txBody>
      </p:sp>
      <p:sp>
        <p:nvSpPr>
          <p:cNvPr id="31" name="TextBox 30"/>
          <p:cNvSpPr txBox="1"/>
          <p:nvPr/>
        </p:nvSpPr>
        <p:spPr>
          <a:xfrm>
            <a:off x="4910328" y="425196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Аналитик ИБ (мониторинг, разбор)</a:t>
            </a:r>
          </a:p>
        </p:txBody>
      </p:sp>
      <p:sp>
        <p:nvSpPr>
          <p:cNvPr id="32" name="TextBox 31"/>
          <p:cNvSpPr txBox="1"/>
          <p:nvPr/>
        </p:nvSpPr>
        <p:spPr>
          <a:xfrm>
            <a:off x="4910328" y="461772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Data Engineer (выборки, дрейф модели)</a:t>
            </a:r>
          </a:p>
        </p:txBody>
      </p:sp>
      <p:sp>
        <p:nvSpPr>
          <p:cNvPr id="33" name="TextBox 32"/>
          <p:cNvSpPr txBox="1"/>
          <p:nvPr/>
        </p:nvSpPr>
        <p:spPr>
          <a:xfrm>
            <a:off x="4910328" y="498348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Понимание Precision/Recall, ROC-AUC</a:t>
            </a:r>
          </a:p>
        </p:txBody>
      </p:sp>
      <p:sp>
        <p:nvSpPr>
          <p:cNvPr id="34" name="TextBox 33"/>
          <p:cNvSpPr txBox="1"/>
          <p:nvPr/>
        </p:nvSpPr>
        <p:spPr>
          <a:xfrm>
            <a:off x="4910328" y="5349240"/>
            <a:ext cx="3730752" cy="45720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 Состав — не лимитирован, режим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Краткая выжимка из ТЗ — 2/2</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5</a:t>
            </a:r>
          </a:p>
        </p:txBody>
      </p:sp>
      <p:sp>
        <p:nvSpPr>
          <p:cNvPr id="7" name="Rectangle 6"/>
          <p:cNvSpPr/>
          <p:nvPr/>
        </p:nvSpPr>
        <p:spPr>
          <a:xfrm>
            <a:off x="411480" y="1051560"/>
            <a:ext cx="832104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1051560"/>
            <a:ext cx="8321040" cy="502920"/>
          </a:xfrm>
          <a:prstGeom prst="rect">
            <a:avLst/>
          </a:prstGeom>
          <a:noFill/>
          <a:ln>
            <a:noFill/>
          </a:ln>
        </p:spPr>
        <p:txBody>
          <a:bodyPr wrap="square" lIns="45720" rIns="45720" tIns="36576" bIns="36576" anchor="ctr">
            <a:spAutoFit/>
          </a:bodyPr>
          <a:lstStyle/>
          <a:p>
            <a:pPr algn="ctr"/>
            <a:r>
              <a:rPr sz="1300" b="1" i="0">
                <a:solidFill>
                  <a:srgbClr val="FFFFFF"/>
                </a:solidFill>
                <a:latin typeface="Calibri"/>
              </a:rPr>
              <a:t>4.4.4  Эргономика и техническая эстетика</a:t>
            </a:r>
          </a:p>
        </p:txBody>
      </p:sp>
      <p:graphicFrame>
        <p:nvGraphicFramePr>
          <p:cNvPr id="9" name="Table 8"/>
          <p:cNvGraphicFramePr>
            <a:graphicFrameLocks noGrp="1"/>
          </p:cNvGraphicFramePr>
          <p:nvPr/>
        </p:nvGraphicFramePr>
        <p:xfrm>
          <a:off x="411480" y="1627632"/>
          <a:ext cx="8321040" cy="1417320"/>
        </p:xfrm>
        <a:graphic>
          <a:graphicData uri="http://schemas.openxmlformats.org/drawingml/2006/table">
            <a:tbl>
              <a:tblPr firstRow="1" bandRow="1">
                <a:tableStyleId>{5C22544A-7EE6-4342-B048-85BDC9FD1C3A}</a:tableStyleId>
              </a:tblPr>
              <a:tblGrid>
                <a:gridCol w="2286000"/>
                <a:gridCol w="6035040"/>
              </a:tblGrid>
              <a:tr h="283464">
                <a:tc>
                  <a:txBody>
                    <a:bodyPr wrap="square" lIns="54864" rIns="54864" tIns="36576" bIns="36576" anchor="ctr"/>
                    <a:lstStyle/>
                    <a:p>
                      <a:pPr algn="ctr"/>
                      <a:r>
                        <a:rPr sz="1100" b="1" i="0">
                          <a:solidFill>
                            <a:srgbClr val="1E2761"/>
                          </a:solidFill>
                          <a:latin typeface="Calibri"/>
                        </a:rPr>
                        <a:t>Характеристика GUI</a:t>
                      </a:r>
                    </a:p>
                  </a:txBody>
                  <a:tcPr>
                    <a:solidFill>
                      <a:srgbClr val="CADCFC"/>
                    </a:solidFill>
                  </a:tcPr>
                </a:tc>
                <a:tc>
                  <a:txBody>
                    <a:bodyPr wrap="square" lIns="54864" rIns="54864" tIns="36576" bIns="36576" anchor="ctr"/>
                    <a:lstStyle/>
                    <a:p>
                      <a:pPr algn="ctr"/>
                      <a:r>
                        <a:rPr sz="1100" b="1" i="0">
                          <a:solidFill>
                            <a:srgbClr val="1E2761"/>
                          </a:solidFill>
                          <a:latin typeface="Calibri"/>
                        </a:rPr>
                        <a:t>Описание</a:t>
                      </a:r>
                    </a:p>
                  </a:txBody>
                  <a:tcPr>
                    <a:solidFill>
                      <a:srgbClr val="CADCFC"/>
                    </a:solidFill>
                  </a:tcPr>
                </a:tc>
              </a:tr>
              <a:tr h="283464">
                <a:tc>
                  <a:txBody>
                    <a:bodyPr wrap="square" lIns="54864" rIns="54864" tIns="36576" bIns="36576" anchor="t"/>
                    <a:lstStyle/>
                    <a:p>
                      <a:pPr algn="l"/>
                      <a:r>
                        <a:rPr sz="1000" b="0" i="0">
                          <a:solidFill>
                            <a:srgbClr val="121212"/>
                          </a:solidFill>
                          <a:latin typeface="Calibri"/>
                        </a:rPr>
                        <a:t>Тип интерфейса</a:t>
                      </a:r>
                    </a:p>
                  </a:txBody>
                  <a:tcPr>
                    <a:solidFill>
                      <a:srgbClr val="FFFFFF"/>
                    </a:solidFill>
                  </a:tcPr>
                </a:tc>
                <a:tc>
                  <a:txBody>
                    <a:bodyPr wrap="square" lIns="54864" rIns="54864" tIns="36576" bIns="36576" anchor="t"/>
                    <a:lstStyle/>
                    <a:p>
                      <a:pPr algn="l"/>
                      <a:r>
                        <a:rPr sz="1000" b="0" i="0">
                          <a:solidFill>
                            <a:srgbClr val="121212"/>
                          </a:solidFill>
                          <a:latin typeface="Calibri"/>
                        </a:rPr>
                        <a:t>Веб-дашборд (Web SOC), без установки доп. ПО</a:t>
                      </a:r>
                    </a:p>
                  </a:txBody>
                  <a:tcPr>
                    <a:solidFill>
                      <a:srgbClr val="FFFFFF"/>
                    </a:solidFill>
                  </a:tcPr>
                </a:tc>
              </a:tr>
              <a:tr h="283464">
                <a:tc>
                  <a:txBody>
                    <a:bodyPr wrap="square" lIns="54864" rIns="54864" tIns="36576" bIns="36576" anchor="t"/>
                    <a:lstStyle/>
                    <a:p>
                      <a:pPr algn="l"/>
                      <a:r>
                        <a:rPr sz="1000" b="0" i="0">
                          <a:solidFill>
                            <a:srgbClr val="121212"/>
                          </a:solidFill>
                          <a:latin typeface="Calibri"/>
                        </a:rPr>
                        <a:t>Информативность</a:t>
                      </a:r>
                    </a:p>
                  </a:txBody>
                  <a:tcPr>
                    <a:solidFill>
                      <a:srgbClr val="F4F6FB"/>
                    </a:solidFill>
                  </a:tcPr>
                </a:tc>
                <a:tc>
                  <a:txBody>
                    <a:bodyPr wrap="square" lIns="54864" rIns="54864" tIns="36576" bIns="36576" anchor="t"/>
                    <a:lstStyle/>
                    <a:p>
                      <a:pPr algn="l"/>
                      <a:r>
                        <a:rPr sz="1000" b="0" i="0">
                          <a:solidFill>
                            <a:srgbClr val="121212"/>
                          </a:solidFill>
                          <a:latin typeface="Calibri"/>
                        </a:rPr>
                        <a:t>Вклад признаков в вердикт, цветовая семантика, метрики в реальном времени</a:t>
                      </a:r>
                    </a:p>
                  </a:txBody>
                  <a:tcPr>
                    <a:solidFill>
                      <a:srgbClr val="F4F6FB"/>
                    </a:solidFill>
                  </a:tcPr>
                </a:tc>
              </a:tr>
              <a:tr h="283464">
                <a:tc>
                  <a:txBody>
                    <a:bodyPr wrap="square" lIns="54864" rIns="54864" tIns="36576" bIns="36576" anchor="t"/>
                    <a:lstStyle/>
                    <a:p>
                      <a:pPr algn="l"/>
                      <a:r>
                        <a:rPr sz="1000" b="0" i="0">
                          <a:solidFill>
                            <a:srgbClr val="121212"/>
                          </a:solidFill>
                          <a:latin typeface="Calibri"/>
                        </a:rPr>
                        <a:t>Скорость работы</a:t>
                      </a:r>
                    </a:p>
                  </a:txBody>
                  <a:tcPr>
                    <a:solidFill>
                      <a:srgbClr val="FFFFFF"/>
                    </a:solidFill>
                  </a:tcPr>
                </a:tc>
                <a:tc>
                  <a:txBody>
                    <a:bodyPr wrap="square" lIns="54864" rIns="54864" tIns="36576" bIns="36576" anchor="t"/>
                    <a:lstStyle/>
                    <a:p>
                      <a:pPr algn="l"/>
                      <a:r>
                        <a:rPr sz="1000" b="0" i="0">
                          <a:solidFill>
                            <a:srgbClr val="121212"/>
                          </a:solidFill>
                          <a:latin typeface="Calibri"/>
                        </a:rPr>
                        <a:t>Загрузка страницы и простого отчёта ≤ 2 с при штатной нагрузке</a:t>
                      </a:r>
                    </a:p>
                  </a:txBody>
                  <a:tcPr>
                    <a:solidFill>
                      <a:srgbClr val="FFFFFF"/>
                    </a:solidFill>
                  </a:tcPr>
                </a:tc>
              </a:tr>
              <a:tr h="283464">
                <a:tc>
                  <a:txBody>
                    <a:bodyPr wrap="square" lIns="54864" rIns="54864" tIns="36576" bIns="36576" anchor="t"/>
                    <a:lstStyle/>
                    <a:p>
                      <a:pPr algn="l"/>
                      <a:r>
                        <a:rPr sz="1000" b="0" i="0">
                          <a:solidFill>
                            <a:srgbClr val="121212"/>
                          </a:solidFill>
                          <a:latin typeface="Calibri"/>
                        </a:rPr>
                        <a:t>Цветовая индикация</a:t>
                      </a:r>
                    </a:p>
                  </a:txBody>
                  <a:tcPr>
                    <a:solidFill>
                      <a:srgbClr val="F4F6FB"/>
                    </a:solidFill>
                  </a:tcPr>
                </a:tc>
                <a:tc>
                  <a:txBody>
                    <a:bodyPr wrap="square" lIns="54864" rIns="54864" tIns="36576" bIns="36576" anchor="t"/>
                    <a:lstStyle/>
                    <a:p>
                      <a:pPr algn="l"/>
                      <a:r>
                        <a:rPr sz="1000" b="0" i="0">
                          <a:solidFill>
                            <a:srgbClr val="121212"/>
                          </a:solidFill>
                          <a:latin typeface="Calibri"/>
                        </a:rPr>
                        <a:t>Зелёный — легитимно, жёлтый — подозрительно, красный — фишинг</a:t>
                      </a:r>
                    </a:p>
                  </a:txBody>
                  <a:tcPr>
                    <a:solidFill>
                      <a:srgbClr val="F4F6FB"/>
                    </a:solidFill>
                  </a:tcPr>
                </a:tc>
              </a:tr>
            </a:tbl>
          </a:graphicData>
        </a:graphic>
      </p:graphicFrame>
      <p:sp>
        <p:nvSpPr>
          <p:cNvPr id="10" name="Rectangle 9"/>
          <p:cNvSpPr/>
          <p:nvPr/>
        </p:nvSpPr>
        <p:spPr>
          <a:xfrm>
            <a:off x="411480" y="3200400"/>
            <a:ext cx="411480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1480" y="3200400"/>
            <a:ext cx="4114800" cy="50292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4.4.5  Защита от НСД</a:t>
            </a:r>
          </a:p>
        </p:txBody>
      </p:sp>
      <p:graphicFrame>
        <p:nvGraphicFramePr>
          <p:cNvPr id="12" name="Table 11"/>
          <p:cNvGraphicFramePr>
            <a:graphicFrameLocks noGrp="1"/>
          </p:cNvGraphicFramePr>
          <p:nvPr/>
        </p:nvGraphicFramePr>
        <p:xfrm>
          <a:off x="411480" y="3776472"/>
          <a:ext cx="4114800" cy="2286000"/>
        </p:xfrm>
        <a:graphic>
          <a:graphicData uri="http://schemas.openxmlformats.org/drawingml/2006/table">
            <a:tbl>
              <a:tblPr firstRow="1" bandRow="1">
                <a:tableStyleId>{5C22544A-7EE6-4342-B048-85BDC9FD1C3A}</a:tableStyleId>
              </a:tblPr>
              <a:tblGrid>
                <a:gridCol w="1097280"/>
                <a:gridCol w="3017520"/>
              </a:tblGrid>
              <a:tr h="457200">
                <a:tc>
                  <a:txBody>
                    <a:bodyPr wrap="square" lIns="54864" rIns="54864" tIns="36576" bIns="36576" anchor="ctr"/>
                    <a:lstStyle/>
                    <a:p>
                      <a:pPr algn="ctr"/>
                      <a:r>
                        <a:rPr sz="1000" b="1" i="0">
                          <a:solidFill>
                            <a:srgbClr val="1E2761"/>
                          </a:solidFill>
                          <a:latin typeface="Calibri"/>
                        </a:rPr>
                        <a:t>Механизм</a:t>
                      </a:r>
                    </a:p>
                  </a:txBody>
                  <a:tcPr>
                    <a:solidFill>
                      <a:srgbClr val="CADCFC"/>
                    </a:solidFill>
                  </a:tcPr>
                </a:tc>
                <a:tc>
                  <a:txBody>
                    <a:bodyPr wrap="square" lIns="54864" rIns="54864" tIns="36576" bIns="36576" anchor="ctr"/>
                    <a:lstStyle/>
                    <a:p>
                      <a:pPr algn="ctr"/>
                      <a:r>
                        <a:rPr sz="1000" b="1" i="0">
                          <a:solidFill>
                            <a:srgbClr val="1E2761"/>
                          </a:solidFill>
                          <a:latin typeface="Calibri"/>
                        </a:rPr>
                        <a:t>Реализация</a:t>
                      </a:r>
                    </a:p>
                  </a:txBody>
                  <a:tcPr>
                    <a:solidFill>
                      <a:srgbClr val="CADCFC"/>
                    </a:solidFill>
                  </a:tcPr>
                </a:tc>
              </a:tr>
              <a:tr h="457200">
                <a:tc>
                  <a:txBody>
                    <a:bodyPr wrap="square" lIns="54864" rIns="54864" tIns="36576" bIns="36576" anchor="t"/>
                    <a:lstStyle/>
                    <a:p>
                      <a:pPr algn="l"/>
                      <a:r>
                        <a:rPr sz="900" b="0" i="0">
                          <a:solidFill>
                            <a:srgbClr val="121212"/>
                          </a:solidFill>
                          <a:latin typeface="Calibri"/>
                        </a:rPr>
                        <a:t>Авторизация</a:t>
                      </a:r>
                    </a:p>
                  </a:txBody>
                  <a:tcPr>
                    <a:solidFill>
                      <a:srgbClr val="FFFFFF"/>
                    </a:solidFill>
                  </a:tcPr>
                </a:tc>
                <a:tc>
                  <a:txBody>
                    <a:bodyPr wrap="square" lIns="54864" rIns="54864" tIns="36576" bIns="36576" anchor="t"/>
                    <a:lstStyle/>
                    <a:p>
                      <a:pPr algn="l"/>
                      <a:r>
                        <a:rPr sz="900" b="0" i="0">
                          <a:solidFill>
                            <a:srgbClr val="121212"/>
                          </a:solidFill>
                          <a:latin typeface="Calibri"/>
                        </a:rPr>
                        <a:t>RBAC (Administrator / Analyst / Operator), JWT 15 мин + refresh</a:t>
                      </a:r>
                    </a:p>
                  </a:txBody>
                  <a:tcPr>
                    <a:solidFill>
                      <a:srgbClr val="FFFFFF"/>
                    </a:solidFill>
                  </a:tcPr>
                </a:tc>
              </a:tr>
              <a:tr h="457200">
                <a:tc>
                  <a:txBody>
                    <a:bodyPr wrap="square" lIns="54864" rIns="54864" tIns="36576" bIns="36576" anchor="t"/>
                    <a:lstStyle/>
                    <a:p>
                      <a:pPr algn="l"/>
                      <a:r>
                        <a:rPr sz="900" b="0" i="0">
                          <a:solidFill>
                            <a:srgbClr val="121212"/>
                          </a:solidFill>
                          <a:latin typeface="Calibri"/>
                        </a:rPr>
                        <a:t>Брутфорс</a:t>
                      </a:r>
                    </a:p>
                  </a:txBody>
                  <a:tcPr>
                    <a:solidFill>
                      <a:srgbClr val="F4F6FB"/>
                    </a:solidFill>
                  </a:tcPr>
                </a:tc>
                <a:tc>
                  <a:txBody>
                    <a:bodyPr wrap="square" lIns="54864" rIns="54864" tIns="36576" bIns="36576" anchor="t"/>
                    <a:lstStyle/>
                    <a:p>
                      <a:pPr algn="l"/>
                      <a:r>
                        <a:rPr sz="900" b="0" i="0">
                          <a:solidFill>
                            <a:srgbClr val="121212"/>
                          </a:solidFill>
                          <a:latin typeface="Calibri"/>
                        </a:rPr>
                        <a:t>Блокировка после 5 неуспешных попыток за 5 мин</a:t>
                      </a:r>
                    </a:p>
                  </a:txBody>
                  <a:tcPr>
                    <a:solidFill>
                      <a:srgbClr val="F4F6FB"/>
                    </a:solidFill>
                  </a:tcPr>
                </a:tc>
              </a:tr>
              <a:tr h="457200">
                <a:tc>
                  <a:txBody>
                    <a:bodyPr wrap="square" lIns="54864" rIns="54864" tIns="36576" bIns="36576" anchor="t"/>
                    <a:lstStyle/>
                    <a:p>
                      <a:pPr algn="l"/>
                      <a:r>
                        <a:rPr sz="900" b="0" i="0">
                          <a:solidFill>
                            <a:srgbClr val="121212"/>
                          </a:solidFill>
                          <a:latin typeface="Calibri"/>
                        </a:rPr>
                        <a:t>Привилегии</a:t>
                      </a:r>
                    </a:p>
                  </a:txBody>
                  <a:tcPr>
                    <a:solidFill>
                      <a:srgbClr val="FFFFFF"/>
                    </a:solidFill>
                  </a:tcPr>
                </a:tc>
                <a:tc>
                  <a:txBody>
                    <a:bodyPr wrap="square" lIns="54864" rIns="54864" tIns="36576" bIns="36576" anchor="t"/>
                    <a:lstStyle/>
                    <a:p>
                      <a:pPr algn="l"/>
                      <a:r>
                        <a:rPr sz="900" b="0" i="0">
                          <a:solidFill>
                            <a:srgbClr val="121212"/>
                          </a:solidFill>
                          <a:latin typeface="Calibri"/>
                        </a:rPr>
                        <a:t>TOTP для изменения моделей и экспорта индикаторов</a:t>
                      </a:r>
                    </a:p>
                  </a:txBody>
                  <a:tcPr>
                    <a:solidFill>
                      <a:srgbClr val="FFFFFF"/>
                    </a:solidFill>
                  </a:tcPr>
                </a:tc>
              </a:tr>
              <a:tr h="457200">
                <a:tc>
                  <a:txBody>
                    <a:bodyPr wrap="square" lIns="54864" rIns="54864" tIns="36576" bIns="36576" anchor="t"/>
                    <a:lstStyle/>
                    <a:p>
                      <a:pPr algn="l"/>
                      <a:r>
                        <a:rPr sz="900" b="0" i="0">
                          <a:solidFill>
                            <a:srgbClr val="121212"/>
                          </a:solidFill>
                          <a:latin typeface="Calibri"/>
                        </a:rPr>
                        <a:t>Аудит</a:t>
                      </a:r>
                    </a:p>
                  </a:txBody>
                  <a:tcPr>
                    <a:solidFill>
                      <a:srgbClr val="F4F6FB"/>
                    </a:solidFill>
                  </a:tcPr>
                </a:tc>
                <a:tc>
                  <a:txBody>
                    <a:bodyPr wrap="square" lIns="54864" rIns="54864" tIns="36576" bIns="36576" anchor="t"/>
                    <a:lstStyle/>
                    <a:p>
                      <a:pPr algn="l"/>
                      <a:r>
                        <a:rPr sz="900" b="0" i="0">
                          <a:solidFill>
                            <a:srgbClr val="121212"/>
                          </a:solidFill>
                          <a:latin typeface="Calibri"/>
                        </a:rPr>
                        <a:t>Неизменяемый журнал ≥ 12 мес, недоступен Administrator</a:t>
                      </a:r>
                    </a:p>
                  </a:txBody>
                  <a:tcPr>
                    <a:solidFill>
                      <a:srgbClr val="F4F6FB"/>
                    </a:solidFill>
                  </a:tcPr>
                </a:tc>
              </a:tr>
            </a:tbl>
          </a:graphicData>
        </a:graphic>
      </p:graphicFrame>
      <p:sp>
        <p:nvSpPr>
          <p:cNvPr id="13" name="Rectangle 12"/>
          <p:cNvSpPr/>
          <p:nvPr/>
        </p:nvSpPr>
        <p:spPr>
          <a:xfrm>
            <a:off x="4617720" y="3200400"/>
            <a:ext cx="4114800" cy="502920"/>
          </a:xfrm>
          <a:prstGeom prst="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17720" y="3200400"/>
            <a:ext cx="4114800" cy="50292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4.4.6  Сохранность при авариях</a:t>
            </a:r>
          </a:p>
        </p:txBody>
      </p:sp>
      <p:graphicFrame>
        <p:nvGraphicFramePr>
          <p:cNvPr id="15" name="Table 14"/>
          <p:cNvGraphicFramePr>
            <a:graphicFrameLocks noGrp="1"/>
          </p:cNvGraphicFramePr>
          <p:nvPr/>
        </p:nvGraphicFramePr>
        <p:xfrm>
          <a:off x="4617720" y="3776472"/>
          <a:ext cx="4114800" cy="2286000"/>
        </p:xfrm>
        <a:graphic>
          <a:graphicData uri="http://schemas.openxmlformats.org/drawingml/2006/table">
            <a:tbl>
              <a:tblPr firstRow="1" bandRow="1">
                <a:tableStyleId>{5C22544A-7EE6-4342-B048-85BDC9FD1C3A}</a:tableStyleId>
              </a:tblPr>
              <a:tblGrid>
                <a:gridCol w="1463040"/>
                <a:gridCol w="2651760"/>
              </a:tblGrid>
              <a:tr h="457200">
                <a:tc>
                  <a:txBody>
                    <a:bodyPr wrap="square" lIns="54864" rIns="54864" tIns="36576" bIns="36576" anchor="ctr"/>
                    <a:lstStyle/>
                    <a:p>
                      <a:pPr algn="ctr"/>
                      <a:r>
                        <a:rPr sz="1000" b="1" i="0">
                          <a:solidFill>
                            <a:srgbClr val="1E2761"/>
                          </a:solidFill>
                          <a:latin typeface="Calibri"/>
                        </a:rPr>
                        <a:t>Контур</a:t>
                      </a:r>
                    </a:p>
                  </a:txBody>
                  <a:tcPr>
                    <a:solidFill>
                      <a:srgbClr val="CADCFC"/>
                    </a:solidFill>
                  </a:tcPr>
                </a:tc>
                <a:tc>
                  <a:txBody>
                    <a:bodyPr wrap="square" lIns="54864" rIns="54864" tIns="36576" bIns="36576" anchor="ctr"/>
                    <a:lstStyle/>
                    <a:p>
                      <a:pPr algn="ctr"/>
                      <a:r>
                        <a:rPr sz="1000" b="1" i="0">
                          <a:solidFill>
                            <a:srgbClr val="1E2761"/>
                          </a:solidFill>
                          <a:latin typeface="Calibri"/>
                        </a:rPr>
                        <a:t>Что обеспечивает</a:t>
                      </a:r>
                    </a:p>
                  </a:txBody>
                  <a:tcPr>
                    <a:solidFill>
                      <a:srgbClr val="CADCFC"/>
                    </a:solidFill>
                  </a:tcPr>
                </a:tc>
              </a:tr>
              <a:tr h="457200">
                <a:tc>
                  <a:txBody>
                    <a:bodyPr wrap="square" lIns="54864" rIns="54864" tIns="36576" bIns="36576" anchor="t"/>
                    <a:lstStyle/>
                    <a:p>
                      <a:pPr algn="l"/>
                      <a:r>
                        <a:rPr sz="900" b="0" i="0">
                          <a:solidFill>
                            <a:srgbClr val="121212"/>
                          </a:solidFill>
                          <a:latin typeface="Calibri"/>
                        </a:rPr>
                        <a:t>Резервное копирование</a:t>
                      </a:r>
                    </a:p>
                  </a:txBody>
                  <a:tcPr>
                    <a:solidFill>
                      <a:srgbClr val="FFFFFF"/>
                    </a:solidFill>
                  </a:tcPr>
                </a:tc>
                <a:tc>
                  <a:txBody>
                    <a:bodyPr wrap="square" lIns="54864" rIns="54864" tIns="36576" bIns="36576" anchor="t"/>
                    <a:lstStyle/>
                    <a:p>
                      <a:pPr algn="l"/>
                      <a:r>
                        <a:rPr sz="900" b="0" i="0">
                          <a:solidFill>
                            <a:srgbClr val="121212"/>
                          </a:solidFill>
                          <a:latin typeface="Calibri"/>
                        </a:rPr>
                        <a:t>PostgreSQL — ежедневно, хранение ≥ 30 сут</a:t>
                      </a:r>
                    </a:p>
                  </a:txBody>
                  <a:tcPr>
                    <a:solidFill>
                      <a:srgbClr val="FFFFFF"/>
                    </a:solidFill>
                  </a:tcPr>
                </a:tc>
              </a:tr>
              <a:tr h="457200">
                <a:tc>
                  <a:txBody>
                    <a:bodyPr wrap="square" lIns="54864" rIns="54864" tIns="36576" bIns="36576" anchor="t"/>
                    <a:lstStyle/>
                    <a:p>
                      <a:pPr algn="l"/>
                      <a:r>
                        <a:rPr sz="900" b="0" i="0">
                          <a:solidFill>
                            <a:srgbClr val="121212"/>
                          </a:solidFill>
                          <a:latin typeface="Calibri"/>
                        </a:rPr>
                        <a:t>Снимки перед обновлениями</a:t>
                      </a:r>
                    </a:p>
                  </a:txBody>
                  <a:tcPr>
                    <a:solidFill>
                      <a:srgbClr val="F4F6FB"/>
                    </a:solidFill>
                  </a:tcPr>
                </a:tc>
                <a:tc>
                  <a:txBody>
                    <a:bodyPr wrap="square" lIns="54864" rIns="54864" tIns="36576" bIns="36576" anchor="t"/>
                    <a:lstStyle/>
                    <a:p>
                      <a:pPr algn="l"/>
                      <a:r>
                        <a:rPr sz="900" b="0" i="0">
                          <a:solidFill>
                            <a:srgbClr val="121212"/>
                          </a:solidFill>
                          <a:latin typeface="Calibri"/>
                        </a:rPr>
                        <a:t>Срок хранения 90 сут</a:t>
                      </a:r>
                    </a:p>
                  </a:txBody>
                  <a:tcPr>
                    <a:solidFill>
                      <a:srgbClr val="F4F6FB"/>
                    </a:solidFill>
                  </a:tcPr>
                </a:tc>
              </a:tr>
              <a:tr h="457200">
                <a:tc>
                  <a:txBody>
                    <a:bodyPr wrap="square" lIns="54864" rIns="54864" tIns="36576" bIns="36576" anchor="t"/>
                    <a:lstStyle/>
                    <a:p>
                      <a:pPr algn="l"/>
                      <a:r>
                        <a:rPr sz="900" b="0" i="0">
                          <a:solidFill>
                            <a:srgbClr val="121212"/>
                          </a:solidFill>
                          <a:latin typeface="Calibri"/>
                        </a:rPr>
                        <a:t>Живучесть</a:t>
                      </a:r>
                    </a:p>
                  </a:txBody>
                  <a:tcPr>
                    <a:solidFill>
                      <a:srgbClr val="FFFFFF"/>
                    </a:solidFill>
                  </a:tcPr>
                </a:tc>
                <a:tc>
                  <a:txBody>
                    <a:bodyPr wrap="square" lIns="54864" rIns="54864" tIns="36576" bIns="36576" anchor="t"/>
                    <a:lstStyle/>
                    <a:p>
                      <a:pPr algn="l"/>
                      <a:r>
                        <a:rPr sz="900" b="0" i="0">
                          <a:solidFill>
                            <a:srgbClr val="121212"/>
                          </a:solidFill>
                          <a:latin typeface="Calibri"/>
                        </a:rPr>
                        <a:t>WAL для транзакций, версионирование весов модели</a:t>
                      </a:r>
                    </a:p>
                  </a:txBody>
                  <a:tcPr>
                    <a:solidFill>
                      <a:srgbClr val="FFFFFF"/>
                    </a:solidFill>
                  </a:tcPr>
                </a:tc>
              </a:tr>
              <a:tr h="457200">
                <a:tc>
                  <a:txBody>
                    <a:bodyPr wrap="square" lIns="54864" rIns="54864" tIns="36576" bIns="36576" anchor="t"/>
                    <a:lstStyle/>
                    <a:p>
                      <a:pPr algn="l"/>
                      <a:r>
                        <a:rPr sz="900" b="0" i="0">
                          <a:solidFill>
                            <a:srgbClr val="121212"/>
                          </a:solidFill>
                          <a:latin typeface="Calibri"/>
                        </a:rPr>
                        <a:t>Контроль восстановления</a:t>
                      </a:r>
                    </a:p>
                  </a:txBody>
                  <a:tcPr>
                    <a:solidFill>
                      <a:srgbClr val="F4F6FB"/>
                    </a:solidFill>
                  </a:tcPr>
                </a:tc>
                <a:tc>
                  <a:txBody>
                    <a:bodyPr wrap="square" lIns="54864" rIns="54864" tIns="36576" bIns="36576" anchor="t"/>
                    <a:lstStyle/>
                    <a:p>
                      <a:pPr algn="l"/>
                      <a:r>
                        <a:rPr sz="900" b="0" i="0">
                          <a:solidFill>
                            <a:srgbClr val="121212"/>
                          </a:solidFill>
                          <a:latin typeface="Calibri"/>
                        </a:rPr>
                        <a:t>Регламент + ежеквартальная проверка</a:t>
                      </a:r>
                    </a:p>
                  </a:txBody>
                  <a:tcPr>
                    <a:solidFill>
                      <a:srgbClr val="F4F6F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4.4.3  Требования к безопасности</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6</a:t>
            </a:r>
          </a:p>
        </p:txBody>
      </p:sp>
      <p:sp>
        <p:nvSpPr>
          <p:cNvPr id="7" name="TextBox 6"/>
          <p:cNvSpPr txBox="1"/>
          <p:nvPr/>
        </p:nvSpPr>
        <p:spPr>
          <a:xfrm>
            <a:off x="411480" y="1005840"/>
            <a:ext cx="8321040" cy="1097280"/>
          </a:xfrm>
          <a:prstGeom prst="rect">
            <a:avLst/>
          </a:prstGeom>
          <a:noFill/>
          <a:ln>
            <a:noFill/>
          </a:ln>
        </p:spPr>
        <p:txBody>
          <a:bodyPr wrap="square" lIns="45720" rIns="45720" tIns="36576" bIns="36576" anchor="t">
            <a:spAutoFit/>
          </a:bodyPr>
          <a:lstStyle/>
          <a:p>
            <a:pPr algn="just"/>
            <a:r>
              <a:rPr sz="1100" b="0" i="0">
                <a:solidFill>
                  <a:srgbClr val="121212"/>
                </a:solidFill>
                <a:latin typeface="Calibri"/>
              </a:rPr>
              <a:t>Безопасность обрабатываемых данных, включая обучающие выборки и результаты прогнозирования, обеспечивается применением современных криптографических стандартов (AES-256 для хранения и TLS 1.3 для передачи). Программно-технический комплекс должен обладать встроенной устойчивостью к попыткам несанкционированного воздействия, включая DDoS-атаки на узлы сбора и попытки эксплуатации уязвимостей в API-интерфейсах.</a:t>
            </a:r>
          </a:p>
        </p:txBody>
      </p:sp>
      <p:sp>
        <p:nvSpPr>
          <p:cNvPr id="8" name="Rectangle 7"/>
          <p:cNvSpPr/>
          <p:nvPr/>
        </p:nvSpPr>
        <p:spPr>
          <a:xfrm>
            <a:off x="411480" y="2194560"/>
            <a:ext cx="8321040" cy="4114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2194560"/>
            <a:ext cx="8321040" cy="41148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Таблица угроз безопасности (БДУ ФСТЭК)</a:t>
            </a:r>
          </a:p>
        </p:txBody>
      </p:sp>
      <p:graphicFrame>
        <p:nvGraphicFramePr>
          <p:cNvPr id="10" name="Table 9"/>
          <p:cNvGraphicFramePr>
            <a:graphicFrameLocks noGrp="1"/>
          </p:cNvGraphicFramePr>
          <p:nvPr/>
        </p:nvGraphicFramePr>
        <p:xfrm>
          <a:off x="411480" y="2670048"/>
          <a:ext cx="8321040" cy="3749040"/>
        </p:xfrm>
        <a:graphic>
          <a:graphicData uri="http://schemas.openxmlformats.org/drawingml/2006/table">
            <a:tbl>
              <a:tblPr firstRow="1" bandRow="1">
                <a:tableStyleId>{5C22544A-7EE6-4342-B048-85BDC9FD1C3A}</a:tableStyleId>
              </a:tblPr>
              <a:tblGrid>
                <a:gridCol w="777240"/>
                <a:gridCol w="1691640"/>
                <a:gridCol w="1417320"/>
                <a:gridCol w="1417320"/>
                <a:gridCol w="3017520"/>
              </a:tblGrid>
              <a:tr h="365760">
                <a:tc>
                  <a:txBody>
                    <a:bodyPr wrap="square" lIns="54864" rIns="54864" tIns="36576" bIns="36576" anchor="ctr"/>
                    <a:lstStyle/>
                    <a:p>
                      <a:pPr algn="ctr"/>
                      <a:r>
                        <a:rPr sz="1000" b="1" i="0">
                          <a:solidFill>
                            <a:srgbClr val="FFFFFF"/>
                          </a:solidFill>
                          <a:latin typeface="Calibri"/>
                        </a:rPr>
                        <a:t>ID БДУ</a:t>
                      </a:r>
                    </a:p>
                  </a:txBody>
                  <a:tcPr>
                    <a:solidFill>
                      <a:srgbClr val="1E2761"/>
                    </a:solidFill>
                  </a:tcPr>
                </a:tc>
                <a:tc>
                  <a:txBody>
                    <a:bodyPr wrap="square" lIns="54864" rIns="54864" tIns="36576" bIns="36576" anchor="ctr"/>
                    <a:lstStyle/>
                    <a:p>
                      <a:pPr algn="ctr"/>
                      <a:r>
                        <a:rPr sz="1000" b="1" i="0">
                          <a:solidFill>
                            <a:srgbClr val="FFFFFF"/>
                          </a:solidFill>
                          <a:latin typeface="Calibri"/>
                        </a:rPr>
                        <a:t>Угроза</a:t>
                      </a:r>
                    </a:p>
                  </a:txBody>
                  <a:tcPr>
                    <a:solidFill>
                      <a:srgbClr val="1E2761"/>
                    </a:solidFill>
                  </a:tcPr>
                </a:tc>
                <a:tc>
                  <a:txBody>
                    <a:bodyPr wrap="square" lIns="54864" rIns="54864" tIns="36576" bIns="36576" anchor="ctr"/>
                    <a:lstStyle/>
                    <a:p>
                      <a:pPr algn="ctr"/>
                      <a:r>
                        <a:rPr sz="1000" b="1" i="0">
                          <a:solidFill>
                            <a:srgbClr val="FFFFFF"/>
                          </a:solidFill>
                          <a:latin typeface="Calibri"/>
                        </a:rPr>
                        <a:t>Объект</a:t>
                      </a:r>
                    </a:p>
                  </a:txBody>
                  <a:tcPr>
                    <a:solidFill>
                      <a:srgbClr val="1E2761"/>
                    </a:solidFill>
                  </a:tcPr>
                </a:tc>
                <a:tc>
                  <a:txBody>
                    <a:bodyPr wrap="square" lIns="54864" rIns="54864" tIns="36576" bIns="36576" anchor="ctr"/>
                    <a:lstStyle/>
                    <a:p>
                      <a:pPr algn="ctr"/>
                      <a:r>
                        <a:rPr sz="1000" b="1" i="0">
                          <a:solidFill>
                            <a:srgbClr val="FFFFFF"/>
                          </a:solidFill>
                          <a:latin typeface="Calibri"/>
                        </a:rPr>
                        <a:t>Нарушитель</a:t>
                      </a:r>
                    </a:p>
                  </a:txBody>
                  <a:tcPr>
                    <a:solidFill>
                      <a:srgbClr val="1E2761"/>
                    </a:solidFill>
                  </a:tcPr>
                </a:tc>
                <a:tc>
                  <a:txBody>
                    <a:bodyPr wrap="square" lIns="54864" rIns="54864" tIns="36576" bIns="36576" anchor="ctr"/>
                    <a:lstStyle/>
                    <a:p>
                      <a:pPr algn="ctr"/>
                      <a:r>
                        <a:rPr sz="1000" b="1" i="0">
                          <a:solidFill>
                            <a:srgbClr val="FFFFFF"/>
                          </a:solidFill>
                          <a:latin typeface="Calibri"/>
                        </a:rPr>
                        <a:t>Сценарий (привязка к ТЗ)</a:t>
                      </a:r>
                    </a:p>
                  </a:txBody>
                  <a:tcPr>
                    <a:solidFill>
                      <a:srgbClr val="1E2761"/>
                    </a:solidFill>
                  </a:tcPr>
                </a:tc>
              </a:tr>
              <a:tr h="1691640">
                <a:tc>
                  <a:txBody>
                    <a:bodyPr wrap="square" lIns="54864" rIns="54864" tIns="36576" bIns="36576" anchor="t"/>
                    <a:lstStyle/>
                    <a:p>
                      <a:pPr algn="l"/>
                      <a:r>
                        <a:rPr sz="800" b="0" i="0">
                          <a:solidFill>
                            <a:srgbClr val="121212"/>
                          </a:solidFill>
                          <a:latin typeface="Calibri"/>
                        </a:rPr>
                        <a:t>УБИ.221</a:t>
                      </a:r>
                    </a:p>
                  </a:txBody>
                  <a:tcPr>
                    <a:solidFill>
                      <a:srgbClr val="FFFFFF"/>
                    </a:solidFill>
                  </a:tcPr>
                </a:tc>
                <a:tc>
                  <a:txBody>
                    <a:bodyPr wrap="square" lIns="54864" rIns="54864" tIns="36576" bIns="36576" anchor="t"/>
                    <a:lstStyle/>
                    <a:p>
                      <a:pPr algn="l"/>
                      <a:r>
                        <a:rPr sz="800" b="0" i="0">
                          <a:solidFill>
                            <a:srgbClr val="121212"/>
                          </a:solidFill>
                          <a:latin typeface="Calibri"/>
                        </a:rPr>
                        <a:t>Модификация модели машинного обучения путём искажения («отравления») обучающих данных</a:t>
                      </a:r>
                    </a:p>
                  </a:txBody>
                  <a:tcPr>
                    <a:solidFill>
                      <a:srgbClr val="FFFFFF"/>
                    </a:solidFill>
                  </a:tcPr>
                </a:tc>
                <a:tc>
                  <a:txBody>
                    <a:bodyPr wrap="square" lIns="54864" rIns="54864" tIns="36576" bIns="36576" anchor="t"/>
                    <a:lstStyle/>
                    <a:p>
                      <a:pPr algn="l"/>
                      <a:r>
                        <a:rPr sz="800" b="0" i="0">
                          <a:solidFill>
                            <a:srgbClr val="121212"/>
                          </a:solidFill>
                          <a:latin typeface="Calibri"/>
                        </a:rPr>
                        <a:t>База индикаторов фишинга, обучающие выборки в PostgreSQL</a:t>
                      </a:r>
                    </a:p>
                  </a:txBody>
                  <a:tcPr>
                    <a:solidFill>
                      <a:srgbClr val="FFFFFF"/>
                    </a:solidFill>
                  </a:tcPr>
                </a:tc>
                <a:tc>
                  <a:txBody>
                    <a:bodyPr wrap="square" lIns="54864" rIns="54864" tIns="36576" bIns="36576" anchor="t"/>
                    <a:lstStyle/>
                    <a:p>
                      <a:pPr algn="l"/>
                      <a:r>
                        <a:rPr sz="800" b="0" i="0">
                          <a:solidFill>
                            <a:srgbClr val="121212"/>
                          </a:solidFill>
                          <a:latin typeface="Calibri"/>
                        </a:rPr>
                        <a:t>Внешний (Н2) с высоким потенциалом, внутренний (Н1)</a:t>
                      </a:r>
                    </a:p>
                  </a:txBody>
                  <a:tcPr>
                    <a:solidFill>
                      <a:srgbClr val="FFFFFF"/>
                    </a:solidFill>
                  </a:tcPr>
                </a:tc>
                <a:tc>
                  <a:txBody>
                    <a:bodyPr wrap="square" lIns="54864" rIns="54864" tIns="36576" bIns="36576" anchor="t"/>
                    <a:lstStyle/>
                    <a:p>
                      <a:pPr algn="l"/>
                      <a:r>
                        <a:rPr sz="800" b="0" i="0">
                          <a:solidFill>
                            <a:srgbClr val="121212"/>
                          </a:solidFill>
                          <a:latin typeface="Calibri"/>
                        </a:rPr>
                        <a:t>Нарушитель внедряет в обучающую выборку через API сбора или ручной импорт (п. 3.2 ТЗ) размеченные данные, где фишинговые URL помечены как легитимные. При плановом обновлении модели классификатор начинает игнорировать определённые паттерны атак, что снижает точность детекции.</a:t>
                      </a:r>
                    </a:p>
                  </a:txBody>
                  <a:tcPr>
                    <a:solidFill>
                      <a:srgbClr val="FFFFFF"/>
                    </a:solidFill>
                  </a:tcPr>
                </a:tc>
              </a:tr>
              <a:tr h="1691640">
                <a:tc>
                  <a:txBody>
                    <a:bodyPr wrap="square" lIns="54864" rIns="54864" tIns="36576" bIns="36576" anchor="t"/>
                    <a:lstStyle/>
                    <a:p>
                      <a:pPr algn="l"/>
                      <a:r>
                        <a:rPr sz="800" b="0" i="0">
                          <a:solidFill>
                            <a:srgbClr val="121212"/>
                          </a:solidFill>
                          <a:latin typeface="Calibri"/>
                        </a:rPr>
                        <a:t>УБИ.017</a:t>
                      </a:r>
                    </a:p>
                  </a:txBody>
                  <a:tcPr>
                    <a:solidFill>
                      <a:srgbClr val="F4F6FB"/>
                    </a:solidFill>
                  </a:tcPr>
                </a:tc>
                <a:tc>
                  <a:txBody>
                    <a:bodyPr wrap="square" lIns="54864" rIns="54864" tIns="36576" bIns="36576" anchor="t"/>
                    <a:lstStyle/>
                    <a:p>
                      <a:pPr algn="l"/>
                      <a:r>
                        <a:rPr sz="800" b="0" i="0">
                          <a:solidFill>
                            <a:srgbClr val="121212"/>
                          </a:solidFill>
                          <a:latin typeface="Calibri"/>
                        </a:rPr>
                        <a:t>Блокировка интерфейсов захвата (DoS на шлюз приёма данных)</a:t>
                      </a:r>
                    </a:p>
                  </a:txBody>
                  <a:tcPr>
                    <a:solidFill>
                      <a:srgbClr val="F4F6FB"/>
                    </a:solidFill>
                  </a:tcPr>
                </a:tc>
                <a:tc>
                  <a:txBody>
                    <a:bodyPr wrap="square" lIns="54864" rIns="54864" tIns="36576" bIns="36576" anchor="t"/>
                    <a:lstStyle/>
                    <a:p>
                      <a:pPr algn="l"/>
                      <a:r>
                        <a:rPr sz="800" b="0" i="0">
                          <a:solidFill>
                            <a:srgbClr val="121212"/>
                          </a:solidFill>
                          <a:latin typeface="Calibri"/>
                        </a:rPr>
                        <a:t>Шлюз FastAPI, брокер задач Redis</a:t>
                      </a:r>
                    </a:p>
                  </a:txBody>
                  <a:tcPr>
                    <a:solidFill>
                      <a:srgbClr val="F4F6FB"/>
                    </a:solidFill>
                  </a:tcPr>
                </a:tc>
                <a:tc>
                  <a:txBody>
                    <a:bodyPr wrap="square" lIns="54864" rIns="54864" tIns="36576" bIns="36576" anchor="t"/>
                    <a:lstStyle/>
                    <a:p>
                      <a:pPr algn="l"/>
                      <a:r>
                        <a:rPr sz="800" b="0" i="0">
                          <a:solidFill>
                            <a:srgbClr val="121212"/>
                          </a:solidFill>
                          <a:latin typeface="Calibri"/>
                        </a:rPr>
                        <a:t>Внешний (Н2) — злоумышленник, бот-нет</a:t>
                      </a:r>
                    </a:p>
                  </a:txBody>
                  <a:tcPr>
                    <a:solidFill>
                      <a:srgbClr val="F4F6FB"/>
                    </a:solidFill>
                  </a:tcPr>
                </a:tc>
                <a:tc>
                  <a:txBody>
                    <a:bodyPr wrap="square" lIns="54864" rIns="54864" tIns="36576" bIns="36576" anchor="t"/>
                    <a:lstStyle/>
                    <a:p>
                      <a:pPr algn="l"/>
                      <a:r>
                        <a:rPr sz="800" b="0" i="0">
                          <a:solidFill>
                            <a:srgbClr val="121212"/>
                          </a:solidFill>
                          <a:latin typeface="Calibri"/>
                        </a:rPr>
                        <a:t>Целенаправленная атака типа «отказ в обслуживании» на эндпоинты приёма URL. Нарушитель исчерпывает лимиты соединений или квоты Celery-воркеров (п. 3.3.1 ТЗ), блокируя возможность обработки реальных жалоб и сигналов пользователей, что переводит систему в аварийный режим.</a:t>
                      </a:r>
                    </a:p>
                  </a:txBody>
                  <a:tcPr>
                    <a:solidFill>
                      <a:srgbClr val="F4F6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4.4.3  Требования к безопасности — угрозы (продолжение)</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7</a:t>
            </a:r>
          </a:p>
        </p:txBody>
      </p:sp>
      <p:sp>
        <p:nvSpPr>
          <p:cNvPr id="7" name="Rectangle 6"/>
          <p:cNvSpPr/>
          <p:nvPr/>
        </p:nvSpPr>
        <p:spPr>
          <a:xfrm>
            <a:off x="411480" y="1005840"/>
            <a:ext cx="8321040" cy="4114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1005840"/>
            <a:ext cx="8321040" cy="41148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Таблица угроз — продолжение</a:t>
            </a:r>
          </a:p>
        </p:txBody>
      </p:sp>
      <p:graphicFrame>
        <p:nvGraphicFramePr>
          <p:cNvPr id="9" name="Table 8"/>
          <p:cNvGraphicFramePr>
            <a:graphicFrameLocks noGrp="1"/>
          </p:cNvGraphicFramePr>
          <p:nvPr/>
        </p:nvGraphicFramePr>
        <p:xfrm>
          <a:off x="411480" y="1481328"/>
          <a:ext cx="8321040" cy="2011680"/>
        </p:xfrm>
        <a:graphic>
          <a:graphicData uri="http://schemas.openxmlformats.org/drawingml/2006/table">
            <a:tbl>
              <a:tblPr firstRow="1" bandRow="1">
                <a:tableStyleId>{5C22544A-7EE6-4342-B048-85BDC9FD1C3A}</a:tableStyleId>
              </a:tblPr>
              <a:tblGrid>
                <a:gridCol w="777240"/>
                <a:gridCol w="1691640"/>
                <a:gridCol w="1417320"/>
                <a:gridCol w="1417320"/>
                <a:gridCol w="3017520"/>
              </a:tblGrid>
              <a:tr h="365760">
                <a:tc>
                  <a:txBody>
                    <a:bodyPr wrap="square" lIns="54864" rIns="54864" tIns="36576" bIns="36576" anchor="ctr"/>
                    <a:lstStyle/>
                    <a:p>
                      <a:pPr algn="ctr"/>
                      <a:r>
                        <a:rPr sz="1000" b="1" i="0">
                          <a:solidFill>
                            <a:srgbClr val="FFFFFF"/>
                          </a:solidFill>
                          <a:latin typeface="Calibri"/>
                        </a:rPr>
                        <a:t>ID БДУ</a:t>
                      </a:r>
                    </a:p>
                  </a:txBody>
                  <a:tcPr>
                    <a:solidFill>
                      <a:srgbClr val="1E2761"/>
                    </a:solidFill>
                  </a:tcPr>
                </a:tc>
                <a:tc>
                  <a:txBody>
                    <a:bodyPr wrap="square" lIns="54864" rIns="54864" tIns="36576" bIns="36576" anchor="ctr"/>
                    <a:lstStyle/>
                    <a:p>
                      <a:pPr algn="ctr"/>
                      <a:r>
                        <a:rPr sz="1000" b="1" i="0">
                          <a:solidFill>
                            <a:srgbClr val="FFFFFF"/>
                          </a:solidFill>
                          <a:latin typeface="Calibri"/>
                        </a:rPr>
                        <a:t>Угроза</a:t>
                      </a:r>
                    </a:p>
                  </a:txBody>
                  <a:tcPr>
                    <a:solidFill>
                      <a:srgbClr val="1E2761"/>
                    </a:solidFill>
                  </a:tcPr>
                </a:tc>
                <a:tc>
                  <a:txBody>
                    <a:bodyPr wrap="square" lIns="54864" rIns="54864" tIns="36576" bIns="36576" anchor="ctr"/>
                    <a:lstStyle/>
                    <a:p>
                      <a:pPr algn="ctr"/>
                      <a:r>
                        <a:rPr sz="1000" b="1" i="0">
                          <a:solidFill>
                            <a:srgbClr val="FFFFFF"/>
                          </a:solidFill>
                          <a:latin typeface="Calibri"/>
                        </a:rPr>
                        <a:t>Объект</a:t>
                      </a:r>
                    </a:p>
                  </a:txBody>
                  <a:tcPr>
                    <a:solidFill>
                      <a:srgbClr val="1E2761"/>
                    </a:solidFill>
                  </a:tcPr>
                </a:tc>
                <a:tc>
                  <a:txBody>
                    <a:bodyPr wrap="square" lIns="54864" rIns="54864" tIns="36576" bIns="36576" anchor="ctr"/>
                    <a:lstStyle/>
                    <a:p>
                      <a:pPr algn="ctr"/>
                      <a:r>
                        <a:rPr sz="1000" b="1" i="0">
                          <a:solidFill>
                            <a:srgbClr val="FFFFFF"/>
                          </a:solidFill>
                          <a:latin typeface="Calibri"/>
                        </a:rPr>
                        <a:t>Нарушитель</a:t>
                      </a:r>
                    </a:p>
                  </a:txBody>
                  <a:tcPr>
                    <a:solidFill>
                      <a:srgbClr val="1E2761"/>
                    </a:solidFill>
                  </a:tcPr>
                </a:tc>
                <a:tc>
                  <a:txBody>
                    <a:bodyPr wrap="square" lIns="54864" rIns="54864" tIns="36576" bIns="36576" anchor="ctr"/>
                    <a:lstStyle/>
                    <a:p>
                      <a:pPr algn="ctr"/>
                      <a:r>
                        <a:rPr sz="1000" b="1" i="0">
                          <a:solidFill>
                            <a:srgbClr val="FFFFFF"/>
                          </a:solidFill>
                          <a:latin typeface="Calibri"/>
                        </a:rPr>
                        <a:t>Сценарий (привязка к ТЗ)</a:t>
                      </a:r>
                    </a:p>
                  </a:txBody>
                  <a:tcPr>
                    <a:solidFill>
                      <a:srgbClr val="1E2761"/>
                    </a:solidFill>
                  </a:tcPr>
                </a:tc>
              </a:tr>
              <a:tr h="1645920">
                <a:tc>
                  <a:txBody>
                    <a:bodyPr wrap="square" lIns="54864" rIns="54864" tIns="36576" bIns="36576" anchor="t"/>
                    <a:lstStyle/>
                    <a:p>
                      <a:pPr algn="l"/>
                      <a:r>
                        <a:rPr sz="800" b="0" i="0">
                          <a:solidFill>
                            <a:srgbClr val="121212"/>
                          </a:solidFill>
                          <a:latin typeface="Calibri"/>
                        </a:rPr>
                        <a:t>УБИ.042</a:t>
                      </a:r>
                    </a:p>
                  </a:txBody>
                  <a:tcPr>
                    <a:solidFill>
                      <a:srgbClr val="FFFFFF"/>
                    </a:solidFill>
                  </a:tcPr>
                </a:tc>
                <a:tc>
                  <a:txBody>
                    <a:bodyPr wrap="square" lIns="54864" rIns="54864" tIns="36576" bIns="36576" anchor="t"/>
                    <a:lstStyle/>
                    <a:p>
                      <a:pPr algn="l"/>
                      <a:r>
                        <a:rPr sz="800" b="0" i="0">
                          <a:solidFill>
                            <a:srgbClr val="121212"/>
                          </a:solidFill>
                          <a:latin typeface="Calibri"/>
                        </a:rPr>
                        <a:t>Подмена системных логов и модификация журналов событий</a:t>
                      </a:r>
                    </a:p>
                  </a:txBody>
                  <a:tcPr>
                    <a:solidFill>
                      <a:srgbClr val="FFFFFF"/>
                    </a:solidFill>
                  </a:tcPr>
                </a:tc>
                <a:tc>
                  <a:txBody>
                    <a:bodyPr wrap="square" lIns="54864" rIns="54864" tIns="36576" bIns="36576" anchor="t"/>
                    <a:lstStyle/>
                    <a:p>
                      <a:pPr algn="l"/>
                      <a:r>
                        <a:rPr sz="800" b="0" i="0">
                          <a:solidFill>
                            <a:srgbClr val="121212"/>
                          </a:solidFill>
                          <a:latin typeface="Calibri"/>
                        </a:rPr>
                        <a:t>Хранилище Elasticsearch, Audit Log</a:t>
                      </a:r>
                    </a:p>
                  </a:txBody>
                  <a:tcPr>
                    <a:solidFill>
                      <a:srgbClr val="FFFFFF"/>
                    </a:solidFill>
                  </a:tcPr>
                </a:tc>
                <a:tc>
                  <a:txBody>
                    <a:bodyPr wrap="square" lIns="54864" rIns="54864" tIns="36576" bIns="36576" anchor="t"/>
                    <a:lstStyle/>
                    <a:p>
                      <a:pPr algn="l"/>
                      <a:r>
                        <a:rPr sz="800" b="0" i="0">
                          <a:solidFill>
                            <a:srgbClr val="121212"/>
                          </a:solidFill>
                          <a:latin typeface="Calibri"/>
                        </a:rPr>
                        <a:t>Внутренний (Н3) — администратор скомпрометированной учётки</a:t>
                      </a:r>
                    </a:p>
                  </a:txBody>
                  <a:tcPr>
                    <a:solidFill>
                      <a:srgbClr val="FFFFFF"/>
                    </a:solidFill>
                  </a:tcPr>
                </a:tc>
                <a:tc>
                  <a:txBody>
                    <a:bodyPr wrap="square" lIns="54864" rIns="54864" tIns="36576" bIns="36576" anchor="t"/>
                    <a:lstStyle/>
                    <a:p>
                      <a:pPr algn="l"/>
                      <a:r>
                        <a:rPr sz="800" b="0" i="0">
                          <a:solidFill>
                            <a:srgbClr val="121212"/>
                          </a:solidFill>
                          <a:latin typeface="Calibri"/>
                        </a:rPr>
                        <a:t>Нарушитель модифицирует или удаляет записи о выявленных фишинговых ресурсах в базе данных (п. 4.12 ТЗ), чтобы скрыть факт компрометации конкретных доменов. Это препятствует формированию корректной отчётности и анализу исторической глубины угроз (24 месяца).</a:t>
                      </a:r>
                    </a:p>
                  </a:txBody>
                  <a:tcPr>
                    <a:solidFill>
                      <a:srgbClr val="FFFFFF"/>
                    </a:solidFill>
                  </a:tcPr>
                </a:tc>
              </a:tr>
            </a:tbl>
          </a:graphicData>
        </a:graphic>
      </p:graphicFrame>
      <p:sp>
        <p:nvSpPr>
          <p:cNvPr id="10" name="Rectangle 9"/>
          <p:cNvSpPr/>
          <p:nvPr/>
        </p:nvSpPr>
        <p:spPr>
          <a:xfrm>
            <a:off x="411480" y="3703320"/>
            <a:ext cx="8321040" cy="1097280"/>
          </a:xfrm>
          <a:prstGeom prst="rect">
            <a:avLst/>
          </a:prstGeom>
          <a:solidFill>
            <a:srgbClr val="F4F6FB"/>
          </a:solidFill>
          <a:ln w="1905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3794760"/>
            <a:ext cx="7955279" cy="914400"/>
          </a:xfrm>
          <a:prstGeom prst="rect">
            <a:avLst/>
          </a:prstGeom>
          <a:noFill/>
          <a:ln>
            <a:noFill/>
          </a:ln>
        </p:spPr>
        <p:txBody>
          <a:bodyPr wrap="square" lIns="45720" rIns="45720" tIns="36576" bIns="36576" anchor="ctr">
            <a:spAutoFit/>
          </a:bodyPr>
          <a:lstStyle/>
          <a:p>
            <a:pPr algn="ctr"/>
            <a:r>
              <a:rPr sz="1400" b="1" i="1">
                <a:solidFill>
                  <a:srgbClr val="1E2761"/>
                </a:solidFill>
                <a:latin typeface="Calibri"/>
              </a:rPr>
              <a:t>Особое внимание уделяется защите алгоритмов машинного обучения от манипуляций со стороны внешних нарушителей.</a:t>
            </a:r>
          </a:p>
        </p:txBody>
      </p:sp>
      <p:sp>
        <p:nvSpPr>
          <p:cNvPr id="12" name="TextBox 11"/>
          <p:cNvSpPr txBox="1"/>
          <p:nvPr/>
        </p:nvSpPr>
        <p:spPr>
          <a:xfrm>
            <a:off x="411480" y="4983480"/>
            <a:ext cx="8321040" cy="365760"/>
          </a:xfrm>
          <a:prstGeom prst="rect">
            <a:avLst/>
          </a:prstGeom>
          <a:noFill/>
          <a:ln>
            <a:noFill/>
          </a:ln>
        </p:spPr>
        <p:txBody>
          <a:bodyPr wrap="square" lIns="45720" rIns="45720" tIns="36576" bIns="36576" anchor="t">
            <a:spAutoFit/>
          </a:bodyPr>
          <a:lstStyle/>
          <a:p>
            <a:pPr algn="ctr"/>
            <a:r>
              <a:rPr sz="1200" b="1" i="0">
                <a:solidFill>
                  <a:srgbClr val="1E2761"/>
                </a:solidFill>
                <a:latin typeface="Calibri"/>
              </a:rPr>
              <a:t>Соответствие угроз и методов защиты</a:t>
            </a:r>
          </a:p>
        </p:txBody>
      </p:sp>
      <p:sp>
        <p:nvSpPr>
          <p:cNvPr id="13" name="Rectangle 12"/>
          <p:cNvSpPr/>
          <p:nvPr/>
        </p:nvSpPr>
        <p:spPr>
          <a:xfrm>
            <a:off x="502920" y="5349240"/>
            <a:ext cx="3931920" cy="36576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02920" y="5349240"/>
            <a:ext cx="3931920" cy="365760"/>
          </a:xfrm>
          <a:prstGeom prst="rect">
            <a:avLst/>
          </a:prstGeom>
          <a:noFill/>
          <a:ln>
            <a:noFill/>
          </a:ln>
        </p:spPr>
        <p:txBody>
          <a:bodyPr wrap="square" lIns="45720" rIns="45720" tIns="36576" bIns="36576" anchor="ctr">
            <a:spAutoFit/>
          </a:bodyPr>
          <a:lstStyle/>
          <a:p>
            <a:pPr algn="ctr"/>
            <a:r>
              <a:rPr sz="1000" b="1" i="0">
                <a:solidFill>
                  <a:srgbClr val="C0392B"/>
                </a:solidFill>
                <a:latin typeface="Calibri"/>
              </a:rPr>
              <a:t>УБИ.221 — отравление обучающих данных</a:t>
            </a:r>
          </a:p>
        </p:txBody>
      </p:sp>
      <p:sp>
        <p:nvSpPr>
          <p:cNvPr id="15" name="TextBox 14"/>
          <p:cNvSpPr txBox="1"/>
          <p:nvPr/>
        </p:nvSpPr>
        <p:spPr>
          <a:xfrm>
            <a:off x="4434840" y="5349240"/>
            <a:ext cx="274320" cy="365760"/>
          </a:xfrm>
          <a:prstGeom prst="rect">
            <a:avLst/>
          </a:prstGeom>
          <a:noFill/>
          <a:ln>
            <a:noFill/>
          </a:ln>
        </p:spPr>
        <p:txBody>
          <a:bodyPr wrap="square" lIns="45720" rIns="45720" tIns="36576" bIns="36576" anchor="ctr">
            <a:spAutoFit/>
          </a:bodyPr>
          <a:lstStyle/>
          <a:p>
            <a:pPr algn="ctr"/>
            <a:r>
              <a:rPr sz="1400" b="1" i="0">
                <a:solidFill>
                  <a:srgbClr val="1E2761"/>
                </a:solidFill>
                <a:latin typeface="Calibri"/>
              </a:rPr>
              <a:t>→</a:t>
            </a:r>
          </a:p>
        </p:txBody>
      </p:sp>
      <p:sp>
        <p:nvSpPr>
          <p:cNvPr id="16" name="Rectangle 15"/>
          <p:cNvSpPr/>
          <p:nvPr/>
        </p:nvSpPr>
        <p:spPr>
          <a:xfrm>
            <a:off x="4709160" y="5349240"/>
            <a:ext cx="4023360" cy="365760"/>
          </a:xfrm>
          <a:prstGeom prst="rect">
            <a:avLst/>
          </a:prstGeom>
          <a:solidFill>
            <a:srgbClr val="FFFFFF"/>
          </a:solidFill>
          <a:ln w="12700">
            <a:solidFill>
              <a:srgbClr val="2C6E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09160" y="5349240"/>
            <a:ext cx="4023360" cy="365760"/>
          </a:xfrm>
          <a:prstGeom prst="rect">
            <a:avLst/>
          </a:prstGeom>
          <a:noFill/>
          <a:ln>
            <a:noFill/>
          </a:ln>
        </p:spPr>
        <p:txBody>
          <a:bodyPr wrap="square" lIns="45720" rIns="45720" tIns="36576" bIns="36576" anchor="ctr">
            <a:spAutoFit/>
          </a:bodyPr>
          <a:lstStyle/>
          <a:p>
            <a:pPr algn="ctr"/>
            <a:r>
              <a:rPr sz="1000" b="1" i="0">
                <a:solidFill>
                  <a:srgbClr val="2C6E49"/>
                </a:solidFill>
                <a:latin typeface="Calibri"/>
              </a:rPr>
              <a:t>Санитизация и валидация обучающих выборок</a:t>
            </a:r>
          </a:p>
        </p:txBody>
      </p:sp>
      <p:sp>
        <p:nvSpPr>
          <p:cNvPr id="18" name="Rectangle 17"/>
          <p:cNvSpPr/>
          <p:nvPr/>
        </p:nvSpPr>
        <p:spPr>
          <a:xfrm>
            <a:off x="502920" y="5760720"/>
            <a:ext cx="3931920" cy="36576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2920" y="5760720"/>
            <a:ext cx="3931920" cy="365760"/>
          </a:xfrm>
          <a:prstGeom prst="rect">
            <a:avLst/>
          </a:prstGeom>
          <a:noFill/>
          <a:ln>
            <a:noFill/>
          </a:ln>
        </p:spPr>
        <p:txBody>
          <a:bodyPr wrap="square" lIns="45720" rIns="45720" tIns="36576" bIns="36576" anchor="ctr">
            <a:spAutoFit/>
          </a:bodyPr>
          <a:lstStyle/>
          <a:p>
            <a:pPr algn="ctr"/>
            <a:r>
              <a:rPr sz="1000" b="1" i="0">
                <a:solidFill>
                  <a:srgbClr val="C0392B"/>
                </a:solidFill>
                <a:latin typeface="Calibri"/>
              </a:rPr>
              <a:t>УБИ.017 — DoS на шлюз приёма</a:t>
            </a:r>
          </a:p>
        </p:txBody>
      </p:sp>
      <p:sp>
        <p:nvSpPr>
          <p:cNvPr id="20" name="TextBox 19"/>
          <p:cNvSpPr txBox="1"/>
          <p:nvPr/>
        </p:nvSpPr>
        <p:spPr>
          <a:xfrm>
            <a:off x="4434840" y="5760720"/>
            <a:ext cx="274320" cy="365760"/>
          </a:xfrm>
          <a:prstGeom prst="rect">
            <a:avLst/>
          </a:prstGeom>
          <a:noFill/>
          <a:ln>
            <a:noFill/>
          </a:ln>
        </p:spPr>
        <p:txBody>
          <a:bodyPr wrap="square" lIns="45720" rIns="45720" tIns="36576" bIns="36576" anchor="ctr">
            <a:spAutoFit/>
          </a:bodyPr>
          <a:lstStyle/>
          <a:p>
            <a:pPr algn="ctr"/>
            <a:r>
              <a:rPr sz="1400" b="1" i="0">
                <a:solidFill>
                  <a:srgbClr val="1E2761"/>
                </a:solidFill>
                <a:latin typeface="Calibri"/>
              </a:rPr>
              <a:t>→</a:t>
            </a:r>
          </a:p>
        </p:txBody>
      </p:sp>
      <p:sp>
        <p:nvSpPr>
          <p:cNvPr id="21" name="Rectangle 20"/>
          <p:cNvSpPr/>
          <p:nvPr/>
        </p:nvSpPr>
        <p:spPr>
          <a:xfrm>
            <a:off x="4709160" y="5760720"/>
            <a:ext cx="4023360" cy="365760"/>
          </a:xfrm>
          <a:prstGeom prst="rect">
            <a:avLst/>
          </a:prstGeom>
          <a:solidFill>
            <a:srgbClr val="FFFFFF"/>
          </a:solidFill>
          <a:ln w="12700">
            <a:solidFill>
              <a:srgbClr val="2C6E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09160" y="5760720"/>
            <a:ext cx="4023360" cy="365760"/>
          </a:xfrm>
          <a:prstGeom prst="rect">
            <a:avLst/>
          </a:prstGeom>
          <a:noFill/>
          <a:ln>
            <a:noFill/>
          </a:ln>
        </p:spPr>
        <p:txBody>
          <a:bodyPr wrap="square" lIns="45720" rIns="45720" tIns="36576" bIns="36576" anchor="ctr">
            <a:spAutoFit/>
          </a:bodyPr>
          <a:lstStyle/>
          <a:p>
            <a:pPr algn="ctr"/>
            <a:r>
              <a:rPr sz="1000" b="1" i="0">
                <a:solidFill>
                  <a:srgbClr val="2C6E49"/>
                </a:solidFill>
                <a:latin typeface="Calibri"/>
              </a:rPr>
              <a:t>Rate Limiting (распределённое ограничение)</a:t>
            </a:r>
          </a:p>
        </p:txBody>
      </p:sp>
      <p:sp>
        <p:nvSpPr>
          <p:cNvPr id="23" name="Rectangle 22"/>
          <p:cNvSpPr/>
          <p:nvPr/>
        </p:nvSpPr>
        <p:spPr>
          <a:xfrm>
            <a:off x="502920" y="6172200"/>
            <a:ext cx="3931920" cy="36576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6172200"/>
            <a:ext cx="3931920" cy="365760"/>
          </a:xfrm>
          <a:prstGeom prst="rect">
            <a:avLst/>
          </a:prstGeom>
          <a:noFill/>
          <a:ln>
            <a:noFill/>
          </a:ln>
        </p:spPr>
        <p:txBody>
          <a:bodyPr wrap="square" lIns="45720" rIns="45720" tIns="36576" bIns="36576" anchor="ctr">
            <a:spAutoFit/>
          </a:bodyPr>
          <a:lstStyle/>
          <a:p>
            <a:pPr algn="ctr"/>
            <a:r>
              <a:rPr sz="1000" b="1" i="0">
                <a:solidFill>
                  <a:srgbClr val="C0392B"/>
                </a:solidFill>
                <a:latin typeface="Calibri"/>
              </a:rPr>
              <a:t>УБИ.042 — подмена журналов</a:t>
            </a:r>
          </a:p>
        </p:txBody>
      </p:sp>
      <p:sp>
        <p:nvSpPr>
          <p:cNvPr id="25" name="TextBox 24"/>
          <p:cNvSpPr txBox="1"/>
          <p:nvPr/>
        </p:nvSpPr>
        <p:spPr>
          <a:xfrm>
            <a:off x="4434840" y="6172200"/>
            <a:ext cx="274320" cy="365760"/>
          </a:xfrm>
          <a:prstGeom prst="rect">
            <a:avLst/>
          </a:prstGeom>
          <a:noFill/>
          <a:ln>
            <a:noFill/>
          </a:ln>
        </p:spPr>
        <p:txBody>
          <a:bodyPr wrap="square" lIns="45720" rIns="45720" tIns="36576" bIns="36576" anchor="ctr">
            <a:spAutoFit/>
          </a:bodyPr>
          <a:lstStyle/>
          <a:p>
            <a:pPr algn="ctr"/>
            <a:r>
              <a:rPr sz="1400" b="1" i="0">
                <a:solidFill>
                  <a:srgbClr val="1E2761"/>
                </a:solidFill>
                <a:latin typeface="Calibri"/>
              </a:rPr>
              <a:t>→</a:t>
            </a:r>
          </a:p>
        </p:txBody>
      </p:sp>
      <p:sp>
        <p:nvSpPr>
          <p:cNvPr id="26" name="Rectangle 25"/>
          <p:cNvSpPr/>
          <p:nvPr/>
        </p:nvSpPr>
        <p:spPr>
          <a:xfrm>
            <a:off x="4709160" y="6172200"/>
            <a:ext cx="4023360" cy="365760"/>
          </a:xfrm>
          <a:prstGeom prst="rect">
            <a:avLst/>
          </a:prstGeom>
          <a:solidFill>
            <a:srgbClr val="FFFFFF"/>
          </a:solidFill>
          <a:ln w="12700">
            <a:solidFill>
              <a:srgbClr val="2C6E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09160" y="6172200"/>
            <a:ext cx="4023360" cy="365760"/>
          </a:xfrm>
          <a:prstGeom prst="rect">
            <a:avLst/>
          </a:prstGeom>
          <a:noFill/>
          <a:ln>
            <a:noFill/>
          </a:ln>
        </p:spPr>
        <p:txBody>
          <a:bodyPr wrap="square" lIns="45720" rIns="45720" tIns="36576" bIns="36576" anchor="ctr">
            <a:spAutoFit/>
          </a:bodyPr>
          <a:lstStyle/>
          <a:p>
            <a:pPr algn="ctr"/>
            <a:r>
              <a:rPr sz="1000" b="1" i="0">
                <a:solidFill>
                  <a:srgbClr val="2C6E49"/>
                </a:solidFill>
                <a:latin typeface="Calibri"/>
              </a:rPr>
              <a:t>Immutable Audit Trail (HMAC-SHA256)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4.4.3  Методы защиты — 1/2</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8</a:t>
            </a:r>
          </a:p>
        </p:txBody>
      </p:sp>
      <p:sp>
        <p:nvSpPr>
          <p:cNvPr id="7" name="Rectangle 6"/>
          <p:cNvSpPr/>
          <p:nvPr/>
        </p:nvSpPr>
        <p:spPr>
          <a:xfrm>
            <a:off x="411480" y="1005840"/>
            <a:ext cx="8321040" cy="411480"/>
          </a:xfrm>
          <a:prstGeom prst="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1005840"/>
            <a:ext cx="8321040" cy="41148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Таблица методов защиты</a:t>
            </a:r>
          </a:p>
        </p:txBody>
      </p:sp>
      <p:graphicFrame>
        <p:nvGraphicFramePr>
          <p:cNvPr id="9" name="Table 8"/>
          <p:cNvGraphicFramePr>
            <a:graphicFrameLocks noGrp="1"/>
          </p:cNvGraphicFramePr>
          <p:nvPr/>
        </p:nvGraphicFramePr>
        <p:xfrm>
          <a:off x="411480" y="1481328"/>
          <a:ext cx="8321040" cy="4937760"/>
        </p:xfrm>
        <a:graphic>
          <a:graphicData uri="http://schemas.openxmlformats.org/drawingml/2006/table">
            <a:tbl>
              <a:tblPr firstRow="1" bandRow="1">
                <a:tableStyleId>{5C22544A-7EE6-4342-B048-85BDC9FD1C3A}</a:tableStyleId>
              </a:tblPr>
              <a:tblGrid>
                <a:gridCol w="1920240"/>
                <a:gridCol w="2331720"/>
                <a:gridCol w="1691640"/>
                <a:gridCol w="2377440"/>
              </a:tblGrid>
              <a:tr h="365760">
                <a:tc>
                  <a:txBody>
                    <a:bodyPr wrap="square" lIns="54864" rIns="54864" tIns="36576" bIns="36576" anchor="ctr"/>
                    <a:lstStyle/>
                    <a:p>
                      <a:pPr algn="ctr"/>
                      <a:r>
                        <a:rPr sz="1000" b="1" i="0">
                          <a:solidFill>
                            <a:srgbClr val="FFFFFF"/>
                          </a:solidFill>
                          <a:latin typeface="Calibri"/>
                        </a:rPr>
                        <a:t>Метод защиты</a:t>
                      </a:r>
                    </a:p>
                  </a:txBody>
                  <a:tcPr>
                    <a:solidFill>
                      <a:srgbClr val="1E2761"/>
                    </a:solidFill>
                  </a:tcPr>
                </a:tc>
                <a:tc>
                  <a:txBody>
                    <a:bodyPr wrap="square" lIns="54864" rIns="54864" tIns="36576" bIns="36576" anchor="ctr"/>
                    <a:lstStyle/>
                    <a:p>
                      <a:pPr algn="ctr"/>
                      <a:r>
                        <a:rPr sz="1000" b="1" i="0">
                          <a:solidFill>
                            <a:srgbClr val="FFFFFF"/>
                          </a:solidFill>
                          <a:latin typeface="Calibri"/>
                        </a:rPr>
                        <a:t>Что это</a:t>
                      </a:r>
                    </a:p>
                  </a:txBody>
                  <a:tcPr>
                    <a:solidFill>
                      <a:srgbClr val="1E2761"/>
                    </a:solidFill>
                  </a:tcPr>
                </a:tc>
                <a:tc>
                  <a:txBody>
                    <a:bodyPr wrap="square" lIns="54864" rIns="54864" tIns="36576" bIns="36576" anchor="ctr"/>
                    <a:lstStyle/>
                    <a:p>
                      <a:pPr algn="ctr"/>
                      <a:r>
                        <a:rPr sz="1000" b="1" i="0">
                          <a:solidFill>
                            <a:srgbClr val="FFFFFF"/>
                          </a:solidFill>
                          <a:latin typeface="Calibri"/>
                        </a:rPr>
                        <a:t>Программные средства</a:t>
                      </a:r>
                    </a:p>
                  </a:txBody>
                  <a:tcPr>
                    <a:solidFill>
                      <a:srgbClr val="1E2761"/>
                    </a:solidFill>
                  </a:tcPr>
                </a:tc>
                <a:tc>
                  <a:txBody>
                    <a:bodyPr wrap="square" lIns="54864" rIns="54864" tIns="36576" bIns="36576" anchor="ctr"/>
                    <a:lstStyle/>
                    <a:p>
                      <a:pPr algn="ctr"/>
                      <a:r>
                        <a:rPr sz="1000" b="1" i="0">
                          <a:solidFill>
                            <a:srgbClr val="FFFFFF"/>
                          </a:solidFill>
                          <a:latin typeface="Calibri"/>
                        </a:rPr>
                        <a:t>Сценарий применения</a:t>
                      </a:r>
                    </a:p>
                  </a:txBody>
                  <a:tcPr>
                    <a:solidFill>
                      <a:srgbClr val="1E2761"/>
                    </a:solidFill>
                  </a:tcPr>
                </a:tc>
              </a:tr>
              <a:tr h="2286000">
                <a:tc>
                  <a:txBody>
                    <a:bodyPr wrap="square" lIns="54864" rIns="54864" tIns="36576" bIns="36576" anchor="t"/>
                    <a:lstStyle/>
                    <a:p>
                      <a:pPr algn="l"/>
                      <a:r>
                        <a:rPr sz="800" b="0" i="0">
                          <a:solidFill>
                            <a:srgbClr val="121212"/>
                          </a:solidFill>
                          <a:latin typeface="Calibri"/>
                        </a:rPr>
                        <a:t>Санитизация и валидация обучающих выборок</a:t>
                      </a:r>
                    </a:p>
                  </a:txBody>
                  <a:tcPr>
                    <a:solidFill>
                      <a:srgbClr val="FFFFFF"/>
                    </a:solidFill>
                  </a:tcPr>
                </a:tc>
                <a:tc>
                  <a:txBody>
                    <a:bodyPr wrap="square" lIns="54864" rIns="54864" tIns="36576" bIns="36576" anchor="t"/>
                    <a:lstStyle/>
                    <a:p>
                      <a:pPr algn="l"/>
                      <a:r>
                        <a:rPr sz="800" b="0" i="0">
                          <a:solidFill>
                            <a:srgbClr val="121212"/>
                          </a:solidFill>
                          <a:latin typeface="Calibri"/>
                        </a:rPr>
                        <a:t>Процедура статистической проверки входных данных на предмет аномальных отклонений и состязательных примеров (adversarial examples) перед обновлением модели.</a:t>
                      </a:r>
                    </a:p>
                  </a:txBody>
                  <a:tcPr>
                    <a:solidFill>
                      <a:srgbClr val="FFFFFF"/>
                    </a:solidFill>
                  </a:tcPr>
                </a:tc>
                <a:tc>
                  <a:txBody>
                    <a:bodyPr wrap="square" lIns="54864" rIns="54864" tIns="36576" bIns="36576" anchor="t"/>
                    <a:lstStyle/>
                    <a:p>
                      <a:pPr algn="l"/>
                      <a:r>
                        <a:rPr sz="800" b="0" i="0">
                          <a:solidFill>
                            <a:srgbClr val="121212"/>
                          </a:solidFill>
                          <a:latin typeface="Calibri"/>
                        </a:rPr>
                        <a:t>Библиотеки Python (Pandas, Great Expectations), кастомные скрипты проверки распределения признаков</a:t>
                      </a:r>
                    </a:p>
                  </a:txBody>
                  <a:tcPr>
                    <a:solidFill>
                      <a:srgbClr val="FFFFFF"/>
                    </a:solidFill>
                  </a:tcPr>
                </a:tc>
                <a:tc>
                  <a:txBody>
                    <a:bodyPr wrap="square" lIns="54864" rIns="54864" tIns="36576" bIns="36576" anchor="t"/>
                    <a:lstStyle/>
                    <a:p>
                      <a:pPr algn="l"/>
                      <a:r>
                        <a:rPr sz="800" b="0" i="0">
                          <a:solidFill>
                            <a:srgbClr val="121212"/>
                          </a:solidFill>
                          <a:latin typeface="Calibri"/>
                        </a:rPr>
                        <a:t>Нейтрализация угрозы УБИ.221. Система блокирует внесение записей в базу обучения, если они резко противоречат накопленной базе признаков, и направляет их на верификацию аналитику (п. 4.4.3 ТЗ).</a:t>
                      </a:r>
                    </a:p>
                  </a:txBody>
                  <a:tcPr>
                    <a:solidFill>
                      <a:srgbClr val="FFFFFF"/>
                    </a:solidFill>
                  </a:tcPr>
                </a:tc>
              </a:tr>
              <a:tr h="2286000">
                <a:tc>
                  <a:txBody>
                    <a:bodyPr wrap="square" lIns="54864" rIns="54864" tIns="36576" bIns="36576" anchor="t"/>
                    <a:lstStyle/>
                    <a:p>
                      <a:pPr algn="l"/>
                      <a:r>
                        <a:rPr sz="800" b="0" i="0">
                          <a:solidFill>
                            <a:srgbClr val="121212"/>
                          </a:solidFill>
                          <a:latin typeface="Calibri"/>
                        </a:rPr>
                        <a:t>Распределённое ограничение частоты запросов (Rate Limiting)</a:t>
                      </a:r>
                    </a:p>
                  </a:txBody>
                  <a:tcPr>
                    <a:solidFill>
                      <a:srgbClr val="F4F6FB"/>
                    </a:solidFill>
                  </a:tcPr>
                </a:tc>
                <a:tc>
                  <a:txBody>
                    <a:bodyPr wrap="square" lIns="54864" rIns="54864" tIns="36576" bIns="36576" anchor="t"/>
                    <a:lstStyle/>
                    <a:p>
                      <a:pPr algn="l"/>
                      <a:r>
                        <a:rPr sz="800" b="0" i="0">
                          <a:solidFill>
                            <a:srgbClr val="121212"/>
                          </a:solidFill>
                          <a:latin typeface="Calibri"/>
                        </a:rPr>
                        <a:t>Механизм контроля интенсивности обращений к API на основе IP-адресов, токенов и сложности запрашиваемого анализа (например, рендеринг JS).</a:t>
                      </a:r>
                    </a:p>
                  </a:txBody>
                  <a:tcPr>
                    <a:solidFill>
                      <a:srgbClr val="F4F6FB"/>
                    </a:solidFill>
                  </a:tcPr>
                </a:tc>
                <a:tc>
                  <a:txBody>
                    <a:bodyPr wrap="square" lIns="54864" rIns="54864" tIns="36576" bIns="36576" anchor="t"/>
                    <a:lstStyle/>
                    <a:p>
                      <a:pPr algn="l"/>
                      <a:r>
                        <a:rPr sz="800" b="0" i="0">
                          <a:solidFill>
                            <a:srgbClr val="121212"/>
                          </a:solidFill>
                          <a:latin typeface="Calibri"/>
                        </a:rPr>
                        <a:t>Redis-cell, middleware для FastAPI (slowapi), Nginx-лимиты</a:t>
                      </a:r>
                    </a:p>
                  </a:txBody>
                  <a:tcPr>
                    <a:solidFill>
                      <a:srgbClr val="F4F6FB"/>
                    </a:solidFill>
                  </a:tcPr>
                </a:tc>
                <a:tc>
                  <a:txBody>
                    <a:bodyPr wrap="square" lIns="54864" rIns="54864" tIns="36576" bIns="36576" anchor="t"/>
                    <a:lstStyle/>
                    <a:p>
                      <a:pPr algn="l"/>
                      <a:r>
                        <a:rPr sz="800" b="0" i="0">
                          <a:solidFill>
                            <a:srgbClr val="121212"/>
                          </a:solidFill>
                          <a:latin typeface="Calibri"/>
                        </a:rPr>
                        <a:t>Противодействие угрозе УБИ.017. При превышении порога запросов система автоматически включает режим ожидания для подозрительного источника, обеспечивая доступность ресурсов для легитимных потребителей.</a:t>
                      </a:r>
                    </a:p>
                  </a:txBody>
                  <a:tcPr>
                    <a:solidFill>
                      <a:srgbClr val="F4F6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4.4.3  Методы защиты — 2/2</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9</a:t>
            </a:r>
          </a:p>
        </p:txBody>
      </p:sp>
      <p:sp>
        <p:nvSpPr>
          <p:cNvPr id="7" name="Rectangle 6"/>
          <p:cNvSpPr/>
          <p:nvPr/>
        </p:nvSpPr>
        <p:spPr>
          <a:xfrm>
            <a:off x="411480" y="1005840"/>
            <a:ext cx="8321040" cy="411480"/>
          </a:xfrm>
          <a:prstGeom prst="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1005840"/>
            <a:ext cx="8321040" cy="41148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Таблица методов защиты — продолжение</a:t>
            </a:r>
          </a:p>
        </p:txBody>
      </p:sp>
      <p:graphicFrame>
        <p:nvGraphicFramePr>
          <p:cNvPr id="9" name="Table 8"/>
          <p:cNvGraphicFramePr>
            <a:graphicFrameLocks noGrp="1"/>
          </p:cNvGraphicFramePr>
          <p:nvPr/>
        </p:nvGraphicFramePr>
        <p:xfrm>
          <a:off x="411480" y="1481328"/>
          <a:ext cx="8321040" cy="2560320"/>
        </p:xfrm>
        <a:graphic>
          <a:graphicData uri="http://schemas.openxmlformats.org/drawingml/2006/table">
            <a:tbl>
              <a:tblPr firstRow="1" bandRow="1">
                <a:tableStyleId>{5C22544A-7EE6-4342-B048-85BDC9FD1C3A}</a:tableStyleId>
              </a:tblPr>
              <a:tblGrid>
                <a:gridCol w="1920240"/>
                <a:gridCol w="2331720"/>
                <a:gridCol w="1691640"/>
                <a:gridCol w="2377440"/>
              </a:tblGrid>
              <a:tr h="365760">
                <a:tc>
                  <a:txBody>
                    <a:bodyPr wrap="square" lIns="54864" rIns="54864" tIns="36576" bIns="36576" anchor="ctr"/>
                    <a:lstStyle/>
                    <a:p>
                      <a:pPr algn="ctr"/>
                      <a:r>
                        <a:rPr sz="1000" b="1" i="0">
                          <a:solidFill>
                            <a:srgbClr val="FFFFFF"/>
                          </a:solidFill>
                          <a:latin typeface="Calibri"/>
                        </a:rPr>
                        <a:t>Метод защиты</a:t>
                      </a:r>
                    </a:p>
                  </a:txBody>
                  <a:tcPr>
                    <a:solidFill>
                      <a:srgbClr val="1E2761"/>
                    </a:solidFill>
                  </a:tcPr>
                </a:tc>
                <a:tc>
                  <a:txBody>
                    <a:bodyPr wrap="square" lIns="54864" rIns="54864" tIns="36576" bIns="36576" anchor="ctr"/>
                    <a:lstStyle/>
                    <a:p>
                      <a:pPr algn="ctr"/>
                      <a:r>
                        <a:rPr sz="1000" b="1" i="0">
                          <a:solidFill>
                            <a:srgbClr val="FFFFFF"/>
                          </a:solidFill>
                          <a:latin typeface="Calibri"/>
                        </a:rPr>
                        <a:t>Что это</a:t>
                      </a:r>
                    </a:p>
                  </a:txBody>
                  <a:tcPr>
                    <a:solidFill>
                      <a:srgbClr val="1E2761"/>
                    </a:solidFill>
                  </a:tcPr>
                </a:tc>
                <a:tc>
                  <a:txBody>
                    <a:bodyPr wrap="square" lIns="54864" rIns="54864" tIns="36576" bIns="36576" anchor="ctr"/>
                    <a:lstStyle/>
                    <a:p>
                      <a:pPr algn="ctr"/>
                      <a:r>
                        <a:rPr sz="1000" b="1" i="0">
                          <a:solidFill>
                            <a:srgbClr val="FFFFFF"/>
                          </a:solidFill>
                          <a:latin typeface="Calibri"/>
                        </a:rPr>
                        <a:t>Программные средства</a:t>
                      </a:r>
                    </a:p>
                  </a:txBody>
                  <a:tcPr>
                    <a:solidFill>
                      <a:srgbClr val="1E2761"/>
                    </a:solidFill>
                  </a:tcPr>
                </a:tc>
                <a:tc>
                  <a:txBody>
                    <a:bodyPr wrap="square" lIns="54864" rIns="54864" tIns="36576" bIns="36576" anchor="ctr"/>
                    <a:lstStyle/>
                    <a:p>
                      <a:pPr algn="ctr"/>
                      <a:r>
                        <a:rPr sz="1000" b="1" i="0">
                          <a:solidFill>
                            <a:srgbClr val="FFFFFF"/>
                          </a:solidFill>
                          <a:latin typeface="Calibri"/>
                        </a:rPr>
                        <a:t>Сценарий применения</a:t>
                      </a:r>
                    </a:p>
                  </a:txBody>
                  <a:tcPr>
                    <a:solidFill>
                      <a:srgbClr val="1E2761"/>
                    </a:solidFill>
                  </a:tcPr>
                </a:tc>
              </a:tr>
              <a:tr h="2194560">
                <a:tc>
                  <a:txBody>
                    <a:bodyPr wrap="square" lIns="54864" rIns="54864" tIns="36576" bIns="36576" anchor="t"/>
                    <a:lstStyle/>
                    <a:p>
                      <a:pPr algn="l"/>
                      <a:r>
                        <a:rPr sz="800" b="0" i="0">
                          <a:solidFill>
                            <a:srgbClr val="121212"/>
                          </a:solidFill>
                          <a:latin typeface="Calibri"/>
                        </a:rPr>
                        <a:t>Неизменяемый журнал аудита с контролем целостности (Immutable Audit Trail)</a:t>
                      </a:r>
                    </a:p>
                  </a:txBody>
                  <a:tcPr>
                    <a:solidFill>
                      <a:srgbClr val="FFFFFF"/>
                    </a:solidFill>
                  </a:tcPr>
                </a:tc>
                <a:tc>
                  <a:txBody>
                    <a:bodyPr wrap="square" lIns="54864" rIns="54864" tIns="36576" bIns="36576" anchor="t"/>
                    <a:lstStyle/>
                    <a:p>
                      <a:pPr algn="l"/>
                      <a:r>
                        <a:rPr sz="800" b="0" i="0">
                          <a:solidFill>
                            <a:srgbClr val="121212"/>
                          </a:solidFill>
                          <a:latin typeface="Calibri"/>
                        </a:rPr>
                        <a:t>Криптографическое связывание записей журнала событий (chaining) и дублирование логов на изолированный сервер хранения.</a:t>
                      </a:r>
                    </a:p>
                  </a:txBody>
                  <a:tcPr>
                    <a:solidFill>
                      <a:srgbClr val="FFFFFF"/>
                    </a:solidFill>
                  </a:tcPr>
                </a:tc>
                <a:tc>
                  <a:txBody>
                    <a:bodyPr wrap="square" lIns="54864" rIns="54864" tIns="36576" bIns="36576" anchor="t"/>
                    <a:lstStyle/>
                    <a:p>
                      <a:pPr algn="l"/>
                      <a:r>
                        <a:rPr sz="800" b="0" i="0">
                          <a:solidFill>
                            <a:srgbClr val="121212"/>
                          </a:solidFill>
                          <a:latin typeface="Calibri"/>
                        </a:rPr>
                        <a:t>PostgreSQL (pgaudit), внешние системы сбора логов (Graylog), HMAC-SHA256</a:t>
                      </a:r>
                    </a:p>
                  </a:txBody>
                  <a:tcPr>
                    <a:solidFill>
                      <a:srgbClr val="FFFFFF"/>
                    </a:solidFill>
                  </a:tcPr>
                </a:tc>
                <a:tc>
                  <a:txBody>
                    <a:bodyPr wrap="square" lIns="54864" rIns="54864" tIns="36576" bIns="36576" anchor="t"/>
                    <a:lstStyle/>
                    <a:p>
                      <a:pPr algn="l"/>
                      <a:r>
                        <a:rPr sz="800" b="0" i="0">
                          <a:solidFill>
                            <a:srgbClr val="121212"/>
                          </a:solidFill>
                          <a:latin typeface="Calibri"/>
                        </a:rPr>
                        <a:t>Защита от угрозы УБИ.042. Каждое действие аналитика подписывается и хэшируется. Любая попытка несанкционированного изменения исторической записи будет выявлена при плановой проверке контрольных сумм БД (п. 4.4.3 ТЗ).</a:t>
                      </a:r>
                    </a:p>
                  </a:txBody>
                  <a:tcPr>
                    <a:solidFill>
                      <a:srgbClr val="FFFFFF"/>
                    </a:solidFill>
                  </a:tcPr>
                </a:tc>
              </a:tr>
            </a:tbl>
          </a:graphicData>
        </a:graphic>
      </p:graphicFrame>
      <p:sp>
        <p:nvSpPr>
          <p:cNvPr id="10" name="Rectangle 9"/>
          <p:cNvSpPr/>
          <p:nvPr/>
        </p:nvSpPr>
        <p:spPr>
          <a:xfrm>
            <a:off x="411480" y="4251960"/>
            <a:ext cx="8321040" cy="411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1480" y="4251960"/>
            <a:ext cx="8321040" cy="411480"/>
          </a:xfrm>
          <a:prstGeom prst="rect">
            <a:avLst/>
          </a:prstGeom>
          <a:noFill/>
          <a:ln>
            <a:noFill/>
          </a:ln>
        </p:spPr>
        <p:txBody>
          <a:bodyPr wrap="square" lIns="45720" rIns="45720" tIns="36576" bIns="36576" anchor="ctr">
            <a:spAutoFit/>
          </a:bodyPr>
          <a:lstStyle/>
          <a:p>
            <a:pPr algn="ctr"/>
            <a:r>
              <a:rPr sz="1200" b="1" i="0">
                <a:solidFill>
                  <a:srgbClr val="FFFFFF"/>
                </a:solidFill>
                <a:latin typeface="Calibri"/>
              </a:rPr>
              <a:t>Резюме раздела 4.4.3 — 3 угрозы × 3 защиты</a:t>
            </a:r>
          </a:p>
        </p:txBody>
      </p:sp>
      <p:sp>
        <p:nvSpPr>
          <p:cNvPr id="12" name="TextBox 11"/>
          <p:cNvSpPr txBox="1"/>
          <p:nvPr/>
        </p:nvSpPr>
        <p:spPr>
          <a:xfrm>
            <a:off x="411480" y="4754880"/>
            <a:ext cx="8321040" cy="1828800"/>
          </a:xfrm>
          <a:prstGeom prst="rect">
            <a:avLst/>
          </a:prstGeom>
          <a:noFill/>
          <a:ln>
            <a:noFill/>
          </a:ln>
        </p:spPr>
        <p:txBody>
          <a:bodyPr wrap="square" lIns="45720" rIns="45720" tIns="36576" bIns="36576" anchor="t">
            <a:spAutoFit/>
          </a:bodyPr>
          <a:lstStyle/>
          <a:p>
            <a:pPr algn="just"/>
            <a:r>
              <a:rPr sz="1100" b="0" i="0">
                <a:solidFill>
                  <a:srgbClr val="121212"/>
                </a:solidFill>
                <a:latin typeface="Calibri"/>
              </a:rPr>
              <a:t>Для каждой угрозы из БДУ ФСТЭК (УБИ.221, УБИ.017, УБИ.042) подобран отдельный программно-организационный метод защиты, реализуемый средствами компонентов ИСОФР. Совокупность мер закрывает три ключевых вектора компрометации системы: компрометацию обучающих данных, отказ в обслуживании на узлах сбора и фальсификацию журналов событий — что подтверждает выполнение требований ТЗ в части безопасности.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Контекстная диаграмма A-0</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10</a:t>
            </a:r>
          </a:p>
        </p:txBody>
      </p:sp>
      <p:pic>
        <p:nvPicPr>
          <p:cNvPr id="7" name="Picture 6" descr="diagram_A-0_context.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Деятельность: «Обнаруживать фишинговые ресурсы (ИСОФР)». Входы — URL и веб-контент, сигналы пользователей. Управление — законодательство в области ИБ, регламент эксплуатации. Механизмы — специалисты ИБ, серверы, ML-стек. Выходы — отчёты и блокировки.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A0 — процессы</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11</a:t>
            </a:r>
          </a:p>
        </p:txBody>
      </p:sp>
      <p:pic>
        <p:nvPicPr>
          <p:cNvPr id="7" name="Picture 6" descr="diagram_A0.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5 процессов: A1 «Управлять системой», A2 «Собирать и предобрабатывать данные», A3 «Анализировать контент и признаки», A4 «Классифицировать ресурсы», A5 «Формировать отчёты и реагировать». Управляющая связь «Настройки системы» от A1 ко всем остальным.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A3 — операции анализа</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12</a:t>
            </a:r>
          </a:p>
        </p:txBody>
      </p:sp>
      <p:pic>
        <p:nvPicPr>
          <p:cNvPr id="7" name="Picture 6" descr="diagram_A3.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4 операции: A31 «Анализировать URL и доменное имя», A32 «Анализировать HTML-структуру», A33 «Извлекать текстовые признаки», A34 «Формировать вектор признаков». Выход — вектор признаков для классификации.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A31 — действия по URL</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13</a:t>
            </a:r>
          </a:p>
        </p:txBody>
      </p:sp>
      <p:pic>
        <p:nvPicPr>
          <p:cNvPr id="7" name="Picture 6" descr="diagram_A31.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4 действия: A311 «Парсить структуру URL», A312 «Вычислять лексические признаки URL», A313 «Проверять характеристики домена», A314 «Агрегировать URL-признаки». Два выхода: URL-признаки и параметры анализа домена.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A311 — парсинг URL</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14</a:t>
            </a:r>
          </a:p>
        </p:txBody>
      </p:sp>
      <p:pic>
        <p:nvPicPr>
          <p:cNvPr id="7" name="Picture 6" descr="diagram_A311.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4 детальных действия по разбору URL: A3111 «Считывать и декодировать URL», A3112 «Выделять компоненты URL», A3113 «Нормализовать компоненты», A3114 «Валидировать структуру URL».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A3111 — элементарные действия</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15</a:t>
            </a:r>
          </a:p>
        </p:txBody>
      </p:sp>
      <p:pic>
        <p:nvPicPr>
          <p:cNvPr id="7" name="Picture 6" descr="diagram_A3111.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Самый детальный уровень: A31111 «Принимать URL-строку», A31112 «Определять кодировку», A31113 «Декодировать спецсимволы», A31114 «Проверять допустимость символов». Внутреннее управление «Тип кодировки» от A31112 к A31113.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Декомпозиция A0 с угрозами и защитой</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16</a:t>
            </a:r>
          </a:p>
        </p:txBody>
      </p:sp>
      <p:pic>
        <p:nvPicPr>
          <p:cNvPr id="7" name="Picture 6" descr="diagram_A0_threats.png"/>
          <p:cNvPicPr>
            <a:picLocks noChangeAspect="1"/>
          </p:cNvPicPr>
          <p:nvPr/>
        </p:nvPicPr>
        <p:blipFill>
          <a:blip r:embed="rId2"/>
          <a:stretch>
            <a:fillRect/>
          </a:stretch>
        </p:blipFill>
        <p:spPr>
          <a:xfrm>
            <a:off x="411480" y="1051560"/>
            <a:ext cx="8321040" cy="4937760"/>
          </a:xfrm>
          <a:prstGeom prst="rect">
            <a:avLst/>
          </a:prstGeom>
        </p:spPr>
      </p:pic>
      <p:sp>
        <p:nvSpPr>
          <p:cNvPr id="8" name="Rectangle 7"/>
          <p:cNvSpPr/>
          <p:nvPr/>
        </p:nvSpPr>
        <p:spPr>
          <a:xfrm>
            <a:off x="411480" y="6080760"/>
            <a:ext cx="8321040" cy="594360"/>
          </a:xfrm>
          <a:prstGeom prst="rect">
            <a:avLst/>
          </a:prstGeom>
          <a:solidFill>
            <a:srgbClr val="F4F6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108192"/>
            <a:ext cx="8092440" cy="548640"/>
          </a:xfrm>
          <a:prstGeom prst="rect">
            <a:avLst/>
          </a:prstGeom>
          <a:noFill/>
          <a:ln>
            <a:noFill/>
          </a:ln>
        </p:spPr>
        <p:txBody>
          <a:bodyPr wrap="square" lIns="45720" rIns="45720" tIns="36576" bIns="36576" anchor="ctr">
            <a:spAutoFit/>
          </a:bodyPr>
          <a:lstStyle/>
          <a:p>
            <a:pPr algn="l"/>
            <a:r>
              <a:rPr sz="1000" b="0" i="1">
                <a:solidFill>
                  <a:srgbClr val="121212"/>
                </a:solidFill>
                <a:latin typeface="Calibri"/>
              </a:rPr>
              <a:t>Базовая декомпозиция A0 дополнена красными блоками угроз (УБИ.221, УБИ.017, УБИ.042) и зелёными блоками защит. Каждая угроза подключена к процессу, который она атакует; каждая защита — и к защищаемому процессу, и к своей угрозе (нейтрализация).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228600"/>
            <a:ext cx="8321040" cy="548640"/>
          </a:xfrm>
          <a:prstGeom prst="rect">
            <a:avLst/>
          </a:prstGeom>
          <a:noFill/>
          <a:ln>
            <a:noFill/>
          </a:ln>
        </p:spPr>
        <p:txBody>
          <a:bodyPr wrap="square" lIns="45720" rIns="45720" tIns="36576" bIns="36576" anchor="ctr">
            <a:spAutoFit/>
          </a:bodyPr>
          <a:lstStyle/>
          <a:p>
            <a:pPr algn="l"/>
            <a:r>
              <a:rPr sz="2400" b="1" i="0">
                <a:solidFill>
                  <a:srgbClr val="1E2761"/>
                </a:solidFill>
                <a:latin typeface="Calibri"/>
              </a:rPr>
              <a:t>Выводы</a:t>
            </a:r>
          </a:p>
        </p:txBody>
      </p:sp>
      <p:sp>
        <p:nvSpPr>
          <p:cNvPr id="5" name="Rectangle 4"/>
          <p:cNvSpPr/>
          <p:nvPr/>
        </p:nvSpPr>
        <p:spPr>
          <a:xfrm>
            <a:off x="411480" y="841248"/>
            <a:ext cx="8321040" cy="127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21040" y="6537960"/>
            <a:ext cx="640080" cy="228600"/>
          </a:xfrm>
          <a:prstGeom prst="rect">
            <a:avLst/>
          </a:prstGeom>
          <a:noFill/>
          <a:ln>
            <a:noFill/>
          </a:ln>
        </p:spPr>
        <p:txBody>
          <a:bodyPr wrap="square" lIns="45720" rIns="45720" tIns="36576" bIns="36576" anchor="ctr">
            <a:spAutoFit/>
          </a:bodyPr>
          <a:lstStyle/>
          <a:p>
            <a:pPr algn="r"/>
            <a:r>
              <a:rPr sz="1000" b="0" i="0">
                <a:solidFill>
                  <a:srgbClr val="4A4A4A"/>
                </a:solidFill>
                <a:latin typeface="Calibri"/>
              </a:rPr>
              <a:t>17</a:t>
            </a:r>
          </a:p>
        </p:txBody>
      </p:sp>
      <p:sp>
        <p:nvSpPr>
          <p:cNvPr id="7" name="Rectangle 6"/>
          <p:cNvSpPr/>
          <p:nvPr/>
        </p:nvSpPr>
        <p:spPr>
          <a:xfrm>
            <a:off x="411480" y="1051560"/>
            <a:ext cx="3474720" cy="53492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325880"/>
            <a:ext cx="3108960" cy="548640"/>
          </a:xfrm>
          <a:prstGeom prst="rect">
            <a:avLst/>
          </a:prstGeom>
          <a:noFill/>
          <a:ln>
            <a:noFill/>
          </a:ln>
        </p:spPr>
        <p:txBody>
          <a:bodyPr wrap="square" lIns="45720" rIns="45720" tIns="36576" bIns="36576" anchor="t">
            <a:spAutoFit/>
          </a:bodyPr>
          <a:lstStyle/>
          <a:p>
            <a:pPr algn="l"/>
            <a:r>
              <a:rPr sz="1800" b="1" i="0">
                <a:solidFill>
                  <a:srgbClr val="FFFFFF"/>
                </a:solidFill>
                <a:latin typeface="Calibri"/>
              </a:rPr>
              <a:t>Итог проекта</a:t>
            </a:r>
          </a:p>
        </p:txBody>
      </p:sp>
      <p:sp>
        <p:nvSpPr>
          <p:cNvPr id="9" name="TextBox 8"/>
          <p:cNvSpPr txBox="1"/>
          <p:nvPr/>
        </p:nvSpPr>
        <p:spPr>
          <a:xfrm>
            <a:off x="594360" y="1965960"/>
            <a:ext cx="3108960" cy="4114800"/>
          </a:xfrm>
          <a:prstGeom prst="rect">
            <a:avLst/>
          </a:prstGeom>
          <a:noFill/>
          <a:ln>
            <a:noFill/>
          </a:ln>
        </p:spPr>
        <p:txBody>
          <a:bodyPr wrap="square" lIns="45720" rIns="45720" tIns="36576" bIns="36576" anchor="t">
            <a:spAutoFit/>
          </a:bodyPr>
          <a:lstStyle/>
          <a:p>
            <a:pPr algn="just"/>
            <a:r>
              <a:rPr sz="1200" b="0" i="0">
                <a:solidFill>
                  <a:srgbClr val="FFFFFF"/>
                </a:solidFill>
                <a:latin typeface="Calibri"/>
              </a:rPr>
              <a:t>Разработано техническое задание на интеллектуальную систему обнаружения фишинговых ресурсов (ИСОФР) с полным комплектом IDEF0-моделей — от контекстной диаграммы до элементарных действий, а также с отдельной диаграммой, отражающей угрозы и защиту по разделу 4.4.3.</a:t>
            </a:r>
          </a:p>
        </p:txBody>
      </p:sp>
      <p:sp>
        <p:nvSpPr>
          <p:cNvPr id="10" name="Rectangle 9"/>
          <p:cNvSpPr/>
          <p:nvPr/>
        </p:nvSpPr>
        <p:spPr>
          <a:xfrm>
            <a:off x="4069080" y="1143000"/>
            <a:ext cx="36576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9080" y="1143000"/>
            <a:ext cx="365760" cy="365760"/>
          </a:xfrm>
          <a:prstGeom prst="rect">
            <a:avLst/>
          </a:prstGeom>
          <a:noFill/>
          <a:ln>
            <a:noFill/>
          </a:ln>
        </p:spPr>
        <p:txBody>
          <a:bodyPr wrap="square" lIns="45720" rIns="45720" tIns="36576" bIns="36576" anchor="ctr">
            <a:spAutoFit/>
          </a:bodyPr>
          <a:lstStyle/>
          <a:p>
            <a:pPr algn="ctr"/>
            <a:r>
              <a:rPr sz="1400" b="1" i="0">
                <a:solidFill>
                  <a:srgbClr val="FFFFFF"/>
                </a:solidFill>
                <a:latin typeface="Calibri"/>
              </a:rPr>
              <a:t>1</a:t>
            </a:r>
          </a:p>
        </p:txBody>
      </p:sp>
      <p:sp>
        <p:nvSpPr>
          <p:cNvPr id="12" name="TextBox 11"/>
          <p:cNvSpPr txBox="1"/>
          <p:nvPr/>
        </p:nvSpPr>
        <p:spPr>
          <a:xfrm>
            <a:off x="4526280" y="1097280"/>
            <a:ext cx="420624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Цель достигнута</a:t>
            </a:r>
          </a:p>
        </p:txBody>
      </p:sp>
      <p:sp>
        <p:nvSpPr>
          <p:cNvPr id="13" name="TextBox 12"/>
          <p:cNvSpPr txBox="1"/>
          <p:nvPr/>
        </p:nvSpPr>
        <p:spPr>
          <a:xfrm>
            <a:off x="4526280" y="1444752"/>
            <a:ext cx="4206240" cy="77724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Сформулированы требования и архитектурные решения для системы автоматического выявления фишинговых веб-ресурсов на основе ML.</a:t>
            </a:r>
          </a:p>
        </p:txBody>
      </p:sp>
      <p:sp>
        <p:nvSpPr>
          <p:cNvPr id="14" name="Rectangle 13"/>
          <p:cNvSpPr/>
          <p:nvPr/>
        </p:nvSpPr>
        <p:spPr>
          <a:xfrm>
            <a:off x="4069080" y="2194560"/>
            <a:ext cx="36576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9080" y="2194560"/>
            <a:ext cx="365760" cy="365760"/>
          </a:xfrm>
          <a:prstGeom prst="rect">
            <a:avLst/>
          </a:prstGeom>
          <a:noFill/>
          <a:ln>
            <a:noFill/>
          </a:ln>
        </p:spPr>
        <p:txBody>
          <a:bodyPr wrap="square" lIns="45720" rIns="45720" tIns="36576" bIns="36576" anchor="ctr">
            <a:spAutoFit/>
          </a:bodyPr>
          <a:lstStyle/>
          <a:p>
            <a:pPr algn="ctr"/>
            <a:r>
              <a:rPr sz="1400" b="1" i="0">
                <a:solidFill>
                  <a:srgbClr val="FFFFFF"/>
                </a:solidFill>
                <a:latin typeface="Calibri"/>
              </a:rPr>
              <a:t>2</a:t>
            </a:r>
          </a:p>
        </p:txBody>
      </p:sp>
      <p:sp>
        <p:nvSpPr>
          <p:cNvPr id="16" name="TextBox 15"/>
          <p:cNvSpPr txBox="1"/>
          <p:nvPr/>
        </p:nvSpPr>
        <p:spPr>
          <a:xfrm>
            <a:off x="4526280" y="2148840"/>
            <a:ext cx="420624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Полное моделирование процессов</a:t>
            </a:r>
          </a:p>
        </p:txBody>
      </p:sp>
      <p:sp>
        <p:nvSpPr>
          <p:cNvPr id="17" name="TextBox 16"/>
          <p:cNvSpPr txBox="1"/>
          <p:nvPr/>
        </p:nvSpPr>
        <p:spPr>
          <a:xfrm>
            <a:off x="4526280" y="2496312"/>
            <a:ext cx="4206240" cy="77724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7 диаграмм IDEF0 (A-0, A0, A3, A31, A311, A3111 и A0 с угрозами) покрывают всю иерархию деятельности — от верхнего уровня до элементарных действий.</a:t>
            </a:r>
          </a:p>
        </p:txBody>
      </p:sp>
      <p:sp>
        <p:nvSpPr>
          <p:cNvPr id="18" name="Rectangle 17"/>
          <p:cNvSpPr/>
          <p:nvPr/>
        </p:nvSpPr>
        <p:spPr>
          <a:xfrm>
            <a:off x="4069080" y="3246120"/>
            <a:ext cx="36576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069080" y="3246120"/>
            <a:ext cx="365760" cy="365760"/>
          </a:xfrm>
          <a:prstGeom prst="rect">
            <a:avLst/>
          </a:prstGeom>
          <a:noFill/>
          <a:ln>
            <a:noFill/>
          </a:ln>
        </p:spPr>
        <p:txBody>
          <a:bodyPr wrap="square" lIns="45720" rIns="45720" tIns="36576" bIns="36576" anchor="ctr">
            <a:spAutoFit/>
          </a:bodyPr>
          <a:lstStyle/>
          <a:p>
            <a:pPr algn="ctr"/>
            <a:r>
              <a:rPr sz="1400" b="1" i="0">
                <a:solidFill>
                  <a:srgbClr val="FFFFFF"/>
                </a:solidFill>
                <a:latin typeface="Calibri"/>
              </a:rPr>
              <a:t>3</a:t>
            </a:r>
          </a:p>
        </p:txBody>
      </p:sp>
      <p:sp>
        <p:nvSpPr>
          <p:cNvPr id="20" name="TextBox 19"/>
          <p:cNvSpPr txBox="1"/>
          <p:nvPr/>
        </p:nvSpPr>
        <p:spPr>
          <a:xfrm>
            <a:off x="4526280" y="3200400"/>
            <a:ext cx="420624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Безопасность учтена системно</a:t>
            </a:r>
          </a:p>
        </p:txBody>
      </p:sp>
      <p:sp>
        <p:nvSpPr>
          <p:cNvPr id="21" name="TextBox 20"/>
          <p:cNvSpPr txBox="1"/>
          <p:nvPr/>
        </p:nvSpPr>
        <p:spPr>
          <a:xfrm>
            <a:off x="4526280" y="3547872"/>
            <a:ext cx="4206240" cy="77724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Раздел 4.4.3 фиксирует 3 актуальные угрозы из БДУ ФСТЭК и 3 соответствующих метода защиты, реализуемые средствами стека (Python, FastAPI, PostgreSQL, Graylog, HMAC-SHA256).</a:t>
            </a:r>
          </a:p>
        </p:txBody>
      </p:sp>
      <p:sp>
        <p:nvSpPr>
          <p:cNvPr id="22" name="Rectangle 21"/>
          <p:cNvSpPr/>
          <p:nvPr/>
        </p:nvSpPr>
        <p:spPr>
          <a:xfrm>
            <a:off x="4069080" y="4297680"/>
            <a:ext cx="36576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069080" y="4297680"/>
            <a:ext cx="365760" cy="365760"/>
          </a:xfrm>
          <a:prstGeom prst="rect">
            <a:avLst/>
          </a:prstGeom>
          <a:noFill/>
          <a:ln>
            <a:noFill/>
          </a:ln>
        </p:spPr>
        <p:txBody>
          <a:bodyPr wrap="square" lIns="45720" rIns="45720" tIns="36576" bIns="36576" anchor="ctr">
            <a:spAutoFit/>
          </a:bodyPr>
          <a:lstStyle/>
          <a:p>
            <a:pPr algn="ctr"/>
            <a:r>
              <a:rPr sz="1400" b="1" i="0">
                <a:solidFill>
                  <a:srgbClr val="FFFFFF"/>
                </a:solidFill>
                <a:latin typeface="Calibri"/>
              </a:rPr>
              <a:t>4</a:t>
            </a:r>
          </a:p>
        </p:txBody>
      </p:sp>
      <p:sp>
        <p:nvSpPr>
          <p:cNvPr id="24" name="TextBox 23"/>
          <p:cNvSpPr txBox="1"/>
          <p:nvPr/>
        </p:nvSpPr>
        <p:spPr>
          <a:xfrm>
            <a:off x="4526280" y="4251960"/>
            <a:ext cx="420624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Угрозы и защита визуализированы</a:t>
            </a:r>
          </a:p>
        </p:txBody>
      </p:sp>
      <p:sp>
        <p:nvSpPr>
          <p:cNvPr id="25" name="TextBox 24"/>
          <p:cNvSpPr txBox="1"/>
          <p:nvPr/>
        </p:nvSpPr>
        <p:spPr>
          <a:xfrm>
            <a:off x="4526280" y="4599432"/>
            <a:ext cx="4206240" cy="77724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Угрозы и защитные процессы вынесены на отдельную IDEF0-диаграмму, что делает прослеживаемой связку «требование ТЗ → процесс → контрмера».</a:t>
            </a:r>
          </a:p>
        </p:txBody>
      </p:sp>
      <p:sp>
        <p:nvSpPr>
          <p:cNvPr id="26" name="Rectangle 25"/>
          <p:cNvSpPr/>
          <p:nvPr/>
        </p:nvSpPr>
        <p:spPr>
          <a:xfrm>
            <a:off x="4069080" y="5349240"/>
            <a:ext cx="36576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69080" y="5349240"/>
            <a:ext cx="365760" cy="365760"/>
          </a:xfrm>
          <a:prstGeom prst="rect">
            <a:avLst/>
          </a:prstGeom>
          <a:noFill/>
          <a:ln>
            <a:noFill/>
          </a:ln>
        </p:spPr>
        <p:txBody>
          <a:bodyPr wrap="square" lIns="45720" rIns="45720" tIns="36576" bIns="36576" anchor="ctr">
            <a:spAutoFit/>
          </a:bodyPr>
          <a:lstStyle/>
          <a:p>
            <a:pPr algn="ctr"/>
            <a:r>
              <a:rPr sz="1400" b="1" i="0">
                <a:solidFill>
                  <a:srgbClr val="FFFFFF"/>
                </a:solidFill>
                <a:latin typeface="Calibri"/>
              </a:rPr>
              <a:t>5</a:t>
            </a:r>
          </a:p>
        </p:txBody>
      </p:sp>
      <p:sp>
        <p:nvSpPr>
          <p:cNvPr id="28" name="TextBox 27"/>
          <p:cNvSpPr txBox="1"/>
          <p:nvPr/>
        </p:nvSpPr>
        <p:spPr>
          <a:xfrm>
            <a:off x="4526280" y="5303520"/>
            <a:ext cx="4206240" cy="365760"/>
          </a:xfrm>
          <a:prstGeom prst="rect">
            <a:avLst/>
          </a:prstGeom>
          <a:noFill/>
          <a:ln>
            <a:noFill/>
          </a:ln>
        </p:spPr>
        <p:txBody>
          <a:bodyPr wrap="square" lIns="45720" rIns="45720" tIns="36576" bIns="36576" anchor="t">
            <a:spAutoFit/>
          </a:bodyPr>
          <a:lstStyle/>
          <a:p>
            <a:pPr algn="l"/>
            <a:r>
              <a:rPr sz="1200" b="1" i="0">
                <a:solidFill>
                  <a:srgbClr val="1E2761"/>
                </a:solidFill>
                <a:latin typeface="Calibri"/>
              </a:rPr>
              <a:t>Готовность к разработке</a:t>
            </a:r>
          </a:p>
        </p:txBody>
      </p:sp>
      <p:sp>
        <p:nvSpPr>
          <p:cNvPr id="29" name="TextBox 28"/>
          <p:cNvSpPr txBox="1"/>
          <p:nvPr/>
        </p:nvSpPr>
        <p:spPr>
          <a:xfrm>
            <a:off x="4526280" y="5650992"/>
            <a:ext cx="4206240" cy="777240"/>
          </a:xfrm>
          <a:prstGeom prst="rect">
            <a:avLst/>
          </a:prstGeom>
          <a:noFill/>
          <a:ln>
            <a:noFill/>
          </a:ln>
        </p:spPr>
        <p:txBody>
          <a:bodyPr wrap="square" lIns="45720" rIns="45720" tIns="36576" bIns="36576" anchor="t">
            <a:spAutoFit/>
          </a:bodyPr>
          <a:lstStyle/>
          <a:p>
            <a:pPr algn="l"/>
            <a:r>
              <a:rPr sz="1000" b="0" i="0">
                <a:solidFill>
                  <a:srgbClr val="121212"/>
                </a:solidFill>
                <a:latin typeface="Calibri"/>
              </a:rPr>
              <a:t>Сроки 11.02.2026 – 13.05.2026 реалистичны; технологический стек подобран и согласован с требованиями к производительности и устойчивости.</a:t>
            </a:r>
          </a:p>
        </p:txBody>
      </p:sp>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000" b="1" i="0" u="none" strike="noStrike" cap="none" normalizeH="0" baseline="0" smtClean="0">
            <a:ln>
              <a:noFill/>
            </a:ln>
            <a:solidFill>
              <a:schemeClr val="tx1"/>
            </a:solidFill>
            <a:effectLst/>
            <a:latin typeface="Impact"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000" b="1" i="0" u="none" strike="noStrike" cap="none" normalizeH="0" baseline="0" smtClean="0">
            <a:ln>
              <a:noFill/>
            </a:ln>
            <a:solidFill>
              <a:schemeClr val="tx1"/>
            </a:solidFill>
            <a:effectLst/>
            <a:latin typeface="Impact"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000" b="1" i="0" u="none" strike="noStrike" cap="none" normalizeH="0" baseline="0" smtClean="0">
            <a:ln>
              <a:noFill/>
            </a:ln>
            <a:solidFill>
              <a:schemeClr val="tx1"/>
            </a:solidFill>
            <a:effectLst/>
            <a:latin typeface="Impact"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2000" b="1" i="0" u="none" strike="noStrike" cap="none" normalizeH="0" baseline="0" smtClean="0">
            <a:ln>
              <a:noFill/>
            </a:ln>
            <a:solidFill>
              <a:schemeClr val="tx1"/>
            </a:solidFill>
            <a:effectLst/>
            <a:latin typeface="Impact"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6726</TotalTime>
  <Words>51</Words>
  <Application>Microsoft Office PowerPoint</Application>
  <PresentationFormat>Экран (4:3)</PresentationFormat>
  <Paragraphs>11</Paragraphs>
  <Slides>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2</vt:i4>
      </vt:variant>
      <vt:variant>
        <vt:lpstr>Заголовки слайдов</vt:lpstr>
      </vt:variant>
      <vt:variant>
        <vt:i4>1</vt:i4>
      </vt:variant>
    </vt:vector>
  </HeadingPairs>
  <TitlesOfParts>
    <vt:vector size="6" baseType="lpstr">
      <vt:lpstr>Arial</vt:lpstr>
      <vt:lpstr>Impact</vt:lpstr>
      <vt:lpstr>Times New Roman</vt:lpstr>
      <vt:lpstr>1_Default Design</vt:lpstr>
      <vt:lpstr>2_Default Design</vt:lpstr>
      <vt:lpstr>Презентация PowerPoint</vt:lpstr>
    </vt:vector>
  </TitlesOfParts>
  <Manager>Станислав А. Кудж</Manager>
  <Company>РСА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Предложения к Концепции</dc:title>
  <dc:creator>Станислав А. Кудж</dc:creator>
  <cp:lastModifiedBy>Alexandr Slasher</cp:lastModifiedBy>
  <cp:revision>604</cp:revision>
  <cp:lastPrinted>2017-04-28T08:27:55Z</cp:lastPrinted>
  <dcterms:created xsi:type="dcterms:W3CDTF">2004-03-24T15:36:34Z</dcterms:created>
  <dcterms:modified xsi:type="dcterms:W3CDTF">2026-05-26T10:48:15Z</dcterms:modified>
</cp:coreProperties>
</file>